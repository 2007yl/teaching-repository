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5"/>
  </p:notesMasterIdLst>
  <p:sldIdLst>
    <p:sldId id="269" r:id="rId2"/>
    <p:sldId id="260" r:id="rId3"/>
    <p:sldId id="268" r:id="rId4"/>
    <p:sldId id="270" r:id="rId5"/>
    <p:sldId id="261" r:id="rId6"/>
    <p:sldId id="264" r:id="rId7"/>
    <p:sldId id="262" r:id="rId8"/>
    <p:sldId id="263" r:id="rId9"/>
    <p:sldId id="265" r:id="rId10"/>
    <p:sldId id="267" r:id="rId11"/>
    <p:sldId id="271" r:id="rId12"/>
    <p:sldId id="307" r:id="rId13"/>
    <p:sldId id="308" r:id="rId14"/>
    <p:sldId id="310" r:id="rId15"/>
    <p:sldId id="272" r:id="rId16"/>
    <p:sldId id="277" r:id="rId17"/>
    <p:sldId id="278" r:id="rId18"/>
    <p:sldId id="306" r:id="rId19"/>
    <p:sldId id="317" r:id="rId20"/>
    <p:sldId id="279" r:id="rId21"/>
    <p:sldId id="280" r:id="rId22"/>
    <p:sldId id="305" r:id="rId23"/>
    <p:sldId id="274" r:id="rId24"/>
    <p:sldId id="275" r:id="rId25"/>
    <p:sldId id="276" r:id="rId26"/>
    <p:sldId id="318" r:id="rId27"/>
    <p:sldId id="319" r:id="rId28"/>
    <p:sldId id="320" r:id="rId29"/>
    <p:sldId id="281" r:id="rId30"/>
    <p:sldId id="282" r:id="rId31"/>
    <p:sldId id="283" r:id="rId32"/>
    <p:sldId id="290" r:id="rId33"/>
    <p:sldId id="284" r:id="rId34"/>
    <p:sldId id="316" r:id="rId35"/>
    <p:sldId id="291" r:id="rId36"/>
    <p:sldId id="285" r:id="rId37"/>
    <p:sldId id="292" r:id="rId38"/>
    <p:sldId id="293" r:id="rId39"/>
    <p:sldId id="313" r:id="rId40"/>
    <p:sldId id="311" r:id="rId41"/>
    <p:sldId id="314" r:id="rId42"/>
    <p:sldId id="315" r:id="rId43"/>
    <p:sldId id="294" r:id="rId44"/>
    <p:sldId id="295" r:id="rId45"/>
    <p:sldId id="297" r:id="rId46"/>
    <p:sldId id="303" r:id="rId47"/>
    <p:sldId id="304" r:id="rId48"/>
    <p:sldId id="321" r:id="rId49"/>
    <p:sldId id="322" r:id="rId50"/>
    <p:sldId id="323" r:id="rId51"/>
    <p:sldId id="324" r:id="rId52"/>
    <p:sldId id="325" r:id="rId53"/>
    <p:sldId id="326" r:id="rId54"/>
    <p:sldId id="300" r:id="rId55"/>
    <p:sldId id="327" r:id="rId56"/>
    <p:sldId id="336" r:id="rId57"/>
    <p:sldId id="337" r:id="rId58"/>
    <p:sldId id="334" r:id="rId59"/>
    <p:sldId id="328" r:id="rId60"/>
    <p:sldId id="330" r:id="rId61"/>
    <p:sldId id="333" r:id="rId62"/>
    <p:sldId id="332" r:id="rId63"/>
    <p:sldId id="335" r:id="rId6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964" y="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iu, Yang" userId="f5cb7a41-e920-4ce0-ad55-a6edfe2cdd3b" providerId="ADAL" clId="{BF65E735-EEDC-4F96-AF43-7A77F4826BB7}"/>
    <pc:docChg chg="undo custSel modSld">
      <pc:chgData name="Liu, Yang" userId="f5cb7a41-e920-4ce0-ad55-a6edfe2cdd3b" providerId="ADAL" clId="{BF65E735-EEDC-4F96-AF43-7A77F4826BB7}" dt="2026-02-13T13:35:43.578" v="56" actId="20577"/>
      <pc:docMkLst>
        <pc:docMk/>
      </pc:docMkLst>
      <pc:sldChg chg="modSp mod">
        <pc:chgData name="Liu, Yang" userId="f5cb7a41-e920-4ce0-ad55-a6edfe2cdd3b" providerId="ADAL" clId="{BF65E735-EEDC-4F96-AF43-7A77F4826BB7}" dt="2026-02-13T13:16:27.143" v="34" actId="20577"/>
        <pc:sldMkLst>
          <pc:docMk/>
          <pc:sldMk cId="3691696756" sldId="315"/>
        </pc:sldMkLst>
        <pc:graphicFrameChg chg="modGraphic">
          <ac:chgData name="Liu, Yang" userId="f5cb7a41-e920-4ce0-ad55-a6edfe2cdd3b" providerId="ADAL" clId="{BF65E735-EEDC-4F96-AF43-7A77F4826BB7}" dt="2026-02-13T13:16:27.143" v="34" actId="20577"/>
          <ac:graphicFrameMkLst>
            <pc:docMk/>
            <pc:sldMk cId="3691696756" sldId="315"/>
            <ac:graphicFrameMk id="4" creationId="{81980C47-C189-80F8-3C6B-F3E8FE6BBCC1}"/>
          </ac:graphicFrameMkLst>
        </pc:graphicFrameChg>
        <pc:graphicFrameChg chg="modGraphic">
          <ac:chgData name="Liu, Yang" userId="f5cb7a41-e920-4ce0-ad55-a6edfe2cdd3b" providerId="ADAL" clId="{BF65E735-EEDC-4F96-AF43-7A77F4826BB7}" dt="2026-02-13T12:31:58.037" v="32" actId="20577"/>
          <ac:graphicFrameMkLst>
            <pc:docMk/>
            <pc:sldMk cId="3691696756" sldId="315"/>
            <ac:graphicFrameMk id="5" creationId="{8CFBB345-532E-65AB-C178-667C979F550A}"/>
          </ac:graphicFrameMkLst>
        </pc:graphicFrameChg>
      </pc:sldChg>
      <pc:sldChg chg="modSp mod">
        <pc:chgData name="Liu, Yang" userId="f5cb7a41-e920-4ce0-ad55-a6edfe2cdd3b" providerId="ADAL" clId="{BF65E735-EEDC-4F96-AF43-7A77F4826BB7}" dt="2026-02-13T13:35:43.578" v="56" actId="20577"/>
        <pc:sldMkLst>
          <pc:docMk/>
          <pc:sldMk cId="1638316518" sldId="327"/>
        </pc:sldMkLst>
        <pc:spChg chg="mod">
          <ac:chgData name="Liu, Yang" userId="f5cb7a41-e920-4ce0-ad55-a6edfe2cdd3b" providerId="ADAL" clId="{BF65E735-EEDC-4F96-AF43-7A77F4826BB7}" dt="2026-02-13T13:35:43.578" v="56" actId="20577"/>
          <ac:spMkLst>
            <pc:docMk/>
            <pc:sldMk cId="1638316518" sldId="327"/>
            <ac:spMk id="2" creationId="{B33973E1-49E8-2B64-E6F6-3B54CAE17B6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524DA5-542F-4E9D-A0BA-7CDAF9A8CC4C}" type="datetimeFigureOut">
              <a:rPr lang="en-US" smtClean="0"/>
              <a:t>2/13/2026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68DF63-8A68-4589-BEBB-856136FE40CE}" type="slidenum">
              <a:rPr lang="en-US" smtClean="0"/>
              <a:t>‹#›</a:t>
            </a:fld>
            <a:endParaRPr lang="en-US"/>
          </a:p>
        </p:txBody>
      </p:sp>
    </p:spTree>
    <p:extLst>
      <p:ext uri="{BB962C8B-B14F-4D97-AF65-F5344CB8AC3E}">
        <p14:creationId xmlns:p14="http://schemas.microsoft.com/office/powerpoint/2010/main" val="27256995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42A32-3084-A717-CE48-CCECBC69A26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4F4077C-A71F-27AF-EEAE-137FAADE621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0C3D0A-9AA0-9BF3-C4BB-7266DA56CA8E}"/>
              </a:ext>
            </a:extLst>
          </p:cNvPr>
          <p:cNvSpPr>
            <a:spLocks noGrp="1"/>
          </p:cNvSpPr>
          <p:nvPr>
            <p:ph type="dt" sz="half" idx="10"/>
          </p:nvPr>
        </p:nvSpPr>
        <p:spPr/>
        <p:txBody>
          <a:bodyPr/>
          <a:lstStyle/>
          <a:p>
            <a:fld id="{87AA872B-103B-4F43-BFC4-6E6132B90A18}" type="datetimeFigureOut">
              <a:rPr lang="en-US" smtClean="0"/>
              <a:t>2/13/2026</a:t>
            </a:fld>
            <a:endParaRPr lang="en-US"/>
          </a:p>
        </p:txBody>
      </p:sp>
      <p:sp>
        <p:nvSpPr>
          <p:cNvPr id="5" name="Footer Placeholder 4">
            <a:extLst>
              <a:ext uri="{FF2B5EF4-FFF2-40B4-BE49-F238E27FC236}">
                <a16:creationId xmlns:a16="http://schemas.microsoft.com/office/drawing/2014/main" id="{439EBE0D-4342-3F05-1B69-FD0ABD6F2B8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6C3541-E53A-BADB-1794-5ED7116419EF}"/>
              </a:ext>
            </a:extLst>
          </p:cNvPr>
          <p:cNvSpPr>
            <a:spLocks noGrp="1"/>
          </p:cNvSpPr>
          <p:nvPr>
            <p:ph type="sldNum" sz="quarter" idx="12"/>
          </p:nvPr>
        </p:nvSpPr>
        <p:spPr/>
        <p:txBody>
          <a:bodyPr/>
          <a:lstStyle/>
          <a:p>
            <a:fld id="{B617D5B0-DA05-47E5-871A-A168693576E7}" type="slidenum">
              <a:rPr lang="en-US" smtClean="0"/>
              <a:t>‹#›</a:t>
            </a:fld>
            <a:endParaRPr lang="en-US"/>
          </a:p>
        </p:txBody>
      </p:sp>
    </p:spTree>
    <p:extLst>
      <p:ext uri="{BB962C8B-B14F-4D97-AF65-F5344CB8AC3E}">
        <p14:creationId xmlns:p14="http://schemas.microsoft.com/office/powerpoint/2010/main" val="42364141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1D77A-A3FE-BC6C-765A-CC42B745EA4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FE9A48F-9B5E-5DB3-0C5B-7F75B70A922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22945D1-1A7D-BB82-98AE-CFA7801ABB6B}"/>
              </a:ext>
            </a:extLst>
          </p:cNvPr>
          <p:cNvSpPr>
            <a:spLocks noGrp="1"/>
          </p:cNvSpPr>
          <p:nvPr>
            <p:ph type="dt" sz="half" idx="10"/>
          </p:nvPr>
        </p:nvSpPr>
        <p:spPr/>
        <p:txBody>
          <a:bodyPr/>
          <a:lstStyle/>
          <a:p>
            <a:fld id="{87AA872B-103B-4F43-BFC4-6E6132B90A18}" type="datetimeFigureOut">
              <a:rPr lang="en-US" smtClean="0"/>
              <a:t>2/13/2026</a:t>
            </a:fld>
            <a:endParaRPr lang="en-US"/>
          </a:p>
        </p:txBody>
      </p:sp>
      <p:sp>
        <p:nvSpPr>
          <p:cNvPr id="5" name="Footer Placeholder 4">
            <a:extLst>
              <a:ext uri="{FF2B5EF4-FFF2-40B4-BE49-F238E27FC236}">
                <a16:creationId xmlns:a16="http://schemas.microsoft.com/office/drawing/2014/main" id="{E1970E08-16CB-6518-2081-AAD2FB73C6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B08574-AAD1-9B37-16D2-E185AFB17602}"/>
              </a:ext>
            </a:extLst>
          </p:cNvPr>
          <p:cNvSpPr>
            <a:spLocks noGrp="1"/>
          </p:cNvSpPr>
          <p:nvPr>
            <p:ph type="sldNum" sz="quarter" idx="12"/>
          </p:nvPr>
        </p:nvSpPr>
        <p:spPr/>
        <p:txBody>
          <a:bodyPr/>
          <a:lstStyle/>
          <a:p>
            <a:fld id="{B617D5B0-DA05-47E5-871A-A168693576E7}" type="slidenum">
              <a:rPr lang="en-US" smtClean="0"/>
              <a:t>‹#›</a:t>
            </a:fld>
            <a:endParaRPr lang="en-US"/>
          </a:p>
        </p:txBody>
      </p:sp>
    </p:spTree>
    <p:extLst>
      <p:ext uri="{BB962C8B-B14F-4D97-AF65-F5344CB8AC3E}">
        <p14:creationId xmlns:p14="http://schemas.microsoft.com/office/powerpoint/2010/main" val="11847400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43B2FF-3391-01D6-8158-6ECD63A6EDB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D653619-0D0E-887C-D266-5381252B27D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4C2B3B4-8A2A-0D24-85AF-F8860A2B73BF}"/>
              </a:ext>
            </a:extLst>
          </p:cNvPr>
          <p:cNvSpPr>
            <a:spLocks noGrp="1"/>
          </p:cNvSpPr>
          <p:nvPr>
            <p:ph type="dt" sz="half" idx="10"/>
          </p:nvPr>
        </p:nvSpPr>
        <p:spPr/>
        <p:txBody>
          <a:bodyPr/>
          <a:lstStyle/>
          <a:p>
            <a:fld id="{87AA872B-103B-4F43-BFC4-6E6132B90A18}" type="datetimeFigureOut">
              <a:rPr lang="en-US" smtClean="0"/>
              <a:t>2/13/2026</a:t>
            </a:fld>
            <a:endParaRPr lang="en-US"/>
          </a:p>
        </p:txBody>
      </p:sp>
      <p:sp>
        <p:nvSpPr>
          <p:cNvPr id="5" name="Footer Placeholder 4">
            <a:extLst>
              <a:ext uri="{FF2B5EF4-FFF2-40B4-BE49-F238E27FC236}">
                <a16:creationId xmlns:a16="http://schemas.microsoft.com/office/drawing/2014/main" id="{C5C9B0DE-151C-1F1F-3046-28C1B314134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A405D4-76E4-0BDD-AA29-A403B7B78F55}"/>
              </a:ext>
            </a:extLst>
          </p:cNvPr>
          <p:cNvSpPr>
            <a:spLocks noGrp="1"/>
          </p:cNvSpPr>
          <p:nvPr>
            <p:ph type="sldNum" sz="quarter" idx="12"/>
          </p:nvPr>
        </p:nvSpPr>
        <p:spPr/>
        <p:txBody>
          <a:bodyPr/>
          <a:lstStyle/>
          <a:p>
            <a:fld id="{B617D5B0-DA05-47E5-871A-A168693576E7}" type="slidenum">
              <a:rPr lang="en-US" smtClean="0"/>
              <a:t>‹#›</a:t>
            </a:fld>
            <a:endParaRPr lang="en-US"/>
          </a:p>
        </p:txBody>
      </p:sp>
    </p:spTree>
    <p:extLst>
      <p:ext uri="{BB962C8B-B14F-4D97-AF65-F5344CB8AC3E}">
        <p14:creationId xmlns:p14="http://schemas.microsoft.com/office/powerpoint/2010/main" val="40729436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D49A3-586A-6276-F805-A93260F9CB5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8318060-4452-25D5-305A-5B251E77B89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01C7D6B-9849-A89A-6EFB-18ACCC3D978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A3F68CC-0B6E-66FB-D474-8FAB273ACC91}"/>
              </a:ext>
            </a:extLst>
          </p:cNvPr>
          <p:cNvSpPr>
            <a:spLocks noGrp="1"/>
          </p:cNvSpPr>
          <p:nvPr>
            <p:ph type="dt" sz="half" idx="10"/>
          </p:nvPr>
        </p:nvSpPr>
        <p:spPr/>
        <p:txBody>
          <a:bodyPr/>
          <a:lstStyle/>
          <a:p>
            <a:fld id="{87AA872B-103B-4F43-BFC4-6E6132B90A18}" type="datetimeFigureOut">
              <a:rPr lang="en-US" smtClean="0"/>
              <a:t>2/13/2026</a:t>
            </a:fld>
            <a:endParaRPr lang="en-US"/>
          </a:p>
        </p:txBody>
      </p:sp>
      <p:sp>
        <p:nvSpPr>
          <p:cNvPr id="6" name="Footer Placeholder 5">
            <a:extLst>
              <a:ext uri="{FF2B5EF4-FFF2-40B4-BE49-F238E27FC236}">
                <a16:creationId xmlns:a16="http://schemas.microsoft.com/office/drawing/2014/main" id="{4206B5E7-FCD1-BDB5-0F69-74E196E645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48D10FB-1D81-C63E-ECCA-902134B2C3CB}"/>
              </a:ext>
            </a:extLst>
          </p:cNvPr>
          <p:cNvSpPr>
            <a:spLocks noGrp="1"/>
          </p:cNvSpPr>
          <p:nvPr>
            <p:ph type="sldNum" sz="quarter" idx="12"/>
          </p:nvPr>
        </p:nvSpPr>
        <p:spPr/>
        <p:txBody>
          <a:bodyPr/>
          <a:lstStyle/>
          <a:p>
            <a:fld id="{B617D5B0-DA05-47E5-871A-A168693576E7}" type="slidenum">
              <a:rPr lang="en-US" smtClean="0"/>
              <a:t>‹#›</a:t>
            </a:fld>
            <a:endParaRPr lang="en-US"/>
          </a:p>
        </p:txBody>
      </p:sp>
    </p:spTree>
    <p:extLst>
      <p:ext uri="{BB962C8B-B14F-4D97-AF65-F5344CB8AC3E}">
        <p14:creationId xmlns:p14="http://schemas.microsoft.com/office/powerpoint/2010/main" val="17924702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44A1F9-617E-D9F5-C919-E991BE7CF24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72BAFA0-2B4D-0D8D-3221-C39BC23F7F1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B3B0E52-EB4D-0D2A-7156-C5CBFEDE062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0A1DE6E-A2FE-65CB-D8EF-488A491DD6C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54E0FE4-5597-36F8-16C7-A0E14CC8CE6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A1A6408-A377-0334-99F4-3F4FB16F4E7A}"/>
              </a:ext>
            </a:extLst>
          </p:cNvPr>
          <p:cNvSpPr>
            <a:spLocks noGrp="1"/>
          </p:cNvSpPr>
          <p:nvPr>
            <p:ph type="dt" sz="half" idx="10"/>
          </p:nvPr>
        </p:nvSpPr>
        <p:spPr/>
        <p:txBody>
          <a:bodyPr/>
          <a:lstStyle/>
          <a:p>
            <a:fld id="{87AA872B-103B-4F43-BFC4-6E6132B90A18}" type="datetimeFigureOut">
              <a:rPr lang="en-US" smtClean="0"/>
              <a:t>2/13/2026</a:t>
            </a:fld>
            <a:endParaRPr lang="en-US"/>
          </a:p>
        </p:txBody>
      </p:sp>
      <p:sp>
        <p:nvSpPr>
          <p:cNvPr id="8" name="Footer Placeholder 7">
            <a:extLst>
              <a:ext uri="{FF2B5EF4-FFF2-40B4-BE49-F238E27FC236}">
                <a16:creationId xmlns:a16="http://schemas.microsoft.com/office/drawing/2014/main" id="{C4C9ADC0-B49A-E9E3-94C7-41BB50755BC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A1E124E-1E5D-A1BB-E0A0-033B797A1680}"/>
              </a:ext>
            </a:extLst>
          </p:cNvPr>
          <p:cNvSpPr>
            <a:spLocks noGrp="1"/>
          </p:cNvSpPr>
          <p:nvPr>
            <p:ph type="sldNum" sz="quarter" idx="12"/>
          </p:nvPr>
        </p:nvSpPr>
        <p:spPr/>
        <p:txBody>
          <a:bodyPr/>
          <a:lstStyle/>
          <a:p>
            <a:fld id="{B617D5B0-DA05-47E5-871A-A168693576E7}" type="slidenum">
              <a:rPr lang="en-US" smtClean="0"/>
              <a:t>‹#›</a:t>
            </a:fld>
            <a:endParaRPr lang="en-US"/>
          </a:p>
        </p:txBody>
      </p:sp>
    </p:spTree>
    <p:extLst>
      <p:ext uri="{BB962C8B-B14F-4D97-AF65-F5344CB8AC3E}">
        <p14:creationId xmlns:p14="http://schemas.microsoft.com/office/powerpoint/2010/main" val="22796386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BB9BFA-BF48-8AC4-6110-B9E08D20B49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956D950-4257-489A-ECD3-BF11CDE28835}"/>
              </a:ext>
            </a:extLst>
          </p:cNvPr>
          <p:cNvSpPr>
            <a:spLocks noGrp="1"/>
          </p:cNvSpPr>
          <p:nvPr>
            <p:ph type="dt" sz="half" idx="10"/>
          </p:nvPr>
        </p:nvSpPr>
        <p:spPr/>
        <p:txBody>
          <a:bodyPr/>
          <a:lstStyle/>
          <a:p>
            <a:fld id="{87AA872B-103B-4F43-BFC4-6E6132B90A18}" type="datetimeFigureOut">
              <a:rPr lang="en-US" smtClean="0"/>
              <a:t>2/13/2026</a:t>
            </a:fld>
            <a:endParaRPr lang="en-US"/>
          </a:p>
        </p:txBody>
      </p:sp>
      <p:sp>
        <p:nvSpPr>
          <p:cNvPr id="4" name="Footer Placeholder 3">
            <a:extLst>
              <a:ext uri="{FF2B5EF4-FFF2-40B4-BE49-F238E27FC236}">
                <a16:creationId xmlns:a16="http://schemas.microsoft.com/office/drawing/2014/main" id="{92A16194-9979-F1E2-46A4-99D48E5C3C6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1C53E22-D93A-F8DD-AF63-833FAF0D0DCD}"/>
              </a:ext>
            </a:extLst>
          </p:cNvPr>
          <p:cNvSpPr>
            <a:spLocks noGrp="1"/>
          </p:cNvSpPr>
          <p:nvPr>
            <p:ph type="sldNum" sz="quarter" idx="12"/>
          </p:nvPr>
        </p:nvSpPr>
        <p:spPr/>
        <p:txBody>
          <a:bodyPr/>
          <a:lstStyle/>
          <a:p>
            <a:fld id="{B617D5B0-DA05-47E5-871A-A168693576E7}" type="slidenum">
              <a:rPr lang="en-US" smtClean="0"/>
              <a:t>‹#›</a:t>
            </a:fld>
            <a:endParaRPr lang="en-US"/>
          </a:p>
        </p:txBody>
      </p:sp>
    </p:spTree>
    <p:extLst>
      <p:ext uri="{BB962C8B-B14F-4D97-AF65-F5344CB8AC3E}">
        <p14:creationId xmlns:p14="http://schemas.microsoft.com/office/powerpoint/2010/main" val="11834790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8A07E3C-D331-9313-D267-8CE04CFA51F7}"/>
              </a:ext>
            </a:extLst>
          </p:cNvPr>
          <p:cNvSpPr>
            <a:spLocks noGrp="1"/>
          </p:cNvSpPr>
          <p:nvPr>
            <p:ph type="dt" sz="half" idx="10"/>
          </p:nvPr>
        </p:nvSpPr>
        <p:spPr/>
        <p:txBody>
          <a:bodyPr/>
          <a:lstStyle/>
          <a:p>
            <a:fld id="{87AA872B-103B-4F43-BFC4-6E6132B90A18}" type="datetimeFigureOut">
              <a:rPr lang="en-US" smtClean="0"/>
              <a:t>2/13/2026</a:t>
            </a:fld>
            <a:endParaRPr lang="en-US"/>
          </a:p>
        </p:txBody>
      </p:sp>
      <p:sp>
        <p:nvSpPr>
          <p:cNvPr id="3" name="Footer Placeholder 2">
            <a:extLst>
              <a:ext uri="{FF2B5EF4-FFF2-40B4-BE49-F238E27FC236}">
                <a16:creationId xmlns:a16="http://schemas.microsoft.com/office/drawing/2014/main" id="{F92C4245-F85A-587E-443A-48679B9FFF6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AA5F5A0-5FDF-66F4-FCAF-D9CE4AC40CC4}"/>
              </a:ext>
            </a:extLst>
          </p:cNvPr>
          <p:cNvSpPr>
            <a:spLocks noGrp="1"/>
          </p:cNvSpPr>
          <p:nvPr>
            <p:ph type="sldNum" sz="quarter" idx="12"/>
          </p:nvPr>
        </p:nvSpPr>
        <p:spPr/>
        <p:txBody>
          <a:bodyPr/>
          <a:lstStyle/>
          <a:p>
            <a:fld id="{B617D5B0-DA05-47E5-871A-A168693576E7}" type="slidenum">
              <a:rPr lang="en-US" smtClean="0"/>
              <a:t>‹#›</a:t>
            </a:fld>
            <a:endParaRPr lang="en-US"/>
          </a:p>
        </p:txBody>
      </p:sp>
    </p:spTree>
    <p:extLst>
      <p:ext uri="{BB962C8B-B14F-4D97-AF65-F5344CB8AC3E}">
        <p14:creationId xmlns:p14="http://schemas.microsoft.com/office/powerpoint/2010/main" val="11344879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29AFCA-95E7-393C-EDCD-44B70CD6165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6C89A83-DE80-CDE7-D38F-35F1AEA3185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B2FD115-B17E-6BE9-0FD9-1DABBB5E33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21A4677-18C3-E4E0-256C-3C988FCECA9F}"/>
              </a:ext>
            </a:extLst>
          </p:cNvPr>
          <p:cNvSpPr>
            <a:spLocks noGrp="1"/>
          </p:cNvSpPr>
          <p:nvPr>
            <p:ph type="dt" sz="half" idx="10"/>
          </p:nvPr>
        </p:nvSpPr>
        <p:spPr/>
        <p:txBody>
          <a:bodyPr/>
          <a:lstStyle/>
          <a:p>
            <a:fld id="{87AA872B-103B-4F43-BFC4-6E6132B90A18}" type="datetimeFigureOut">
              <a:rPr lang="en-US" smtClean="0"/>
              <a:t>2/13/2026</a:t>
            </a:fld>
            <a:endParaRPr lang="en-US"/>
          </a:p>
        </p:txBody>
      </p:sp>
      <p:sp>
        <p:nvSpPr>
          <p:cNvPr id="6" name="Footer Placeholder 5">
            <a:extLst>
              <a:ext uri="{FF2B5EF4-FFF2-40B4-BE49-F238E27FC236}">
                <a16:creationId xmlns:a16="http://schemas.microsoft.com/office/drawing/2014/main" id="{E1E76CE6-8F7B-AB1C-018B-4D52471DD79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6C7E6EB-53B7-DA84-729D-F52F974C8AE2}"/>
              </a:ext>
            </a:extLst>
          </p:cNvPr>
          <p:cNvSpPr>
            <a:spLocks noGrp="1"/>
          </p:cNvSpPr>
          <p:nvPr>
            <p:ph type="sldNum" sz="quarter" idx="12"/>
          </p:nvPr>
        </p:nvSpPr>
        <p:spPr/>
        <p:txBody>
          <a:bodyPr/>
          <a:lstStyle/>
          <a:p>
            <a:fld id="{B617D5B0-DA05-47E5-871A-A168693576E7}" type="slidenum">
              <a:rPr lang="en-US" smtClean="0"/>
              <a:t>‹#›</a:t>
            </a:fld>
            <a:endParaRPr lang="en-US"/>
          </a:p>
        </p:txBody>
      </p:sp>
    </p:spTree>
    <p:extLst>
      <p:ext uri="{BB962C8B-B14F-4D97-AF65-F5344CB8AC3E}">
        <p14:creationId xmlns:p14="http://schemas.microsoft.com/office/powerpoint/2010/main" val="33021312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4383D2-287B-F99D-BC94-FFB79A0F004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899D83C-EC1B-C610-C58A-F73B3F0055D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1C82DCD-6CD3-74E5-6626-700A1F08AC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E0284F-FA26-CBA7-C461-F3042C39E7DA}"/>
              </a:ext>
            </a:extLst>
          </p:cNvPr>
          <p:cNvSpPr>
            <a:spLocks noGrp="1"/>
          </p:cNvSpPr>
          <p:nvPr>
            <p:ph type="dt" sz="half" idx="10"/>
          </p:nvPr>
        </p:nvSpPr>
        <p:spPr/>
        <p:txBody>
          <a:bodyPr/>
          <a:lstStyle/>
          <a:p>
            <a:fld id="{87AA872B-103B-4F43-BFC4-6E6132B90A18}" type="datetimeFigureOut">
              <a:rPr lang="en-US" smtClean="0"/>
              <a:t>2/13/2026</a:t>
            </a:fld>
            <a:endParaRPr lang="en-US"/>
          </a:p>
        </p:txBody>
      </p:sp>
      <p:sp>
        <p:nvSpPr>
          <p:cNvPr id="6" name="Footer Placeholder 5">
            <a:extLst>
              <a:ext uri="{FF2B5EF4-FFF2-40B4-BE49-F238E27FC236}">
                <a16:creationId xmlns:a16="http://schemas.microsoft.com/office/drawing/2014/main" id="{9B41CD79-6E5D-8D1B-9CE6-269BF7E264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85DF3B-FA6E-6B94-E84A-D910A459C9D5}"/>
              </a:ext>
            </a:extLst>
          </p:cNvPr>
          <p:cNvSpPr>
            <a:spLocks noGrp="1"/>
          </p:cNvSpPr>
          <p:nvPr>
            <p:ph type="sldNum" sz="quarter" idx="12"/>
          </p:nvPr>
        </p:nvSpPr>
        <p:spPr/>
        <p:txBody>
          <a:bodyPr/>
          <a:lstStyle/>
          <a:p>
            <a:fld id="{B617D5B0-DA05-47E5-871A-A168693576E7}" type="slidenum">
              <a:rPr lang="en-US" smtClean="0"/>
              <a:t>‹#›</a:t>
            </a:fld>
            <a:endParaRPr lang="en-US"/>
          </a:p>
        </p:txBody>
      </p:sp>
    </p:spTree>
    <p:extLst>
      <p:ext uri="{BB962C8B-B14F-4D97-AF65-F5344CB8AC3E}">
        <p14:creationId xmlns:p14="http://schemas.microsoft.com/office/powerpoint/2010/main" val="23183828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567B03-5818-0FA0-DFDC-145B8D3F523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A5ABAF2-48BB-3A0F-0E9C-49B948A105B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6BCDAA-8416-C160-A281-D1BC4AA7248C}"/>
              </a:ext>
            </a:extLst>
          </p:cNvPr>
          <p:cNvSpPr>
            <a:spLocks noGrp="1"/>
          </p:cNvSpPr>
          <p:nvPr>
            <p:ph type="dt" sz="half" idx="10"/>
          </p:nvPr>
        </p:nvSpPr>
        <p:spPr/>
        <p:txBody>
          <a:bodyPr/>
          <a:lstStyle/>
          <a:p>
            <a:fld id="{87AA872B-103B-4F43-BFC4-6E6132B90A18}" type="datetimeFigureOut">
              <a:rPr lang="en-US" smtClean="0"/>
              <a:t>2/13/2026</a:t>
            </a:fld>
            <a:endParaRPr lang="en-US"/>
          </a:p>
        </p:txBody>
      </p:sp>
      <p:sp>
        <p:nvSpPr>
          <p:cNvPr id="5" name="Footer Placeholder 4">
            <a:extLst>
              <a:ext uri="{FF2B5EF4-FFF2-40B4-BE49-F238E27FC236}">
                <a16:creationId xmlns:a16="http://schemas.microsoft.com/office/drawing/2014/main" id="{86A9D4D0-1687-D49C-FFA3-CA8BAF7E2E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06E080-C2FB-2387-E621-E9C1703E15E1}"/>
              </a:ext>
            </a:extLst>
          </p:cNvPr>
          <p:cNvSpPr>
            <a:spLocks noGrp="1"/>
          </p:cNvSpPr>
          <p:nvPr>
            <p:ph type="sldNum" sz="quarter" idx="12"/>
          </p:nvPr>
        </p:nvSpPr>
        <p:spPr/>
        <p:txBody>
          <a:bodyPr/>
          <a:lstStyle/>
          <a:p>
            <a:fld id="{B617D5B0-DA05-47E5-871A-A168693576E7}" type="slidenum">
              <a:rPr lang="en-US" smtClean="0"/>
              <a:t>‹#›</a:t>
            </a:fld>
            <a:endParaRPr lang="en-US"/>
          </a:p>
        </p:txBody>
      </p:sp>
    </p:spTree>
    <p:extLst>
      <p:ext uri="{BB962C8B-B14F-4D97-AF65-F5344CB8AC3E}">
        <p14:creationId xmlns:p14="http://schemas.microsoft.com/office/powerpoint/2010/main" val="31403475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F971DDB-B1D0-D908-8850-41A01F202ED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253DBFD-578F-FC04-9303-8F4EFB0A60B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6D8D82-8AF5-98F8-2DDF-53D942D03221}"/>
              </a:ext>
            </a:extLst>
          </p:cNvPr>
          <p:cNvSpPr>
            <a:spLocks noGrp="1"/>
          </p:cNvSpPr>
          <p:nvPr>
            <p:ph type="dt" sz="half" idx="10"/>
          </p:nvPr>
        </p:nvSpPr>
        <p:spPr/>
        <p:txBody>
          <a:bodyPr/>
          <a:lstStyle/>
          <a:p>
            <a:fld id="{87AA872B-103B-4F43-BFC4-6E6132B90A18}" type="datetimeFigureOut">
              <a:rPr lang="en-US" smtClean="0"/>
              <a:t>2/13/2026</a:t>
            </a:fld>
            <a:endParaRPr lang="en-US"/>
          </a:p>
        </p:txBody>
      </p:sp>
      <p:sp>
        <p:nvSpPr>
          <p:cNvPr id="5" name="Footer Placeholder 4">
            <a:extLst>
              <a:ext uri="{FF2B5EF4-FFF2-40B4-BE49-F238E27FC236}">
                <a16:creationId xmlns:a16="http://schemas.microsoft.com/office/drawing/2014/main" id="{7A7F556C-1C78-7457-856F-940A297DFAD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0C11D89-D35B-9A0B-7E34-CADFA262A650}"/>
              </a:ext>
            </a:extLst>
          </p:cNvPr>
          <p:cNvSpPr>
            <a:spLocks noGrp="1"/>
          </p:cNvSpPr>
          <p:nvPr>
            <p:ph type="sldNum" sz="quarter" idx="12"/>
          </p:nvPr>
        </p:nvSpPr>
        <p:spPr/>
        <p:txBody>
          <a:bodyPr/>
          <a:lstStyle/>
          <a:p>
            <a:fld id="{B617D5B0-DA05-47E5-871A-A168693576E7}" type="slidenum">
              <a:rPr lang="en-US" smtClean="0"/>
              <a:t>‹#›</a:t>
            </a:fld>
            <a:endParaRPr lang="en-US"/>
          </a:p>
        </p:txBody>
      </p:sp>
    </p:spTree>
    <p:extLst>
      <p:ext uri="{BB962C8B-B14F-4D97-AF65-F5344CB8AC3E}">
        <p14:creationId xmlns:p14="http://schemas.microsoft.com/office/powerpoint/2010/main" val="30404128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E9E472D-43F2-74D0-DA86-F10EB53639D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53737C7-AC60-3F09-9BC2-C9774544B04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C75713B-E29B-B697-29F8-F1933D828C7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7AA872B-103B-4F43-BFC4-6E6132B90A18}" type="datetimeFigureOut">
              <a:rPr lang="en-US" smtClean="0"/>
              <a:t>2/13/2026</a:t>
            </a:fld>
            <a:endParaRPr lang="en-US"/>
          </a:p>
        </p:txBody>
      </p:sp>
      <p:sp>
        <p:nvSpPr>
          <p:cNvPr id="5" name="Footer Placeholder 4">
            <a:extLst>
              <a:ext uri="{FF2B5EF4-FFF2-40B4-BE49-F238E27FC236}">
                <a16:creationId xmlns:a16="http://schemas.microsoft.com/office/drawing/2014/main" id="{2196C701-E030-087C-FB6D-FE76A79E61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129EA04-797F-28ED-98EB-37AAD619A85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617D5B0-DA05-47E5-871A-A168693576E7}" type="slidenum">
              <a:rPr lang="en-US" smtClean="0"/>
              <a:t>‹#›</a:t>
            </a:fld>
            <a:endParaRPr lang="en-US"/>
          </a:p>
        </p:txBody>
      </p:sp>
    </p:spTree>
    <p:extLst>
      <p:ext uri="{BB962C8B-B14F-4D97-AF65-F5344CB8AC3E}">
        <p14:creationId xmlns:p14="http://schemas.microsoft.com/office/powerpoint/2010/main" val="14836305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www.youtube.com/watch?v=K9teElePNkk"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hyperlink" Target="https://www.youtube.com/watch?v=dt0fQDabb4Y" TargetMode="External"/><Relationship Id="rId2" Type="http://schemas.openxmlformats.org/officeDocument/2006/relationships/hyperlink" Target="https://www.youtube.com/watch?v=DD5npelwh80" TargetMode="Externa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hyperlink" Target="https://www.youtube.com/watch?v=SJRVxvdIc8s&amp;t=613s" TargetMode="Externa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2EE512-8508-5AFE-3AC1-32F1FC30E041}"/>
              </a:ext>
            </a:extLst>
          </p:cNvPr>
          <p:cNvSpPr>
            <a:spLocks noGrp="1"/>
          </p:cNvSpPr>
          <p:nvPr>
            <p:ph type="title"/>
          </p:nvPr>
        </p:nvSpPr>
        <p:spPr/>
        <p:txBody>
          <a:bodyPr/>
          <a:lstStyle/>
          <a:p>
            <a:r>
              <a:rPr lang="en-US" dirty="0"/>
              <a:t>Thromboembolism</a:t>
            </a:r>
          </a:p>
        </p:txBody>
      </p:sp>
      <p:sp>
        <p:nvSpPr>
          <p:cNvPr id="3" name="Content Placeholder 2">
            <a:extLst>
              <a:ext uri="{FF2B5EF4-FFF2-40B4-BE49-F238E27FC236}">
                <a16:creationId xmlns:a16="http://schemas.microsoft.com/office/drawing/2014/main" id="{5C322317-68DE-0195-77D8-7B734842FCBD}"/>
              </a:ext>
            </a:extLst>
          </p:cNvPr>
          <p:cNvSpPr>
            <a:spLocks noGrp="1"/>
          </p:cNvSpPr>
          <p:nvPr>
            <p:ph idx="1"/>
          </p:nvPr>
        </p:nvSpPr>
        <p:spPr/>
        <p:txBody>
          <a:bodyPr/>
          <a:lstStyle/>
          <a:p>
            <a:r>
              <a:rPr lang="en-US" dirty="0"/>
              <a:t>PE</a:t>
            </a:r>
          </a:p>
          <a:p>
            <a:r>
              <a:rPr lang="en-US" dirty="0"/>
              <a:t>DVT</a:t>
            </a:r>
          </a:p>
          <a:p>
            <a:endParaRPr lang="en-US" dirty="0"/>
          </a:p>
        </p:txBody>
      </p:sp>
    </p:spTree>
    <p:extLst>
      <p:ext uri="{BB962C8B-B14F-4D97-AF65-F5344CB8AC3E}">
        <p14:creationId xmlns:p14="http://schemas.microsoft.com/office/powerpoint/2010/main" val="30336499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19603B-A349-7B11-9BA3-02794EAC9BF6}"/>
              </a:ext>
            </a:extLst>
          </p:cNvPr>
          <p:cNvSpPr>
            <a:spLocks noGrp="1"/>
          </p:cNvSpPr>
          <p:nvPr>
            <p:ph type="title"/>
          </p:nvPr>
        </p:nvSpPr>
        <p:spPr>
          <a:xfrm>
            <a:off x="838200" y="365125"/>
            <a:ext cx="11353800" cy="1325563"/>
          </a:xfrm>
        </p:spPr>
        <p:txBody>
          <a:bodyPr/>
          <a:lstStyle/>
          <a:p>
            <a:r>
              <a:rPr lang="en-US" dirty="0"/>
              <a:t>Pregnancy is a risk factor for thromboembolism</a:t>
            </a:r>
          </a:p>
        </p:txBody>
      </p:sp>
      <p:sp>
        <p:nvSpPr>
          <p:cNvPr id="3" name="Content Placeholder 2">
            <a:extLst>
              <a:ext uri="{FF2B5EF4-FFF2-40B4-BE49-F238E27FC236}">
                <a16:creationId xmlns:a16="http://schemas.microsoft.com/office/drawing/2014/main" id="{7B9ABD93-3EF9-891E-7AB1-BEBF3211CA94}"/>
              </a:ext>
            </a:extLst>
          </p:cNvPr>
          <p:cNvSpPr>
            <a:spLocks noGrp="1"/>
          </p:cNvSpPr>
          <p:nvPr>
            <p:ph idx="1"/>
          </p:nvPr>
        </p:nvSpPr>
        <p:spPr/>
        <p:txBody>
          <a:bodyPr/>
          <a:lstStyle/>
          <a:p>
            <a:r>
              <a:rPr lang="en-US" dirty="0"/>
              <a:t>Accounting for 9.3% of maternal deaths in US</a:t>
            </a:r>
          </a:p>
          <a:p>
            <a:r>
              <a:rPr lang="en-US" dirty="0"/>
              <a:t>Physiological changes</a:t>
            </a:r>
          </a:p>
          <a:p>
            <a:pPr lvl="1"/>
            <a:r>
              <a:rPr lang="en-US" dirty="0"/>
              <a:t>Mechanical obstruction by the gravid uterus</a:t>
            </a:r>
          </a:p>
          <a:p>
            <a:pPr lvl="1"/>
            <a:r>
              <a:rPr lang="en-US" dirty="0"/>
              <a:t>Decreased mobility</a:t>
            </a:r>
          </a:p>
          <a:p>
            <a:pPr lvl="1"/>
            <a:r>
              <a:rPr lang="en-US" dirty="0"/>
              <a:t>Vascular injury</a:t>
            </a:r>
          </a:p>
          <a:p>
            <a:pPr lvl="1"/>
            <a:endParaRPr lang="en-US" dirty="0"/>
          </a:p>
        </p:txBody>
      </p:sp>
    </p:spTree>
    <p:extLst>
      <p:ext uri="{BB962C8B-B14F-4D97-AF65-F5344CB8AC3E}">
        <p14:creationId xmlns:p14="http://schemas.microsoft.com/office/powerpoint/2010/main" val="22183574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194C98-0904-6C91-7339-8AC57CEB4894}"/>
              </a:ext>
            </a:extLst>
          </p:cNvPr>
          <p:cNvSpPr>
            <a:spLocks noGrp="1"/>
          </p:cNvSpPr>
          <p:nvPr>
            <p:ph type="title"/>
          </p:nvPr>
        </p:nvSpPr>
        <p:spPr/>
        <p:txBody>
          <a:bodyPr/>
          <a:lstStyle/>
          <a:p>
            <a:r>
              <a:rPr lang="en-US" dirty="0"/>
              <a:t>Other risk factors related to pregnancy</a:t>
            </a:r>
          </a:p>
        </p:txBody>
      </p:sp>
      <p:sp>
        <p:nvSpPr>
          <p:cNvPr id="3" name="Content Placeholder 2">
            <a:extLst>
              <a:ext uri="{FF2B5EF4-FFF2-40B4-BE49-F238E27FC236}">
                <a16:creationId xmlns:a16="http://schemas.microsoft.com/office/drawing/2014/main" id="{48A1355A-25B5-34A3-314F-7A346773529F}"/>
              </a:ext>
            </a:extLst>
          </p:cNvPr>
          <p:cNvSpPr>
            <a:spLocks noGrp="1"/>
          </p:cNvSpPr>
          <p:nvPr>
            <p:ph idx="1"/>
          </p:nvPr>
        </p:nvSpPr>
        <p:spPr/>
        <p:txBody>
          <a:bodyPr/>
          <a:lstStyle/>
          <a:p>
            <a:r>
              <a:rPr lang="en-US" dirty="0"/>
              <a:t>Advanced maternal age</a:t>
            </a:r>
          </a:p>
          <a:p>
            <a:r>
              <a:rPr lang="en-US" dirty="0"/>
              <a:t>Obesity</a:t>
            </a:r>
          </a:p>
          <a:p>
            <a:r>
              <a:rPr lang="en-US" dirty="0"/>
              <a:t>Cesarean delivery</a:t>
            </a:r>
          </a:p>
        </p:txBody>
      </p:sp>
    </p:spTree>
    <p:extLst>
      <p:ext uri="{BB962C8B-B14F-4D97-AF65-F5344CB8AC3E}">
        <p14:creationId xmlns:p14="http://schemas.microsoft.com/office/powerpoint/2010/main" val="22329786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39D4E6-CD19-2F54-9809-CBD4334A409A}"/>
              </a:ext>
            </a:extLst>
          </p:cNvPr>
          <p:cNvSpPr>
            <a:spLocks noGrp="1"/>
          </p:cNvSpPr>
          <p:nvPr>
            <p:ph type="title"/>
          </p:nvPr>
        </p:nvSpPr>
        <p:spPr/>
        <p:txBody>
          <a:bodyPr/>
          <a:lstStyle/>
          <a:p>
            <a:r>
              <a:rPr lang="en-US" dirty="0"/>
              <a:t>preeclampsia</a:t>
            </a:r>
          </a:p>
        </p:txBody>
      </p:sp>
      <p:sp>
        <p:nvSpPr>
          <p:cNvPr id="3" name="Content Placeholder 2">
            <a:extLst>
              <a:ext uri="{FF2B5EF4-FFF2-40B4-BE49-F238E27FC236}">
                <a16:creationId xmlns:a16="http://schemas.microsoft.com/office/drawing/2014/main" id="{DC49D56C-F480-D639-890D-B8FA41742E83}"/>
              </a:ext>
            </a:extLst>
          </p:cNvPr>
          <p:cNvSpPr>
            <a:spLocks noGrp="1"/>
          </p:cNvSpPr>
          <p:nvPr>
            <p:ph idx="1"/>
          </p:nvPr>
        </p:nvSpPr>
        <p:spPr/>
        <p:txBody>
          <a:bodyPr/>
          <a:lstStyle/>
          <a:p>
            <a:r>
              <a:rPr lang="en-US" dirty="0"/>
              <a:t>Hypertension arising after 20 weeks of gestation with new onset or worsening proteinuria or end-organ disease</a:t>
            </a:r>
          </a:p>
        </p:txBody>
      </p:sp>
    </p:spTree>
    <p:extLst>
      <p:ext uri="{BB962C8B-B14F-4D97-AF65-F5344CB8AC3E}">
        <p14:creationId xmlns:p14="http://schemas.microsoft.com/office/powerpoint/2010/main" val="1351102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F5DA4-39EC-A623-764F-221816077038}"/>
              </a:ext>
            </a:extLst>
          </p:cNvPr>
          <p:cNvSpPr>
            <a:spLocks noGrp="1"/>
          </p:cNvSpPr>
          <p:nvPr>
            <p:ph type="title"/>
          </p:nvPr>
        </p:nvSpPr>
        <p:spPr/>
        <p:txBody>
          <a:bodyPr/>
          <a:lstStyle/>
          <a:p>
            <a:r>
              <a:rPr lang="en-US" dirty="0"/>
              <a:t>Pathophysiologic association</a:t>
            </a:r>
          </a:p>
        </p:txBody>
      </p:sp>
      <p:sp>
        <p:nvSpPr>
          <p:cNvPr id="3" name="Content Placeholder 2">
            <a:extLst>
              <a:ext uri="{FF2B5EF4-FFF2-40B4-BE49-F238E27FC236}">
                <a16:creationId xmlns:a16="http://schemas.microsoft.com/office/drawing/2014/main" id="{CA13D3A9-5545-1F8C-CEC1-54A2E32606BE}"/>
              </a:ext>
            </a:extLst>
          </p:cNvPr>
          <p:cNvSpPr>
            <a:spLocks noGrp="1"/>
          </p:cNvSpPr>
          <p:nvPr>
            <p:ph idx="1"/>
          </p:nvPr>
        </p:nvSpPr>
        <p:spPr/>
        <p:txBody>
          <a:bodyPr/>
          <a:lstStyle/>
          <a:p>
            <a:r>
              <a:rPr lang="en-US" dirty="0"/>
              <a:t>Preeclampsia </a:t>
            </a:r>
          </a:p>
          <a:p>
            <a:r>
              <a:rPr lang="en-US" dirty="0"/>
              <a:t>Thromboembolism</a:t>
            </a:r>
          </a:p>
          <a:p>
            <a:endParaRPr lang="en-US" dirty="0"/>
          </a:p>
          <a:p>
            <a:r>
              <a:rPr lang="en-US" dirty="0"/>
              <a:t>Elevated risk for VTE in pregnancy and postpartum among those with preeclampsia.</a:t>
            </a:r>
          </a:p>
          <a:p>
            <a:endParaRPr lang="en-US" dirty="0"/>
          </a:p>
        </p:txBody>
      </p:sp>
    </p:spTree>
    <p:extLst>
      <p:ext uri="{BB962C8B-B14F-4D97-AF65-F5344CB8AC3E}">
        <p14:creationId xmlns:p14="http://schemas.microsoft.com/office/powerpoint/2010/main" val="12679104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4D3B26-42D4-E74D-2AD1-3ECB345B7D3F}"/>
              </a:ext>
            </a:extLst>
          </p:cNvPr>
          <p:cNvSpPr>
            <a:spLocks noGrp="1"/>
          </p:cNvSpPr>
          <p:nvPr>
            <p:ph type="title"/>
          </p:nvPr>
        </p:nvSpPr>
        <p:spPr/>
        <p:txBody>
          <a:bodyPr/>
          <a:lstStyle/>
          <a:p>
            <a:r>
              <a:rPr lang="en-US" dirty="0"/>
              <a:t>Retrospective cohort study</a:t>
            </a:r>
          </a:p>
        </p:txBody>
      </p:sp>
      <p:sp>
        <p:nvSpPr>
          <p:cNvPr id="3" name="Content Placeholder 2">
            <a:extLst>
              <a:ext uri="{FF2B5EF4-FFF2-40B4-BE49-F238E27FC236}">
                <a16:creationId xmlns:a16="http://schemas.microsoft.com/office/drawing/2014/main" id="{11D2FB59-C27D-471A-0F60-0C6E0250DE78}"/>
              </a:ext>
            </a:extLst>
          </p:cNvPr>
          <p:cNvSpPr>
            <a:spLocks noGrp="1"/>
          </p:cNvSpPr>
          <p:nvPr>
            <p:ph idx="1"/>
          </p:nvPr>
        </p:nvSpPr>
        <p:spPr/>
        <p:txBody>
          <a:bodyPr/>
          <a:lstStyle/>
          <a:p>
            <a:r>
              <a:rPr lang="en-US" dirty="0"/>
              <a:t>The relationship between preterm preeclampsia and thromboembolic risk</a:t>
            </a:r>
          </a:p>
        </p:txBody>
      </p:sp>
    </p:spTree>
    <p:extLst>
      <p:ext uri="{BB962C8B-B14F-4D97-AF65-F5344CB8AC3E}">
        <p14:creationId xmlns:p14="http://schemas.microsoft.com/office/powerpoint/2010/main" val="17716273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A8EF3F-4523-5AF0-16DD-05654A998040}"/>
              </a:ext>
            </a:extLst>
          </p:cNvPr>
          <p:cNvSpPr>
            <a:spLocks noGrp="1"/>
          </p:cNvSpPr>
          <p:nvPr>
            <p:ph type="title"/>
          </p:nvPr>
        </p:nvSpPr>
        <p:spPr/>
        <p:txBody>
          <a:bodyPr/>
          <a:lstStyle/>
          <a:p>
            <a:r>
              <a:rPr lang="en-US" dirty="0"/>
              <a:t>Cohorts</a:t>
            </a:r>
          </a:p>
        </p:txBody>
      </p:sp>
      <p:sp>
        <p:nvSpPr>
          <p:cNvPr id="3" name="Content Placeholder 2">
            <a:extLst>
              <a:ext uri="{FF2B5EF4-FFF2-40B4-BE49-F238E27FC236}">
                <a16:creationId xmlns:a16="http://schemas.microsoft.com/office/drawing/2014/main" id="{0600DF0B-BE1B-C000-CC51-4148C68BEF4A}"/>
              </a:ext>
            </a:extLst>
          </p:cNvPr>
          <p:cNvSpPr>
            <a:spLocks noGrp="1"/>
          </p:cNvSpPr>
          <p:nvPr>
            <p:ph idx="1"/>
          </p:nvPr>
        </p:nvSpPr>
        <p:spPr/>
        <p:txBody>
          <a:bodyPr/>
          <a:lstStyle/>
          <a:p>
            <a:r>
              <a:rPr lang="en-US" dirty="0"/>
              <a:t>No history of preeclampsia </a:t>
            </a:r>
          </a:p>
          <a:p>
            <a:r>
              <a:rPr lang="en-US" dirty="0"/>
              <a:t>preterm preeclampsia </a:t>
            </a:r>
          </a:p>
          <a:p>
            <a:pPr lvl="1"/>
            <a:r>
              <a:rPr lang="en-US" dirty="0"/>
              <a:t>Delivery at &lt;= 36 weeks</a:t>
            </a:r>
          </a:p>
          <a:p>
            <a:r>
              <a:rPr lang="en-US" dirty="0"/>
              <a:t>term preeclampsia</a:t>
            </a:r>
          </a:p>
          <a:p>
            <a:pPr lvl="1"/>
            <a:r>
              <a:rPr lang="en-US" dirty="0"/>
              <a:t>Delivery at &gt;= 37 weeks</a:t>
            </a:r>
          </a:p>
        </p:txBody>
      </p:sp>
    </p:spTree>
    <p:extLst>
      <p:ext uri="{BB962C8B-B14F-4D97-AF65-F5344CB8AC3E}">
        <p14:creationId xmlns:p14="http://schemas.microsoft.com/office/powerpoint/2010/main" val="30730697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6E85E-27F4-7F87-8D82-E915E5BC3571}"/>
              </a:ext>
            </a:extLst>
          </p:cNvPr>
          <p:cNvSpPr>
            <a:spLocks noGrp="1"/>
          </p:cNvSpPr>
          <p:nvPr>
            <p:ph type="title"/>
          </p:nvPr>
        </p:nvSpPr>
        <p:spPr/>
        <p:txBody>
          <a:bodyPr/>
          <a:lstStyle/>
          <a:p>
            <a:r>
              <a:rPr lang="en-US" dirty="0"/>
              <a:t>outcome</a:t>
            </a:r>
          </a:p>
        </p:txBody>
      </p:sp>
      <p:sp>
        <p:nvSpPr>
          <p:cNvPr id="3" name="Content Placeholder 2">
            <a:extLst>
              <a:ext uri="{FF2B5EF4-FFF2-40B4-BE49-F238E27FC236}">
                <a16:creationId xmlns:a16="http://schemas.microsoft.com/office/drawing/2014/main" id="{0FE1E953-152F-FC8F-37D3-42E16F3432B5}"/>
              </a:ext>
            </a:extLst>
          </p:cNvPr>
          <p:cNvSpPr>
            <a:spLocks noGrp="1"/>
          </p:cNvSpPr>
          <p:nvPr>
            <p:ph idx="1"/>
          </p:nvPr>
        </p:nvSpPr>
        <p:spPr/>
        <p:txBody>
          <a:bodyPr/>
          <a:lstStyle/>
          <a:p>
            <a:r>
              <a:rPr lang="en-US" dirty="0"/>
              <a:t>Any thromboembolic event</a:t>
            </a:r>
          </a:p>
          <a:p>
            <a:r>
              <a:rPr lang="en-US" dirty="0"/>
              <a:t>Each type of thromboembolic event</a:t>
            </a:r>
          </a:p>
        </p:txBody>
      </p:sp>
    </p:spTree>
    <p:extLst>
      <p:ext uri="{BB962C8B-B14F-4D97-AF65-F5344CB8AC3E}">
        <p14:creationId xmlns:p14="http://schemas.microsoft.com/office/powerpoint/2010/main" val="35943706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7D1D1-6F25-0505-BB56-5A5BE445E4B2}"/>
              </a:ext>
            </a:extLst>
          </p:cNvPr>
          <p:cNvSpPr>
            <a:spLocks noGrp="1"/>
          </p:cNvSpPr>
          <p:nvPr>
            <p:ph type="title"/>
          </p:nvPr>
        </p:nvSpPr>
        <p:spPr/>
        <p:txBody>
          <a:bodyPr/>
          <a:lstStyle/>
          <a:p>
            <a:r>
              <a:rPr lang="en-US" dirty="0"/>
              <a:t>National Inpatient Sample database</a:t>
            </a:r>
          </a:p>
        </p:txBody>
      </p:sp>
      <p:sp>
        <p:nvSpPr>
          <p:cNvPr id="3" name="Content Placeholder 2">
            <a:extLst>
              <a:ext uri="{FF2B5EF4-FFF2-40B4-BE49-F238E27FC236}">
                <a16:creationId xmlns:a16="http://schemas.microsoft.com/office/drawing/2014/main" id="{04BAE152-5E03-C99F-5277-5BD2FEDCBB95}"/>
              </a:ext>
            </a:extLst>
          </p:cNvPr>
          <p:cNvSpPr>
            <a:spLocks noGrp="1"/>
          </p:cNvSpPr>
          <p:nvPr>
            <p:ph idx="1"/>
          </p:nvPr>
        </p:nvSpPr>
        <p:spPr/>
        <p:txBody>
          <a:bodyPr/>
          <a:lstStyle/>
          <a:p>
            <a:r>
              <a:rPr lang="en-US" b="0" i="0" dirty="0">
                <a:solidFill>
                  <a:srgbClr val="1B1B1B"/>
                </a:solidFill>
                <a:effectLst/>
                <a:latin typeface="-apple-system"/>
              </a:rPr>
              <a:t>the largest publicly available all-payer inpatient healthcare database </a:t>
            </a:r>
          </a:p>
          <a:p>
            <a:r>
              <a:rPr lang="en-US" b="0" i="0" dirty="0">
                <a:solidFill>
                  <a:srgbClr val="1B1B1B"/>
                </a:solidFill>
                <a:effectLst/>
                <a:latin typeface="-apple-system"/>
              </a:rPr>
              <a:t>contains data from around 7 million hospital stays each year</a:t>
            </a:r>
          </a:p>
          <a:p>
            <a:endParaRPr lang="en-US" dirty="0">
              <a:solidFill>
                <a:srgbClr val="1B1B1B"/>
              </a:solidFill>
              <a:latin typeface="-apple-system"/>
            </a:endParaRPr>
          </a:p>
          <a:p>
            <a:r>
              <a:rPr lang="en-US" dirty="0">
                <a:solidFill>
                  <a:srgbClr val="1B1B1B"/>
                </a:solidFill>
                <a:latin typeface="-apple-system"/>
              </a:rPr>
              <a:t>2017-2019</a:t>
            </a:r>
          </a:p>
          <a:p>
            <a:pPr lvl="1"/>
            <a:r>
              <a:rPr lang="en-US" dirty="0">
                <a:solidFill>
                  <a:srgbClr val="1B1B1B"/>
                </a:solidFill>
                <a:latin typeface="-apple-system"/>
              </a:rPr>
              <a:t>2.2 million</a:t>
            </a:r>
          </a:p>
          <a:p>
            <a:pPr lvl="2"/>
            <a:r>
              <a:rPr lang="en-US" dirty="0">
                <a:solidFill>
                  <a:srgbClr val="1B1B1B"/>
                </a:solidFill>
                <a:latin typeface="-apple-system"/>
              </a:rPr>
              <a:t>56,446 preterm preeclampsia</a:t>
            </a:r>
          </a:p>
          <a:p>
            <a:pPr lvl="2"/>
            <a:r>
              <a:rPr lang="en-US" dirty="0">
                <a:solidFill>
                  <a:srgbClr val="1B1B1B"/>
                </a:solidFill>
                <a:latin typeface="-apple-system"/>
              </a:rPr>
              <a:t>86,152 term preeclampsia</a:t>
            </a:r>
            <a:endParaRPr lang="en-US" dirty="0"/>
          </a:p>
        </p:txBody>
      </p:sp>
    </p:spTree>
    <p:extLst>
      <p:ext uri="{BB962C8B-B14F-4D97-AF65-F5344CB8AC3E}">
        <p14:creationId xmlns:p14="http://schemas.microsoft.com/office/powerpoint/2010/main" val="31642037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D4C294-9968-76D8-DB50-FFEAB701ABC6}"/>
              </a:ext>
            </a:extLst>
          </p:cNvPr>
          <p:cNvSpPr>
            <a:spLocks noGrp="1"/>
          </p:cNvSpPr>
          <p:nvPr>
            <p:ph type="title"/>
          </p:nvPr>
        </p:nvSpPr>
        <p:spPr/>
        <p:txBody>
          <a:bodyPr/>
          <a:lstStyle/>
          <a:p>
            <a:r>
              <a:rPr lang="en-US" dirty="0"/>
              <a:t>Variables of interest</a:t>
            </a:r>
          </a:p>
        </p:txBody>
      </p:sp>
      <p:sp>
        <p:nvSpPr>
          <p:cNvPr id="3" name="Content Placeholder 2">
            <a:extLst>
              <a:ext uri="{FF2B5EF4-FFF2-40B4-BE49-F238E27FC236}">
                <a16:creationId xmlns:a16="http://schemas.microsoft.com/office/drawing/2014/main" id="{BEA5020B-0AB1-2562-5412-9D7E78E65BB8}"/>
              </a:ext>
            </a:extLst>
          </p:cNvPr>
          <p:cNvSpPr>
            <a:spLocks noGrp="1"/>
          </p:cNvSpPr>
          <p:nvPr>
            <p:ph idx="1"/>
          </p:nvPr>
        </p:nvSpPr>
        <p:spPr/>
        <p:txBody>
          <a:bodyPr/>
          <a:lstStyle/>
          <a:p>
            <a:r>
              <a:rPr lang="en-US" dirty="0"/>
              <a:t>Demographics</a:t>
            </a:r>
          </a:p>
          <a:p>
            <a:pPr lvl="1"/>
            <a:r>
              <a:rPr lang="en-US" dirty="0"/>
              <a:t>Age, race, BMI, tobacco use, insurance, income, hospital bed size, hospital teaching status, length of stay, cesarean delivery</a:t>
            </a:r>
          </a:p>
          <a:p>
            <a:pPr lvl="1"/>
            <a:r>
              <a:rPr lang="en-US" dirty="0"/>
              <a:t>Comorbidities: grand multiparity, diabetes mellitus, chronic hypertension, asthma, anemia, history of cesarean</a:t>
            </a:r>
          </a:p>
          <a:p>
            <a:endParaRPr lang="en-US" dirty="0"/>
          </a:p>
          <a:p>
            <a:r>
              <a:rPr lang="en-US" dirty="0"/>
              <a:t>Outcome</a:t>
            </a:r>
          </a:p>
          <a:p>
            <a:pPr lvl="1"/>
            <a:r>
              <a:rPr lang="en-US" dirty="0"/>
              <a:t>PE, DVT, cerebral thrombosis or TIA, other thrombosis</a:t>
            </a:r>
          </a:p>
          <a:p>
            <a:pPr lvl="1"/>
            <a:endParaRPr lang="en-US" dirty="0"/>
          </a:p>
          <a:p>
            <a:endParaRPr lang="en-US" dirty="0"/>
          </a:p>
          <a:p>
            <a:endParaRPr lang="en-US" dirty="0"/>
          </a:p>
        </p:txBody>
      </p:sp>
    </p:spTree>
    <p:extLst>
      <p:ext uri="{BB962C8B-B14F-4D97-AF65-F5344CB8AC3E}">
        <p14:creationId xmlns:p14="http://schemas.microsoft.com/office/powerpoint/2010/main" val="31918303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E2196D-1ACF-13A4-D9CF-E31D68B4B33C}"/>
              </a:ext>
            </a:extLst>
          </p:cNvPr>
          <p:cNvSpPr>
            <a:spLocks noGrp="1"/>
          </p:cNvSpPr>
          <p:nvPr>
            <p:ph type="title"/>
          </p:nvPr>
        </p:nvSpPr>
        <p:spPr/>
        <p:txBody>
          <a:bodyPr/>
          <a:lstStyle/>
          <a:p>
            <a:r>
              <a:rPr lang="en-US" dirty="0"/>
              <a:t>Univariate analysis</a:t>
            </a:r>
          </a:p>
        </p:txBody>
      </p:sp>
      <p:sp>
        <p:nvSpPr>
          <p:cNvPr id="3" name="Content Placeholder 2">
            <a:extLst>
              <a:ext uri="{FF2B5EF4-FFF2-40B4-BE49-F238E27FC236}">
                <a16:creationId xmlns:a16="http://schemas.microsoft.com/office/drawing/2014/main" id="{9BB92E6A-A60C-A893-0AF5-5DCA845CD192}"/>
              </a:ext>
            </a:extLst>
          </p:cNvPr>
          <p:cNvSpPr>
            <a:spLocks noGrp="1"/>
          </p:cNvSpPr>
          <p:nvPr>
            <p:ph idx="1"/>
          </p:nvPr>
        </p:nvSpPr>
        <p:spPr/>
        <p:txBody>
          <a:bodyPr/>
          <a:lstStyle/>
          <a:p>
            <a:r>
              <a:rPr lang="en-US" dirty="0"/>
              <a:t>Categorical variable</a:t>
            </a:r>
          </a:p>
          <a:p>
            <a:endParaRPr lang="en-US" dirty="0"/>
          </a:p>
          <a:p>
            <a:r>
              <a:rPr lang="en-US" dirty="0"/>
              <a:t>Continuous variable (numeric, metric)</a:t>
            </a:r>
          </a:p>
        </p:txBody>
      </p:sp>
    </p:spTree>
    <p:extLst>
      <p:ext uri="{BB962C8B-B14F-4D97-AF65-F5344CB8AC3E}">
        <p14:creationId xmlns:p14="http://schemas.microsoft.com/office/powerpoint/2010/main" val="15195504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D6683-56FC-DDA6-44FF-50BC0CF134C9}"/>
              </a:ext>
            </a:extLst>
          </p:cNvPr>
          <p:cNvSpPr>
            <a:spLocks noGrp="1"/>
          </p:cNvSpPr>
          <p:nvPr>
            <p:ph type="title"/>
          </p:nvPr>
        </p:nvSpPr>
        <p:spPr/>
        <p:txBody>
          <a:bodyPr/>
          <a:lstStyle/>
          <a:p>
            <a:endParaRPr lang="en-US"/>
          </a:p>
        </p:txBody>
      </p:sp>
      <p:pic>
        <p:nvPicPr>
          <p:cNvPr id="4" name="Picture 3">
            <a:extLst>
              <a:ext uri="{FF2B5EF4-FFF2-40B4-BE49-F238E27FC236}">
                <a16:creationId xmlns:a16="http://schemas.microsoft.com/office/drawing/2014/main" id="{0C65328F-9312-8807-ED1E-BA9E6A9DFD5C}"/>
              </a:ext>
            </a:extLst>
          </p:cNvPr>
          <p:cNvPicPr>
            <a:picLocks noChangeAspect="1"/>
          </p:cNvPicPr>
          <p:nvPr/>
        </p:nvPicPr>
        <p:blipFill>
          <a:blip r:embed="rId2"/>
          <a:srcRect b="24920"/>
          <a:stretch/>
        </p:blipFill>
        <p:spPr>
          <a:xfrm>
            <a:off x="923382" y="261258"/>
            <a:ext cx="10430418" cy="5148943"/>
          </a:xfrm>
          <a:prstGeom prst="rect">
            <a:avLst/>
          </a:prstGeom>
        </p:spPr>
      </p:pic>
    </p:spTree>
    <p:extLst>
      <p:ext uri="{BB962C8B-B14F-4D97-AF65-F5344CB8AC3E}">
        <p14:creationId xmlns:p14="http://schemas.microsoft.com/office/powerpoint/2010/main" val="15618986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F1F13-1FE5-47ED-5F1C-6B5A4F255A92}"/>
              </a:ext>
            </a:extLst>
          </p:cNvPr>
          <p:cNvSpPr>
            <a:spLocks noGrp="1"/>
          </p:cNvSpPr>
          <p:nvPr>
            <p:ph type="title"/>
          </p:nvPr>
        </p:nvSpPr>
        <p:spPr/>
        <p:txBody>
          <a:bodyPr/>
          <a:lstStyle/>
          <a:p>
            <a:endParaRPr lang="en-US"/>
          </a:p>
        </p:txBody>
      </p:sp>
      <p:pic>
        <p:nvPicPr>
          <p:cNvPr id="4" name="Picture 3">
            <a:extLst>
              <a:ext uri="{FF2B5EF4-FFF2-40B4-BE49-F238E27FC236}">
                <a16:creationId xmlns:a16="http://schemas.microsoft.com/office/drawing/2014/main" id="{5AD90E40-0E21-E192-19A1-515068B8FF41}"/>
              </a:ext>
            </a:extLst>
          </p:cNvPr>
          <p:cNvPicPr>
            <a:picLocks noChangeAspect="1"/>
          </p:cNvPicPr>
          <p:nvPr/>
        </p:nvPicPr>
        <p:blipFill>
          <a:blip r:embed="rId2"/>
          <a:srcRect b="25714"/>
          <a:stretch/>
        </p:blipFill>
        <p:spPr>
          <a:xfrm>
            <a:off x="880791" y="365125"/>
            <a:ext cx="10430418" cy="5094514"/>
          </a:xfrm>
          <a:prstGeom prst="rect">
            <a:avLst/>
          </a:prstGeom>
        </p:spPr>
      </p:pic>
    </p:spTree>
    <p:extLst>
      <p:ext uri="{BB962C8B-B14F-4D97-AF65-F5344CB8AC3E}">
        <p14:creationId xmlns:p14="http://schemas.microsoft.com/office/powerpoint/2010/main" val="22243636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01E96A-7AD6-9BD3-0A95-4899E44A3A00}"/>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3F2ACD0F-3E4B-72FD-9D01-DFEA5AF54D53}"/>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DC690685-2A98-ADEE-7BF0-C3D8810F2707}"/>
              </a:ext>
            </a:extLst>
          </p:cNvPr>
          <p:cNvPicPr>
            <a:picLocks noChangeAspect="1"/>
          </p:cNvPicPr>
          <p:nvPr/>
        </p:nvPicPr>
        <p:blipFill>
          <a:blip r:embed="rId2"/>
          <a:srcRect b="26826"/>
          <a:stretch/>
        </p:blipFill>
        <p:spPr>
          <a:xfrm>
            <a:off x="880791" y="681037"/>
            <a:ext cx="10430418" cy="5018314"/>
          </a:xfrm>
          <a:prstGeom prst="rect">
            <a:avLst/>
          </a:prstGeom>
        </p:spPr>
      </p:pic>
    </p:spTree>
    <p:extLst>
      <p:ext uri="{BB962C8B-B14F-4D97-AF65-F5344CB8AC3E}">
        <p14:creationId xmlns:p14="http://schemas.microsoft.com/office/powerpoint/2010/main" val="34052317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5BD931-5900-A031-0BB6-19FA06B67781}"/>
              </a:ext>
            </a:extLst>
          </p:cNvPr>
          <p:cNvSpPr>
            <a:spLocks noGrp="1"/>
          </p:cNvSpPr>
          <p:nvPr>
            <p:ph type="title"/>
          </p:nvPr>
        </p:nvSpPr>
        <p:spPr/>
        <p:txBody>
          <a:bodyPr/>
          <a:lstStyle/>
          <a:p>
            <a:r>
              <a:rPr lang="en-US" dirty="0"/>
              <a:t>Demographics</a:t>
            </a:r>
          </a:p>
        </p:txBody>
      </p:sp>
      <p:sp>
        <p:nvSpPr>
          <p:cNvPr id="3" name="Content Placeholder 2">
            <a:extLst>
              <a:ext uri="{FF2B5EF4-FFF2-40B4-BE49-F238E27FC236}">
                <a16:creationId xmlns:a16="http://schemas.microsoft.com/office/drawing/2014/main" id="{25229EC8-2877-51C9-887F-EDA88281A934}"/>
              </a:ext>
            </a:extLst>
          </p:cNvPr>
          <p:cNvSpPr>
            <a:spLocks noGrp="1"/>
          </p:cNvSpPr>
          <p:nvPr>
            <p:ph idx="1"/>
          </p:nvPr>
        </p:nvSpPr>
        <p:spPr/>
        <p:txBody>
          <a:bodyPr/>
          <a:lstStyle/>
          <a:p>
            <a:r>
              <a:rPr lang="en-US" dirty="0"/>
              <a:t>Categorical </a:t>
            </a:r>
          </a:p>
          <a:p>
            <a:pPr lvl="1"/>
            <a:r>
              <a:rPr lang="en-US" dirty="0"/>
              <a:t>race, income, hospital bed size, hospital teaching status</a:t>
            </a:r>
          </a:p>
          <a:p>
            <a:pPr lvl="1"/>
            <a:endParaRPr lang="en-US" dirty="0"/>
          </a:p>
          <a:p>
            <a:pPr lvl="1"/>
            <a:r>
              <a:rPr lang="en-US" dirty="0"/>
              <a:t>Private insurance, tobacco use, grand multiparity, diabetes mellitus, chronic hypertension, asthma, anemia, history of cesarean, cesarean delivery</a:t>
            </a:r>
          </a:p>
          <a:p>
            <a:pPr lvl="1"/>
            <a:endParaRPr lang="en-US" dirty="0"/>
          </a:p>
          <a:p>
            <a:r>
              <a:rPr lang="en-US" dirty="0"/>
              <a:t>Continuous </a:t>
            </a:r>
          </a:p>
          <a:p>
            <a:pPr lvl="1"/>
            <a:r>
              <a:rPr lang="en-US" dirty="0"/>
              <a:t>Age, BMI, length of stay</a:t>
            </a:r>
          </a:p>
        </p:txBody>
      </p:sp>
    </p:spTree>
    <p:extLst>
      <p:ext uri="{BB962C8B-B14F-4D97-AF65-F5344CB8AC3E}">
        <p14:creationId xmlns:p14="http://schemas.microsoft.com/office/powerpoint/2010/main" val="9445091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E7305B5F-BD19-B90F-1E85-D18DFA5FDCB4}"/>
              </a:ext>
            </a:extLst>
          </p:cNvPr>
          <p:cNvGraphicFramePr>
            <a:graphicFrameLocks noGrp="1"/>
          </p:cNvGraphicFramePr>
          <p:nvPr>
            <p:ph idx="1"/>
            <p:extLst>
              <p:ext uri="{D42A27DB-BD31-4B8C-83A1-F6EECF244321}">
                <p14:modId xmlns:p14="http://schemas.microsoft.com/office/powerpoint/2010/main" val="472392630"/>
              </p:ext>
            </p:extLst>
          </p:nvPr>
        </p:nvGraphicFramePr>
        <p:xfrm>
          <a:off x="1164769" y="1480457"/>
          <a:ext cx="10330544" cy="2804160"/>
        </p:xfrm>
        <a:graphic>
          <a:graphicData uri="http://schemas.openxmlformats.org/drawingml/2006/table">
            <a:tbl>
              <a:tblPr firstRow="1" bandRow="1">
                <a:tableStyleId>{5C22544A-7EE6-4342-B048-85BDC9FD1C3A}</a:tableStyleId>
              </a:tblPr>
              <a:tblGrid>
                <a:gridCol w="5165272">
                  <a:extLst>
                    <a:ext uri="{9D8B030D-6E8A-4147-A177-3AD203B41FA5}">
                      <a16:colId xmlns:a16="http://schemas.microsoft.com/office/drawing/2014/main" val="985535134"/>
                    </a:ext>
                  </a:extLst>
                </a:gridCol>
                <a:gridCol w="5165272">
                  <a:extLst>
                    <a:ext uri="{9D8B030D-6E8A-4147-A177-3AD203B41FA5}">
                      <a16:colId xmlns:a16="http://schemas.microsoft.com/office/drawing/2014/main" val="3519897098"/>
                    </a:ext>
                  </a:extLst>
                </a:gridCol>
              </a:tblGrid>
              <a:tr h="370840">
                <a:tc>
                  <a:txBody>
                    <a:bodyPr/>
                    <a:lstStyle/>
                    <a:p>
                      <a:r>
                        <a:rPr lang="en-US" sz="3200" dirty="0"/>
                        <a:t>Variables</a:t>
                      </a:r>
                    </a:p>
                  </a:txBody>
                  <a:tcPr/>
                </a:tc>
                <a:tc>
                  <a:txBody>
                    <a:bodyPr/>
                    <a:lstStyle/>
                    <a:p>
                      <a:r>
                        <a:rPr lang="en-US" sz="3200" dirty="0"/>
                        <a:t>Preterm preeclampsia</a:t>
                      </a:r>
                    </a:p>
                    <a:p>
                      <a:r>
                        <a:rPr lang="en-US" sz="3200" dirty="0"/>
                        <a:t>n=56,446</a:t>
                      </a:r>
                    </a:p>
                  </a:txBody>
                  <a:tcPr/>
                </a:tc>
                <a:extLst>
                  <a:ext uri="{0D108BD9-81ED-4DB2-BD59-A6C34878D82A}">
                    <a16:rowId xmlns:a16="http://schemas.microsoft.com/office/drawing/2014/main" val="1261827436"/>
                  </a:ext>
                </a:extLst>
              </a:tr>
              <a:tr h="370840">
                <a:tc>
                  <a:txBody>
                    <a:bodyPr/>
                    <a:lstStyle/>
                    <a:p>
                      <a:r>
                        <a:rPr lang="en-US" sz="3200" dirty="0"/>
                        <a:t>Tobacco use</a:t>
                      </a:r>
                    </a:p>
                  </a:txBody>
                  <a:tcPr/>
                </a:tc>
                <a:tc>
                  <a:txBody>
                    <a:bodyPr/>
                    <a:lstStyle/>
                    <a:p>
                      <a:r>
                        <a:rPr lang="en-US" sz="3200" dirty="0"/>
                        <a:t>3459 (6.1%)</a:t>
                      </a:r>
                    </a:p>
                  </a:txBody>
                  <a:tcPr/>
                </a:tc>
                <a:extLst>
                  <a:ext uri="{0D108BD9-81ED-4DB2-BD59-A6C34878D82A}">
                    <a16:rowId xmlns:a16="http://schemas.microsoft.com/office/drawing/2014/main" val="3373794671"/>
                  </a:ext>
                </a:extLst>
              </a:tr>
              <a:tr h="370840">
                <a:tc>
                  <a:txBody>
                    <a:bodyPr/>
                    <a:lstStyle/>
                    <a:p>
                      <a:r>
                        <a:rPr lang="en-US" sz="3200" dirty="0"/>
                        <a:t>Chronic hypertension </a:t>
                      </a:r>
                    </a:p>
                  </a:txBody>
                  <a:tcPr/>
                </a:tc>
                <a:tc>
                  <a:txBody>
                    <a:bodyPr/>
                    <a:lstStyle/>
                    <a:p>
                      <a:r>
                        <a:rPr lang="en-US" sz="3200" dirty="0"/>
                        <a:t>8426 (14.9%)</a:t>
                      </a:r>
                    </a:p>
                  </a:txBody>
                  <a:tcPr/>
                </a:tc>
                <a:extLst>
                  <a:ext uri="{0D108BD9-81ED-4DB2-BD59-A6C34878D82A}">
                    <a16:rowId xmlns:a16="http://schemas.microsoft.com/office/drawing/2014/main" val="4041629521"/>
                  </a:ext>
                </a:extLst>
              </a:tr>
              <a:tr h="370840">
                <a:tc>
                  <a:txBody>
                    <a:bodyPr/>
                    <a:lstStyle/>
                    <a:p>
                      <a:r>
                        <a:rPr lang="en-US" sz="3200" dirty="0"/>
                        <a:t>History of cesarean</a:t>
                      </a:r>
                    </a:p>
                  </a:txBody>
                  <a:tcPr/>
                </a:tc>
                <a:tc>
                  <a:txBody>
                    <a:bodyPr/>
                    <a:lstStyle/>
                    <a:p>
                      <a:r>
                        <a:rPr lang="en-US" sz="3200" dirty="0"/>
                        <a:t>11,434 (20.3%)</a:t>
                      </a:r>
                    </a:p>
                  </a:txBody>
                  <a:tcPr/>
                </a:tc>
                <a:extLst>
                  <a:ext uri="{0D108BD9-81ED-4DB2-BD59-A6C34878D82A}">
                    <a16:rowId xmlns:a16="http://schemas.microsoft.com/office/drawing/2014/main" val="2501693320"/>
                  </a:ext>
                </a:extLst>
              </a:tr>
            </a:tbl>
          </a:graphicData>
        </a:graphic>
      </p:graphicFrame>
    </p:spTree>
    <p:extLst>
      <p:ext uri="{BB962C8B-B14F-4D97-AF65-F5344CB8AC3E}">
        <p14:creationId xmlns:p14="http://schemas.microsoft.com/office/powerpoint/2010/main" val="614936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7AA860-0EF0-37C8-06B7-9B3ADD465EFD}"/>
            </a:ext>
          </a:extLst>
        </p:cNvPr>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7DA7D203-F4A0-08D0-380B-77E0E6A0DF96}"/>
              </a:ext>
            </a:extLst>
          </p:cNvPr>
          <p:cNvGraphicFramePr>
            <a:graphicFrameLocks noGrp="1"/>
          </p:cNvGraphicFramePr>
          <p:nvPr>
            <p:ph idx="1"/>
            <p:extLst>
              <p:ext uri="{D42A27DB-BD31-4B8C-83A1-F6EECF244321}">
                <p14:modId xmlns:p14="http://schemas.microsoft.com/office/powerpoint/2010/main" val="1642575124"/>
              </p:ext>
            </p:extLst>
          </p:nvPr>
        </p:nvGraphicFramePr>
        <p:xfrm>
          <a:off x="1447798" y="642257"/>
          <a:ext cx="10330544" cy="5120640"/>
        </p:xfrm>
        <a:graphic>
          <a:graphicData uri="http://schemas.openxmlformats.org/drawingml/2006/table">
            <a:tbl>
              <a:tblPr firstRow="1" bandRow="1">
                <a:tableStyleId>{5C22544A-7EE6-4342-B048-85BDC9FD1C3A}</a:tableStyleId>
              </a:tblPr>
              <a:tblGrid>
                <a:gridCol w="5165272">
                  <a:extLst>
                    <a:ext uri="{9D8B030D-6E8A-4147-A177-3AD203B41FA5}">
                      <a16:colId xmlns:a16="http://schemas.microsoft.com/office/drawing/2014/main" val="985535134"/>
                    </a:ext>
                  </a:extLst>
                </a:gridCol>
                <a:gridCol w="5165272">
                  <a:extLst>
                    <a:ext uri="{9D8B030D-6E8A-4147-A177-3AD203B41FA5}">
                      <a16:colId xmlns:a16="http://schemas.microsoft.com/office/drawing/2014/main" val="3519897098"/>
                    </a:ext>
                  </a:extLst>
                </a:gridCol>
              </a:tblGrid>
              <a:tr h="370840">
                <a:tc>
                  <a:txBody>
                    <a:bodyPr/>
                    <a:lstStyle/>
                    <a:p>
                      <a:r>
                        <a:rPr lang="en-US" sz="3200" dirty="0"/>
                        <a:t>Variable</a:t>
                      </a:r>
                    </a:p>
                  </a:txBody>
                  <a:tcPr/>
                </a:tc>
                <a:tc>
                  <a:txBody>
                    <a:bodyPr/>
                    <a:lstStyle/>
                    <a:p>
                      <a:r>
                        <a:rPr lang="en-US" sz="3200" dirty="0"/>
                        <a:t>Preterm preeclampsia</a:t>
                      </a:r>
                    </a:p>
                    <a:p>
                      <a:r>
                        <a:rPr lang="en-US" sz="3200" dirty="0"/>
                        <a:t>n=56,446</a:t>
                      </a:r>
                    </a:p>
                  </a:txBody>
                  <a:tcPr/>
                </a:tc>
                <a:extLst>
                  <a:ext uri="{0D108BD9-81ED-4DB2-BD59-A6C34878D82A}">
                    <a16:rowId xmlns:a16="http://schemas.microsoft.com/office/drawing/2014/main" val="1261827436"/>
                  </a:ext>
                </a:extLst>
              </a:tr>
              <a:tr h="370840">
                <a:tc>
                  <a:txBody>
                    <a:bodyPr/>
                    <a:lstStyle/>
                    <a:p>
                      <a:r>
                        <a:rPr lang="en-US" sz="3200" dirty="0"/>
                        <a:t>Race</a:t>
                      </a:r>
                    </a:p>
                  </a:txBody>
                  <a:tcPr/>
                </a:tc>
                <a:tc>
                  <a:txBody>
                    <a:bodyPr/>
                    <a:lstStyle/>
                    <a:p>
                      <a:endParaRPr lang="en-US" sz="3200" dirty="0"/>
                    </a:p>
                  </a:txBody>
                  <a:tcPr/>
                </a:tc>
                <a:extLst>
                  <a:ext uri="{0D108BD9-81ED-4DB2-BD59-A6C34878D82A}">
                    <a16:rowId xmlns:a16="http://schemas.microsoft.com/office/drawing/2014/main" val="3373794671"/>
                  </a:ext>
                </a:extLst>
              </a:tr>
              <a:tr h="370840">
                <a:tc>
                  <a:txBody>
                    <a:bodyPr/>
                    <a:lstStyle/>
                    <a:p>
                      <a:r>
                        <a:rPr lang="en-US" sz="3200" dirty="0"/>
                        <a:t>  Non-Hispanic White</a:t>
                      </a:r>
                    </a:p>
                  </a:txBody>
                  <a:tcPr/>
                </a:tc>
                <a:tc>
                  <a:txBody>
                    <a:bodyPr/>
                    <a:lstStyle/>
                    <a:p>
                      <a:r>
                        <a:rPr lang="en-US" sz="3200" dirty="0"/>
                        <a:t>25,213 (46.2%)</a:t>
                      </a:r>
                    </a:p>
                  </a:txBody>
                  <a:tcPr/>
                </a:tc>
                <a:extLst>
                  <a:ext uri="{0D108BD9-81ED-4DB2-BD59-A6C34878D82A}">
                    <a16:rowId xmlns:a16="http://schemas.microsoft.com/office/drawing/2014/main" val="4041629521"/>
                  </a:ext>
                </a:extLst>
              </a:tr>
              <a:tr h="370840">
                <a:tc>
                  <a:txBody>
                    <a:bodyPr/>
                    <a:lstStyle/>
                    <a:p>
                      <a:r>
                        <a:rPr lang="en-US" sz="3200" dirty="0"/>
                        <a:t>  Non-Hispanic Black</a:t>
                      </a:r>
                    </a:p>
                  </a:txBody>
                  <a:tcPr/>
                </a:tc>
                <a:tc>
                  <a:txBody>
                    <a:bodyPr/>
                    <a:lstStyle/>
                    <a:p>
                      <a:r>
                        <a:rPr lang="en-US" sz="3200" dirty="0"/>
                        <a:t>13,627 (25.0%)</a:t>
                      </a:r>
                    </a:p>
                  </a:txBody>
                  <a:tcPr/>
                </a:tc>
                <a:extLst>
                  <a:ext uri="{0D108BD9-81ED-4DB2-BD59-A6C34878D82A}">
                    <a16:rowId xmlns:a16="http://schemas.microsoft.com/office/drawing/2014/main" val="2501693320"/>
                  </a:ext>
                </a:extLst>
              </a:tr>
              <a:tr h="370840">
                <a:tc>
                  <a:txBody>
                    <a:bodyPr/>
                    <a:lstStyle/>
                    <a:p>
                      <a:r>
                        <a:rPr lang="en-US" sz="3200" dirty="0"/>
                        <a:t>  Hispanic</a:t>
                      </a:r>
                    </a:p>
                  </a:txBody>
                  <a:tcPr/>
                </a:tc>
                <a:tc>
                  <a:txBody>
                    <a:bodyPr/>
                    <a:lstStyle/>
                    <a:p>
                      <a:r>
                        <a:rPr lang="en-US" sz="3200" dirty="0"/>
                        <a:t>10,587 (19.4%)</a:t>
                      </a:r>
                    </a:p>
                  </a:txBody>
                  <a:tcPr/>
                </a:tc>
                <a:extLst>
                  <a:ext uri="{0D108BD9-81ED-4DB2-BD59-A6C34878D82A}">
                    <a16:rowId xmlns:a16="http://schemas.microsoft.com/office/drawing/2014/main" val="1210632257"/>
                  </a:ext>
                </a:extLst>
              </a:tr>
              <a:tr h="370840">
                <a:tc>
                  <a:txBody>
                    <a:bodyPr/>
                    <a:lstStyle/>
                    <a:p>
                      <a:r>
                        <a:rPr lang="en-US" sz="3200" dirty="0"/>
                        <a:t>  Asian or Pacific Island</a:t>
                      </a:r>
                    </a:p>
                  </a:txBody>
                  <a:tcPr/>
                </a:tc>
                <a:tc>
                  <a:txBody>
                    <a:bodyPr/>
                    <a:lstStyle/>
                    <a:p>
                      <a:r>
                        <a:rPr lang="en-US" sz="3200" dirty="0"/>
                        <a:t>2310 (4.2%)</a:t>
                      </a:r>
                    </a:p>
                  </a:txBody>
                  <a:tcPr/>
                </a:tc>
                <a:extLst>
                  <a:ext uri="{0D108BD9-81ED-4DB2-BD59-A6C34878D82A}">
                    <a16:rowId xmlns:a16="http://schemas.microsoft.com/office/drawing/2014/main" val="1366670169"/>
                  </a:ext>
                </a:extLst>
              </a:tr>
              <a:tr h="370840">
                <a:tc>
                  <a:txBody>
                    <a:bodyPr/>
                    <a:lstStyle/>
                    <a:p>
                      <a:r>
                        <a:rPr lang="en-US" sz="3200" dirty="0"/>
                        <a:t>  American Indian</a:t>
                      </a:r>
                    </a:p>
                  </a:txBody>
                  <a:tcPr/>
                </a:tc>
                <a:tc>
                  <a:txBody>
                    <a:bodyPr/>
                    <a:lstStyle/>
                    <a:p>
                      <a:r>
                        <a:rPr lang="en-US" sz="3200" dirty="0"/>
                        <a:t>580 (1.0%)</a:t>
                      </a:r>
                    </a:p>
                  </a:txBody>
                  <a:tcPr/>
                </a:tc>
                <a:extLst>
                  <a:ext uri="{0D108BD9-81ED-4DB2-BD59-A6C34878D82A}">
                    <a16:rowId xmlns:a16="http://schemas.microsoft.com/office/drawing/2014/main" val="138522082"/>
                  </a:ext>
                </a:extLst>
              </a:tr>
              <a:tr h="370840">
                <a:tc>
                  <a:txBody>
                    <a:bodyPr/>
                    <a:lstStyle/>
                    <a:p>
                      <a:r>
                        <a:rPr lang="en-US" sz="3200" dirty="0"/>
                        <a:t>  Other</a:t>
                      </a:r>
                    </a:p>
                  </a:txBody>
                  <a:tcPr/>
                </a:tc>
                <a:tc>
                  <a:txBody>
                    <a:bodyPr/>
                    <a:lstStyle/>
                    <a:p>
                      <a:r>
                        <a:rPr lang="en-US" sz="3200" dirty="0"/>
                        <a:t>2301 (4.2%)</a:t>
                      </a:r>
                    </a:p>
                  </a:txBody>
                  <a:tcPr/>
                </a:tc>
                <a:extLst>
                  <a:ext uri="{0D108BD9-81ED-4DB2-BD59-A6C34878D82A}">
                    <a16:rowId xmlns:a16="http://schemas.microsoft.com/office/drawing/2014/main" val="3227024742"/>
                  </a:ext>
                </a:extLst>
              </a:tr>
            </a:tbl>
          </a:graphicData>
        </a:graphic>
      </p:graphicFrame>
    </p:spTree>
    <p:extLst>
      <p:ext uri="{BB962C8B-B14F-4D97-AF65-F5344CB8AC3E}">
        <p14:creationId xmlns:p14="http://schemas.microsoft.com/office/powerpoint/2010/main" val="4794446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C6AF0-58CD-C3A8-384C-8A93B87090C3}"/>
              </a:ext>
            </a:extLst>
          </p:cNvPr>
          <p:cNvSpPr>
            <a:spLocks noGrp="1"/>
          </p:cNvSpPr>
          <p:nvPr>
            <p:ph type="title"/>
          </p:nvPr>
        </p:nvSpPr>
        <p:spPr/>
        <p:txBody>
          <a:bodyPr/>
          <a:lstStyle/>
          <a:p>
            <a:r>
              <a:rPr lang="en-US" dirty="0"/>
              <a:t>Video</a:t>
            </a:r>
          </a:p>
        </p:txBody>
      </p:sp>
      <p:sp>
        <p:nvSpPr>
          <p:cNvPr id="3" name="Content Placeholder 2">
            <a:extLst>
              <a:ext uri="{FF2B5EF4-FFF2-40B4-BE49-F238E27FC236}">
                <a16:creationId xmlns:a16="http://schemas.microsoft.com/office/drawing/2014/main" id="{1245CD4B-CBBC-EA9F-2681-21735E6FB20D}"/>
              </a:ext>
            </a:extLst>
          </p:cNvPr>
          <p:cNvSpPr>
            <a:spLocks noGrp="1"/>
          </p:cNvSpPr>
          <p:nvPr>
            <p:ph idx="1"/>
          </p:nvPr>
        </p:nvSpPr>
        <p:spPr/>
        <p:txBody>
          <a:bodyPr/>
          <a:lstStyle/>
          <a:p>
            <a:r>
              <a:rPr lang="en-US" dirty="0">
                <a:hlinkClick r:id="rId2"/>
              </a:rPr>
              <a:t>https://www.youtube.com/watch?v=K9teElePNkk</a:t>
            </a:r>
            <a:endParaRPr lang="en-US" dirty="0"/>
          </a:p>
          <a:p>
            <a:r>
              <a:rPr lang="en-US" dirty="0"/>
              <a:t>Descriptive statistics: 4:19-10:21</a:t>
            </a:r>
          </a:p>
        </p:txBody>
      </p:sp>
    </p:spTree>
    <p:extLst>
      <p:ext uri="{BB962C8B-B14F-4D97-AF65-F5344CB8AC3E}">
        <p14:creationId xmlns:p14="http://schemas.microsoft.com/office/powerpoint/2010/main" val="22662268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ED9136-4B4A-9208-77A0-A3A007C77704}"/>
              </a:ext>
            </a:extLst>
          </p:cNvPr>
          <p:cNvSpPr>
            <a:spLocks noGrp="1"/>
          </p:cNvSpPr>
          <p:nvPr>
            <p:ph type="title"/>
          </p:nvPr>
        </p:nvSpPr>
        <p:spPr/>
        <p:txBody>
          <a:bodyPr/>
          <a:lstStyle/>
          <a:p>
            <a:r>
              <a:rPr lang="en-US" dirty="0"/>
              <a:t>Mean vs median</a:t>
            </a:r>
          </a:p>
        </p:txBody>
      </p:sp>
      <p:sp>
        <p:nvSpPr>
          <p:cNvPr id="3" name="Content Placeholder 2">
            <a:extLst>
              <a:ext uri="{FF2B5EF4-FFF2-40B4-BE49-F238E27FC236}">
                <a16:creationId xmlns:a16="http://schemas.microsoft.com/office/drawing/2014/main" id="{07A0180D-EC00-5CC9-8AF7-57C5639BB2EC}"/>
              </a:ext>
            </a:extLst>
          </p:cNvPr>
          <p:cNvSpPr>
            <a:spLocks noGrp="1"/>
          </p:cNvSpPr>
          <p:nvPr>
            <p:ph idx="1"/>
          </p:nvPr>
        </p:nvSpPr>
        <p:spPr/>
        <p:txBody>
          <a:bodyPr/>
          <a:lstStyle/>
          <a:p>
            <a:r>
              <a:rPr lang="en-US" dirty="0"/>
              <a:t>Both measure central tendency</a:t>
            </a:r>
          </a:p>
          <a:p>
            <a:r>
              <a:rPr lang="en-US" dirty="0"/>
              <a:t>Median: reduce noise</a:t>
            </a:r>
          </a:p>
          <a:p>
            <a:endParaRPr lang="en-US" dirty="0"/>
          </a:p>
        </p:txBody>
      </p:sp>
    </p:spTree>
    <p:extLst>
      <p:ext uri="{BB962C8B-B14F-4D97-AF65-F5344CB8AC3E}">
        <p14:creationId xmlns:p14="http://schemas.microsoft.com/office/powerpoint/2010/main" val="2945969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2169F8-9A4B-F5D5-7619-BCAB387CA380}"/>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Content Placeholder 3">
                <a:extLst>
                  <a:ext uri="{FF2B5EF4-FFF2-40B4-BE49-F238E27FC236}">
                    <a16:creationId xmlns:a16="http://schemas.microsoft.com/office/drawing/2014/main" id="{775B3164-999E-B62D-47F8-7E03722EBAEF}"/>
                  </a:ext>
                </a:extLst>
              </p:cNvPr>
              <p:cNvGraphicFramePr>
                <a:graphicFrameLocks noGrp="1"/>
              </p:cNvGraphicFramePr>
              <p:nvPr>
                <p:ph idx="1"/>
                <p:extLst>
                  <p:ext uri="{D42A27DB-BD31-4B8C-83A1-F6EECF244321}">
                    <p14:modId xmlns:p14="http://schemas.microsoft.com/office/powerpoint/2010/main" val="1646851285"/>
                  </p:ext>
                </p:extLst>
              </p:nvPr>
            </p:nvGraphicFramePr>
            <p:xfrm>
              <a:off x="1055915" y="1436914"/>
              <a:ext cx="10080170" cy="1645920"/>
            </p:xfrm>
            <a:graphic>
              <a:graphicData uri="http://schemas.openxmlformats.org/drawingml/2006/table">
                <a:tbl>
                  <a:tblPr firstRow="1" bandRow="1">
                    <a:tableStyleId>{5C22544A-7EE6-4342-B048-85BDC9FD1C3A}</a:tableStyleId>
                  </a:tblPr>
                  <a:tblGrid>
                    <a:gridCol w="4914898">
                      <a:extLst>
                        <a:ext uri="{9D8B030D-6E8A-4147-A177-3AD203B41FA5}">
                          <a16:colId xmlns:a16="http://schemas.microsoft.com/office/drawing/2014/main" val="985535134"/>
                        </a:ext>
                      </a:extLst>
                    </a:gridCol>
                    <a:gridCol w="5165272">
                      <a:extLst>
                        <a:ext uri="{9D8B030D-6E8A-4147-A177-3AD203B41FA5}">
                          <a16:colId xmlns:a16="http://schemas.microsoft.com/office/drawing/2014/main" val="3519897098"/>
                        </a:ext>
                      </a:extLst>
                    </a:gridCol>
                  </a:tblGrid>
                  <a:tr h="370840">
                    <a:tc>
                      <a:txBody>
                        <a:bodyPr/>
                        <a:lstStyle/>
                        <a:p>
                          <a:r>
                            <a:rPr lang="en-US" sz="3200" dirty="0"/>
                            <a:t>Variables</a:t>
                          </a:r>
                        </a:p>
                      </a:txBody>
                      <a:tcPr/>
                    </a:tc>
                    <a:tc>
                      <a:txBody>
                        <a:bodyPr/>
                        <a:lstStyle/>
                        <a:p>
                          <a:r>
                            <a:rPr lang="en-US" sz="3200" dirty="0"/>
                            <a:t>Preterm preeclampsia</a:t>
                          </a:r>
                        </a:p>
                        <a:p>
                          <a:r>
                            <a:rPr lang="en-US" sz="3200" dirty="0"/>
                            <a:t>n=56,446</a:t>
                          </a:r>
                        </a:p>
                      </a:txBody>
                      <a:tcPr/>
                    </a:tc>
                    <a:extLst>
                      <a:ext uri="{0D108BD9-81ED-4DB2-BD59-A6C34878D82A}">
                        <a16:rowId xmlns:a16="http://schemas.microsoft.com/office/drawing/2014/main" val="1261827436"/>
                      </a:ext>
                    </a:extLst>
                  </a:tr>
                  <a:tr h="370840">
                    <a:tc>
                      <a:txBody>
                        <a:bodyPr/>
                        <a:lstStyle/>
                        <a:p>
                          <a:r>
                            <a:rPr lang="en-US" sz="3200" dirty="0"/>
                            <a:t>Age</a:t>
                          </a:r>
                        </a:p>
                      </a:txBody>
                      <a:tcPr/>
                    </a:tc>
                    <a:tc>
                      <a:txBody>
                        <a:bodyPr/>
                        <a:lstStyle/>
                        <a:p>
                          <a:r>
                            <a:rPr lang="en-US" sz="3200" dirty="0"/>
                            <a:t>29.8</a:t>
                          </a:r>
                          <a14:m>
                            <m:oMath xmlns:m="http://schemas.openxmlformats.org/officeDocument/2006/math">
                              <m:r>
                                <a:rPr lang="en-US" sz="3200" i="1" smtClean="0">
                                  <a:latin typeface="Cambria Math" panose="02040503050406030204" pitchFamily="18" charset="0"/>
                                  <a:ea typeface="Cambria Math" panose="02040503050406030204" pitchFamily="18" charset="0"/>
                                </a:rPr>
                                <m:t>±</m:t>
                              </m:r>
                            </m:oMath>
                          </a14:m>
                          <a:r>
                            <a:rPr lang="en-US" sz="3200" dirty="0"/>
                            <a:t>6.3</a:t>
                          </a:r>
                        </a:p>
                      </a:txBody>
                      <a:tcPr/>
                    </a:tc>
                    <a:extLst>
                      <a:ext uri="{0D108BD9-81ED-4DB2-BD59-A6C34878D82A}">
                        <a16:rowId xmlns:a16="http://schemas.microsoft.com/office/drawing/2014/main" val="3373794671"/>
                      </a:ext>
                    </a:extLst>
                  </a:tr>
                </a:tbl>
              </a:graphicData>
            </a:graphic>
          </p:graphicFrame>
        </mc:Choice>
        <mc:Fallback xmlns="">
          <p:graphicFrame>
            <p:nvGraphicFramePr>
              <p:cNvPr id="4" name="Content Placeholder 3">
                <a:extLst>
                  <a:ext uri="{FF2B5EF4-FFF2-40B4-BE49-F238E27FC236}">
                    <a16:creationId xmlns:a16="http://schemas.microsoft.com/office/drawing/2014/main" id="{775B3164-999E-B62D-47F8-7E03722EBAEF}"/>
                  </a:ext>
                </a:extLst>
              </p:cNvPr>
              <p:cNvGraphicFramePr>
                <a:graphicFrameLocks noGrp="1"/>
              </p:cNvGraphicFramePr>
              <p:nvPr>
                <p:ph idx="1"/>
                <p:extLst>
                  <p:ext uri="{D42A27DB-BD31-4B8C-83A1-F6EECF244321}">
                    <p14:modId xmlns:p14="http://schemas.microsoft.com/office/powerpoint/2010/main" val="1646851285"/>
                  </p:ext>
                </p:extLst>
              </p:nvPr>
            </p:nvGraphicFramePr>
            <p:xfrm>
              <a:off x="1055915" y="1436914"/>
              <a:ext cx="10080170" cy="1645920"/>
            </p:xfrm>
            <a:graphic>
              <a:graphicData uri="http://schemas.openxmlformats.org/drawingml/2006/table">
                <a:tbl>
                  <a:tblPr firstRow="1" bandRow="1">
                    <a:tableStyleId>{5C22544A-7EE6-4342-B048-85BDC9FD1C3A}</a:tableStyleId>
                  </a:tblPr>
                  <a:tblGrid>
                    <a:gridCol w="4914898">
                      <a:extLst>
                        <a:ext uri="{9D8B030D-6E8A-4147-A177-3AD203B41FA5}">
                          <a16:colId xmlns:a16="http://schemas.microsoft.com/office/drawing/2014/main" val="985535134"/>
                        </a:ext>
                      </a:extLst>
                    </a:gridCol>
                    <a:gridCol w="5165272">
                      <a:extLst>
                        <a:ext uri="{9D8B030D-6E8A-4147-A177-3AD203B41FA5}">
                          <a16:colId xmlns:a16="http://schemas.microsoft.com/office/drawing/2014/main" val="3519897098"/>
                        </a:ext>
                      </a:extLst>
                    </a:gridCol>
                  </a:tblGrid>
                  <a:tr h="1066800">
                    <a:tc>
                      <a:txBody>
                        <a:bodyPr/>
                        <a:lstStyle/>
                        <a:p>
                          <a:r>
                            <a:rPr lang="en-US" sz="3200" dirty="0"/>
                            <a:t>Variables</a:t>
                          </a:r>
                        </a:p>
                      </a:txBody>
                      <a:tcPr/>
                    </a:tc>
                    <a:tc>
                      <a:txBody>
                        <a:bodyPr/>
                        <a:lstStyle/>
                        <a:p>
                          <a:r>
                            <a:rPr lang="en-US" sz="3200" dirty="0"/>
                            <a:t>Preterm preeclampsia</a:t>
                          </a:r>
                        </a:p>
                        <a:p>
                          <a:r>
                            <a:rPr lang="en-US" sz="3200" dirty="0"/>
                            <a:t>n=56,446</a:t>
                          </a:r>
                        </a:p>
                      </a:txBody>
                      <a:tcPr/>
                    </a:tc>
                    <a:extLst>
                      <a:ext uri="{0D108BD9-81ED-4DB2-BD59-A6C34878D82A}">
                        <a16:rowId xmlns:a16="http://schemas.microsoft.com/office/drawing/2014/main" val="1261827436"/>
                      </a:ext>
                    </a:extLst>
                  </a:tr>
                  <a:tr h="579120">
                    <a:tc>
                      <a:txBody>
                        <a:bodyPr/>
                        <a:lstStyle/>
                        <a:p>
                          <a:r>
                            <a:rPr lang="en-US" sz="3200" dirty="0"/>
                            <a:t>Age</a:t>
                          </a:r>
                        </a:p>
                      </a:txBody>
                      <a:tcPr/>
                    </a:tc>
                    <a:tc>
                      <a:txBody>
                        <a:bodyPr/>
                        <a:lstStyle/>
                        <a:p>
                          <a:endParaRPr lang="en-US"/>
                        </a:p>
                      </a:txBody>
                      <a:tcPr>
                        <a:blipFill>
                          <a:blip r:embed="rId2"/>
                          <a:stretch>
                            <a:fillRect l="-95165" t="-196842" r="-472" b="-35789"/>
                          </a:stretch>
                        </a:blipFill>
                      </a:tcPr>
                    </a:tc>
                    <a:extLst>
                      <a:ext uri="{0D108BD9-81ED-4DB2-BD59-A6C34878D82A}">
                        <a16:rowId xmlns:a16="http://schemas.microsoft.com/office/drawing/2014/main" val="3373794671"/>
                      </a:ext>
                    </a:extLst>
                  </a:tr>
                </a:tbl>
              </a:graphicData>
            </a:graphic>
          </p:graphicFrame>
        </mc:Fallback>
      </mc:AlternateContent>
    </p:spTree>
    <p:extLst>
      <p:ext uri="{BB962C8B-B14F-4D97-AF65-F5344CB8AC3E}">
        <p14:creationId xmlns:p14="http://schemas.microsoft.com/office/powerpoint/2010/main" val="28604231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F4D78E-E448-2EC6-233C-5AFCE8058BA3}"/>
            </a:ext>
          </a:extLst>
        </p:cNvPr>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BDB4C92B-B85C-7728-1F6E-E8027A0D6666}"/>
              </a:ext>
            </a:extLst>
          </p:cNvPr>
          <p:cNvGraphicFramePr>
            <a:graphicFrameLocks noGrp="1"/>
          </p:cNvGraphicFramePr>
          <p:nvPr>
            <p:ph idx="1"/>
            <p:extLst>
              <p:ext uri="{D42A27DB-BD31-4B8C-83A1-F6EECF244321}">
                <p14:modId xmlns:p14="http://schemas.microsoft.com/office/powerpoint/2010/main" val="2769958406"/>
              </p:ext>
            </p:extLst>
          </p:nvPr>
        </p:nvGraphicFramePr>
        <p:xfrm>
          <a:off x="1415143" y="1480457"/>
          <a:ext cx="10080170" cy="1645920"/>
        </p:xfrm>
        <a:graphic>
          <a:graphicData uri="http://schemas.openxmlformats.org/drawingml/2006/table">
            <a:tbl>
              <a:tblPr firstRow="1" bandRow="1">
                <a:tableStyleId>{5C22544A-7EE6-4342-B048-85BDC9FD1C3A}</a:tableStyleId>
              </a:tblPr>
              <a:tblGrid>
                <a:gridCol w="4914898">
                  <a:extLst>
                    <a:ext uri="{9D8B030D-6E8A-4147-A177-3AD203B41FA5}">
                      <a16:colId xmlns:a16="http://schemas.microsoft.com/office/drawing/2014/main" val="985535134"/>
                    </a:ext>
                  </a:extLst>
                </a:gridCol>
                <a:gridCol w="5165272">
                  <a:extLst>
                    <a:ext uri="{9D8B030D-6E8A-4147-A177-3AD203B41FA5}">
                      <a16:colId xmlns:a16="http://schemas.microsoft.com/office/drawing/2014/main" val="3519897098"/>
                    </a:ext>
                  </a:extLst>
                </a:gridCol>
              </a:tblGrid>
              <a:tr h="370840">
                <a:tc>
                  <a:txBody>
                    <a:bodyPr/>
                    <a:lstStyle/>
                    <a:p>
                      <a:r>
                        <a:rPr lang="en-US" sz="3200" dirty="0"/>
                        <a:t>Variables</a:t>
                      </a:r>
                    </a:p>
                  </a:txBody>
                  <a:tcPr/>
                </a:tc>
                <a:tc>
                  <a:txBody>
                    <a:bodyPr/>
                    <a:lstStyle/>
                    <a:p>
                      <a:r>
                        <a:rPr lang="en-US" sz="3200" dirty="0"/>
                        <a:t>Preterm preeclampsia</a:t>
                      </a:r>
                    </a:p>
                    <a:p>
                      <a:r>
                        <a:rPr lang="en-US" sz="3200" dirty="0"/>
                        <a:t>n=56,446</a:t>
                      </a:r>
                    </a:p>
                  </a:txBody>
                  <a:tcPr/>
                </a:tc>
                <a:extLst>
                  <a:ext uri="{0D108BD9-81ED-4DB2-BD59-A6C34878D82A}">
                    <a16:rowId xmlns:a16="http://schemas.microsoft.com/office/drawing/2014/main" val="1261827436"/>
                  </a:ext>
                </a:extLst>
              </a:tr>
              <a:tr h="370840">
                <a:tc>
                  <a:txBody>
                    <a:bodyPr/>
                    <a:lstStyle/>
                    <a:p>
                      <a:r>
                        <a:rPr lang="en-US" sz="3200" dirty="0"/>
                        <a:t>Age</a:t>
                      </a:r>
                    </a:p>
                  </a:txBody>
                  <a:tcPr/>
                </a:tc>
                <a:tc>
                  <a:txBody>
                    <a:bodyPr/>
                    <a:lstStyle/>
                    <a:p>
                      <a:r>
                        <a:rPr lang="en-US" sz="3200" dirty="0"/>
                        <a:t>30.2 (23.8, 34.6)</a:t>
                      </a:r>
                    </a:p>
                  </a:txBody>
                  <a:tcPr/>
                </a:tc>
                <a:extLst>
                  <a:ext uri="{0D108BD9-81ED-4DB2-BD59-A6C34878D82A}">
                    <a16:rowId xmlns:a16="http://schemas.microsoft.com/office/drawing/2014/main" val="3373794671"/>
                  </a:ext>
                </a:extLst>
              </a:tr>
            </a:tbl>
          </a:graphicData>
        </a:graphic>
      </p:graphicFrame>
    </p:spTree>
    <p:extLst>
      <p:ext uri="{BB962C8B-B14F-4D97-AF65-F5344CB8AC3E}">
        <p14:creationId xmlns:p14="http://schemas.microsoft.com/office/powerpoint/2010/main" val="42532130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27A068-6AA8-7455-D840-55AB60DEC950}"/>
              </a:ext>
            </a:extLst>
          </p:cNvPr>
          <p:cNvSpPr>
            <a:spLocks noGrp="1"/>
          </p:cNvSpPr>
          <p:nvPr>
            <p:ph type="title"/>
          </p:nvPr>
        </p:nvSpPr>
        <p:spPr/>
        <p:txBody>
          <a:bodyPr/>
          <a:lstStyle/>
          <a:p>
            <a:r>
              <a:rPr lang="en-US" dirty="0"/>
              <a:t>Normality test</a:t>
            </a:r>
          </a:p>
        </p:txBody>
      </p:sp>
      <p:sp>
        <p:nvSpPr>
          <p:cNvPr id="3" name="Content Placeholder 2">
            <a:extLst>
              <a:ext uri="{FF2B5EF4-FFF2-40B4-BE49-F238E27FC236}">
                <a16:creationId xmlns:a16="http://schemas.microsoft.com/office/drawing/2014/main" id="{576E2172-39A6-960C-8092-DF1FB94A1221}"/>
              </a:ext>
            </a:extLst>
          </p:cNvPr>
          <p:cNvSpPr>
            <a:spLocks noGrp="1"/>
          </p:cNvSpPr>
          <p:nvPr>
            <p:ph idx="1"/>
          </p:nvPr>
        </p:nvSpPr>
        <p:spPr>
          <a:xfrm>
            <a:off x="827314" y="1825625"/>
            <a:ext cx="10515600" cy="4351338"/>
          </a:xfrm>
        </p:spPr>
        <p:txBody>
          <a:bodyPr/>
          <a:lstStyle/>
          <a:p>
            <a:r>
              <a:rPr lang="en-US" dirty="0"/>
              <a:t>Shapiro Wilk test</a:t>
            </a:r>
          </a:p>
          <a:p>
            <a:pPr lvl="1"/>
            <a:r>
              <a:rPr lang="en-US" dirty="0" err="1"/>
              <a:t>swilk</a:t>
            </a:r>
            <a:r>
              <a:rPr lang="en-US" dirty="0"/>
              <a:t> age</a:t>
            </a:r>
          </a:p>
        </p:txBody>
      </p:sp>
      <p:sp>
        <p:nvSpPr>
          <p:cNvPr id="4" name="TextBox 3">
            <a:extLst>
              <a:ext uri="{FF2B5EF4-FFF2-40B4-BE49-F238E27FC236}">
                <a16:creationId xmlns:a16="http://schemas.microsoft.com/office/drawing/2014/main" id="{F7AD1855-C0D5-1FC7-8605-DBDDFCAF18F3}"/>
              </a:ext>
            </a:extLst>
          </p:cNvPr>
          <p:cNvSpPr txBox="1"/>
          <p:nvPr/>
        </p:nvSpPr>
        <p:spPr>
          <a:xfrm>
            <a:off x="987439" y="3200400"/>
            <a:ext cx="1263487" cy="523220"/>
          </a:xfrm>
          <a:prstGeom prst="rect">
            <a:avLst/>
          </a:prstGeom>
          <a:solidFill>
            <a:schemeClr val="accent3">
              <a:lumMod val="50000"/>
            </a:schemeClr>
          </a:solidFill>
        </p:spPr>
        <p:txBody>
          <a:bodyPr wrap="none" rtlCol="0">
            <a:spAutoFit/>
          </a:bodyPr>
          <a:lstStyle/>
          <a:p>
            <a:r>
              <a:rPr lang="en-US" sz="2800" dirty="0">
                <a:solidFill>
                  <a:schemeClr val="bg1"/>
                </a:solidFill>
              </a:rPr>
              <a:t>P&lt;0.05</a:t>
            </a:r>
          </a:p>
        </p:txBody>
      </p:sp>
      <p:cxnSp>
        <p:nvCxnSpPr>
          <p:cNvPr id="7" name="Straight Arrow Connector 6">
            <a:extLst>
              <a:ext uri="{FF2B5EF4-FFF2-40B4-BE49-F238E27FC236}">
                <a16:creationId xmlns:a16="http://schemas.microsoft.com/office/drawing/2014/main" id="{A734448B-427F-3881-E9FD-483E71CB9C33}"/>
              </a:ext>
            </a:extLst>
          </p:cNvPr>
          <p:cNvCxnSpPr>
            <a:cxnSpLocks/>
          </p:cNvCxnSpPr>
          <p:nvPr/>
        </p:nvCxnSpPr>
        <p:spPr>
          <a:xfrm>
            <a:off x="2427516" y="3429000"/>
            <a:ext cx="674914" cy="0"/>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B4127587-A134-2C4B-A149-8D77A633D045}"/>
              </a:ext>
            </a:extLst>
          </p:cNvPr>
          <p:cNvSpPr txBox="1"/>
          <p:nvPr/>
        </p:nvSpPr>
        <p:spPr>
          <a:xfrm>
            <a:off x="3121043" y="3200400"/>
            <a:ext cx="5629554" cy="523220"/>
          </a:xfrm>
          <a:prstGeom prst="rect">
            <a:avLst/>
          </a:prstGeom>
          <a:solidFill>
            <a:schemeClr val="accent3">
              <a:lumMod val="50000"/>
            </a:schemeClr>
          </a:solidFill>
        </p:spPr>
        <p:txBody>
          <a:bodyPr wrap="none" rtlCol="0">
            <a:spAutoFit/>
          </a:bodyPr>
          <a:lstStyle/>
          <a:p>
            <a:r>
              <a:rPr lang="en-US" sz="2800" dirty="0">
                <a:solidFill>
                  <a:schemeClr val="bg1"/>
                </a:solidFill>
              </a:rPr>
              <a:t>Normal distribution is not assumed</a:t>
            </a:r>
          </a:p>
        </p:txBody>
      </p:sp>
      <p:cxnSp>
        <p:nvCxnSpPr>
          <p:cNvPr id="10" name="Straight Arrow Connector 9">
            <a:extLst>
              <a:ext uri="{FF2B5EF4-FFF2-40B4-BE49-F238E27FC236}">
                <a16:creationId xmlns:a16="http://schemas.microsoft.com/office/drawing/2014/main" id="{AB9758E2-018E-877E-0A8B-D826DE5F8F0B}"/>
              </a:ext>
            </a:extLst>
          </p:cNvPr>
          <p:cNvCxnSpPr>
            <a:cxnSpLocks/>
          </p:cNvCxnSpPr>
          <p:nvPr/>
        </p:nvCxnSpPr>
        <p:spPr>
          <a:xfrm>
            <a:off x="8795657" y="3462010"/>
            <a:ext cx="674914" cy="0"/>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1EA8528A-1300-7586-63F0-B543C2B4D5E6}"/>
              </a:ext>
            </a:extLst>
          </p:cNvPr>
          <p:cNvSpPr txBox="1"/>
          <p:nvPr/>
        </p:nvSpPr>
        <p:spPr>
          <a:xfrm>
            <a:off x="9562727" y="3200400"/>
            <a:ext cx="2117887" cy="523220"/>
          </a:xfrm>
          <a:prstGeom prst="rect">
            <a:avLst/>
          </a:prstGeom>
          <a:solidFill>
            <a:schemeClr val="accent3">
              <a:lumMod val="50000"/>
            </a:schemeClr>
          </a:solidFill>
        </p:spPr>
        <p:txBody>
          <a:bodyPr wrap="none" rtlCol="0">
            <a:spAutoFit/>
          </a:bodyPr>
          <a:lstStyle/>
          <a:p>
            <a:r>
              <a:rPr lang="en-US" sz="2800" dirty="0">
                <a:solidFill>
                  <a:schemeClr val="bg1"/>
                </a:solidFill>
              </a:rPr>
              <a:t>Median(IQR)</a:t>
            </a:r>
          </a:p>
        </p:txBody>
      </p:sp>
      <p:sp>
        <p:nvSpPr>
          <p:cNvPr id="12" name="TextBox 11">
            <a:extLst>
              <a:ext uri="{FF2B5EF4-FFF2-40B4-BE49-F238E27FC236}">
                <a16:creationId xmlns:a16="http://schemas.microsoft.com/office/drawing/2014/main" id="{037093D4-5532-9952-182E-FE2FE9835B57}"/>
              </a:ext>
            </a:extLst>
          </p:cNvPr>
          <p:cNvSpPr txBox="1"/>
          <p:nvPr/>
        </p:nvSpPr>
        <p:spPr>
          <a:xfrm>
            <a:off x="976552" y="4136573"/>
            <a:ext cx="1263487" cy="523220"/>
          </a:xfrm>
          <a:prstGeom prst="rect">
            <a:avLst/>
          </a:prstGeom>
          <a:solidFill>
            <a:schemeClr val="accent3">
              <a:lumMod val="50000"/>
            </a:schemeClr>
          </a:solidFill>
        </p:spPr>
        <p:txBody>
          <a:bodyPr wrap="none" rtlCol="0">
            <a:spAutoFit/>
          </a:bodyPr>
          <a:lstStyle/>
          <a:p>
            <a:r>
              <a:rPr lang="en-US" sz="2800" dirty="0">
                <a:solidFill>
                  <a:schemeClr val="bg1"/>
                </a:solidFill>
              </a:rPr>
              <a:t>P≥0.05</a:t>
            </a:r>
          </a:p>
        </p:txBody>
      </p:sp>
      <p:cxnSp>
        <p:nvCxnSpPr>
          <p:cNvPr id="13" name="Straight Arrow Connector 12">
            <a:extLst>
              <a:ext uri="{FF2B5EF4-FFF2-40B4-BE49-F238E27FC236}">
                <a16:creationId xmlns:a16="http://schemas.microsoft.com/office/drawing/2014/main" id="{B1558D5B-D29B-FD68-8686-70F0F942F6EC}"/>
              </a:ext>
            </a:extLst>
          </p:cNvPr>
          <p:cNvCxnSpPr>
            <a:cxnSpLocks/>
          </p:cNvCxnSpPr>
          <p:nvPr/>
        </p:nvCxnSpPr>
        <p:spPr>
          <a:xfrm>
            <a:off x="2416629" y="4365173"/>
            <a:ext cx="674914" cy="0"/>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D5251489-42E7-83C9-054E-6ADE88F4E93E}"/>
              </a:ext>
            </a:extLst>
          </p:cNvPr>
          <p:cNvSpPr txBox="1"/>
          <p:nvPr/>
        </p:nvSpPr>
        <p:spPr>
          <a:xfrm>
            <a:off x="3110156" y="4136573"/>
            <a:ext cx="5233612" cy="523220"/>
          </a:xfrm>
          <a:prstGeom prst="rect">
            <a:avLst/>
          </a:prstGeom>
          <a:solidFill>
            <a:schemeClr val="accent3">
              <a:lumMod val="50000"/>
            </a:schemeClr>
          </a:solidFill>
        </p:spPr>
        <p:txBody>
          <a:bodyPr wrap="none" rtlCol="0">
            <a:spAutoFit/>
          </a:bodyPr>
          <a:lstStyle/>
          <a:p>
            <a:r>
              <a:rPr lang="en-US" sz="2800" dirty="0">
                <a:solidFill>
                  <a:schemeClr val="bg1"/>
                </a:solidFill>
              </a:rPr>
              <a:t>Normal distribution is assumed</a:t>
            </a:r>
          </a:p>
        </p:txBody>
      </p:sp>
      <p:cxnSp>
        <p:nvCxnSpPr>
          <p:cNvPr id="15" name="Straight Arrow Connector 14">
            <a:extLst>
              <a:ext uri="{FF2B5EF4-FFF2-40B4-BE49-F238E27FC236}">
                <a16:creationId xmlns:a16="http://schemas.microsoft.com/office/drawing/2014/main" id="{453091DB-5F6E-FF4A-463A-15234B0BB8F4}"/>
              </a:ext>
            </a:extLst>
          </p:cNvPr>
          <p:cNvCxnSpPr>
            <a:cxnSpLocks/>
          </p:cNvCxnSpPr>
          <p:nvPr/>
        </p:nvCxnSpPr>
        <p:spPr>
          <a:xfrm>
            <a:off x="8392887" y="4398183"/>
            <a:ext cx="674914" cy="0"/>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F8884BA0-A604-E52B-023B-C4A18D93ECC1}"/>
              </a:ext>
            </a:extLst>
          </p:cNvPr>
          <p:cNvSpPr txBox="1"/>
          <p:nvPr/>
        </p:nvSpPr>
        <p:spPr>
          <a:xfrm>
            <a:off x="9551840" y="4136573"/>
            <a:ext cx="1707519" cy="523220"/>
          </a:xfrm>
          <a:prstGeom prst="rect">
            <a:avLst/>
          </a:prstGeom>
          <a:solidFill>
            <a:schemeClr val="accent3">
              <a:lumMod val="50000"/>
            </a:schemeClr>
          </a:solidFill>
        </p:spPr>
        <p:txBody>
          <a:bodyPr wrap="none" rtlCol="0">
            <a:spAutoFit/>
          </a:bodyPr>
          <a:lstStyle/>
          <a:p>
            <a:r>
              <a:rPr lang="en-US" sz="2800" dirty="0">
                <a:solidFill>
                  <a:schemeClr val="bg1"/>
                </a:solidFill>
              </a:rPr>
              <a:t>Mean(SD)</a:t>
            </a:r>
          </a:p>
        </p:txBody>
      </p:sp>
    </p:spTree>
    <p:extLst>
      <p:ext uri="{BB962C8B-B14F-4D97-AF65-F5344CB8AC3E}">
        <p14:creationId xmlns:p14="http://schemas.microsoft.com/office/powerpoint/2010/main" val="13954406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60ABC-2A9F-4411-9008-79285D82F9D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97BE7A1-E93D-448D-F856-2D6D072CDC59}"/>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BE953263-FA85-BC20-071E-905F48C22F41}"/>
              </a:ext>
            </a:extLst>
          </p:cNvPr>
          <p:cNvPicPr>
            <a:picLocks noChangeAspect="1"/>
          </p:cNvPicPr>
          <p:nvPr/>
        </p:nvPicPr>
        <p:blipFill>
          <a:blip r:embed="rId2"/>
          <a:stretch>
            <a:fillRect/>
          </a:stretch>
        </p:blipFill>
        <p:spPr>
          <a:xfrm>
            <a:off x="979714" y="365125"/>
            <a:ext cx="10748282" cy="5374141"/>
          </a:xfrm>
          <a:prstGeom prst="rect">
            <a:avLst/>
          </a:prstGeom>
        </p:spPr>
      </p:pic>
    </p:spTree>
    <p:extLst>
      <p:ext uri="{BB962C8B-B14F-4D97-AF65-F5344CB8AC3E}">
        <p14:creationId xmlns:p14="http://schemas.microsoft.com/office/powerpoint/2010/main" val="36917321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graph with numbers and a bar&#10;&#10;Description automatically generated">
            <a:extLst>
              <a:ext uri="{FF2B5EF4-FFF2-40B4-BE49-F238E27FC236}">
                <a16:creationId xmlns:a16="http://schemas.microsoft.com/office/drawing/2014/main" id="{BD32003C-C092-FC0A-E373-0F42CD599849}"/>
              </a:ext>
            </a:extLst>
          </p:cNvPr>
          <p:cNvPicPr>
            <a:picLocks noGrp="1" noChangeAspect="1"/>
          </p:cNvPicPr>
          <p:nvPr>
            <p:ph idx="1"/>
          </p:nvPr>
        </p:nvPicPr>
        <p:blipFill>
          <a:blip r:embed="rId2"/>
          <a:stretch>
            <a:fillRect/>
          </a:stretch>
        </p:blipFill>
        <p:spPr>
          <a:xfrm>
            <a:off x="2381955" y="643466"/>
            <a:ext cx="7428089" cy="5571067"/>
          </a:xfrm>
          <a:prstGeom prst="rect">
            <a:avLst/>
          </a:prstGeom>
        </p:spPr>
      </p:pic>
    </p:spTree>
    <p:extLst>
      <p:ext uri="{BB962C8B-B14F-4D97-AF65-F5344CB8AC3E}">
        <p14:creationId xmlns:p14="http://schemas.microsoft.com/office/powerpoint/2010/main" val="34154247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graph with numbers and a bar&#10;&#10;Description automatically generated">
            <a:extLst>
              <a:ext uri="{FF2B5EF4-FFF2-40B4-BE49-F238E27FC236}">
                <a16:creationId xmlns:a16="http://schemas.microsoft.com/office/drawing/2014/main" id="{F211BB87-C831-CA54-9E76-BF23F2590FFF}"/>
              </a:ext>
            </a:extLst>
          </p:cNvPr>
          <p:cNvPicPr>
            <a:picLocks noGrp="1" noChangeAspect="1"/>
          </p:cNvPicPr>
          <p:nvPr>
            <p:ph idx="1"/>
          </p:nvPr>
        </p:nvPicPr>
        <p:blipFill>
          <a:blip r:embed="rId2"/>
          <a:srcRect t="20008" b="5006"/>
          <a:stretch/>
        </p:blipFill>
        <p:spPr>
          <a:xfrm>
            <a:off x="20" y="1282"/>
            <a:ext cx="12191980" cy="6856718"/>
          </a:xfrm>
          <a:prstGeom prst="rect">
            <a:avLst/>
          </a:prstGeom>
        </p:spPr>
      </p:pic>
    </p:spTree>
    <p:extLst>
      <p:ext uri="{BB962C8B-B14F-4D97-AF65-F5344CB8AC3E}">
        <p14:creationId xmlns:p14="http://schemas.microsoft.com/office/powerpoint/2010/main" val="33739202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2560CA-CE39-5D89-3F1E-3EDD1153F44A}"/>
              </a:ext>
            </a:extLst>
          </p:cNvPr>
          <p:cNvSpPr>
            <a:spLocks noGrp="1"/>
          </p:cNvSpPr>
          <p:nvPr>
            <p:ph type="title"/>
          </p:nvPr>
        </p:nvSpPr>
        <p:spPr/>
        <p:txBody>
          <a:bodyPr/>
          <a:lstStyle/>
          <a:p>
            <a:endParaRPr lang="en-US"/>
          </a:p>
        </p:txBody>
      </p:sp>
      <p:graphicFrame>
        <p:nvGraphicFramePr>
          <p:cNvPr id="4" name="Table 3">
            <a:extLst>
              <a:ext uri="{FF2B5EF4-FFF2-40B4-BE49-F238E27FC236}">
                <a16:creationId xmlns:a16="http://schemas.microsoft.com/office/drawing/2014/main" id="{819385A6-F40E-8D81-C9CF-92D54D10E9FA}"/>
              </a:ext>
            </a:extLst>
          </p:cNvPr>
          <p:cNvGraphicFramePr>
            <a:graphicFrameLocks noGrp="1"/>
          </p:cNvGraphicFramePr>
          <p:nvPr>
            <p:extLst>
              <p:ext uri="{D42A27DB-BD31-4B8C-83A1-F6EECF244321}">
                <p14:modId xmlns:p14="http://schemas.microsoft.com/office/powerpoint/2010/main" val="539449993"/>
              </p:ext>
            </p:extLst>
          </p:nvPr>
        </p:nvGraphicFramePr>
        <p:xfrm>
          <a:off x="1491344" y="2189237"/>
          <a:ext cx="8839200" cy="2072640"/>
        </p:xfrm>
        <a:graphic>
          <a:graphicData uri="http://schemas.openxmlformats.org/drawingml/2006/table">
            <a:tbl>
              <a:tblPr firstRow="1" bandRow="1">
                <a:tableStyleId>{5C22544A-7EE6-4342-B048-85BDC9FD1C3A}</a:tableStyleId>
              </a:tblPr>
              <a:tblGrid>
                <a:gridCol w="2645227">
                  <a:extLst>
                    <a:ext uri="{9D8B030D-6E8A-4147-A177-3AD203B41FA5}">
                      <a16:colId xmlns:a16="http://schemas.microsoft.com/office/drawing/2014/main" val="2561183350"/>
                    </a:ext>
                  </a:extLst>
                </a:gridCol>
                <a:gridCol w="3644812">
                  <a:extLst>
                    <a:ext uri="{9D8B030D-6E8A-4147-A177-3AD203B41FA5}">
                      <a16:colId xmlns:a16="http://schemas.microsoft.com/office/drawing/2014/main" val="3395798206"/>
                    </a:ext>
                  </a:extLst>
                </a:gridCol>
                <a:gridCol w="2549161">
                  <a:extLst>
                    <a:ext uri="{9D8B030D-6E8A-4147-A177-3AD203B41FA5}">
                      <a16:colId xmlns:a16="http://schemas.microsoft.com/office/drawing/2014/main" val="2100221258"/>
                    </a:ext>
                  </a:extLst>
                </a:gridCol>
              </a:tblGrid>
              <a:tr h="370840">
                <a:tc>
                  <a:txBody>
                    <a:bodyPr/>
                    <a:lstStyle/>
                    <a:p>
                      <a:r>
                        <a:rPr lang="en-US" sz="2800" dirty="0"/>
                        <a:t>Variables</a:t>
                      </a:r>
                    </a:p>
                  </a:txBody>
                  <a:tcPr/>
                </a:tc>
                <a:tc>
                  <a:txBody>
                    <a:bodyPr/>
                    <a:lstStyle/>
                    <a:p>
                      <a:r>
                        <a:rPr lang="en-US" sz="2800" dirty="0"/>
                        <a:t>Normal distribution</a:t>
                      </a:r>
                    </a:p>
                  </a:txBody>
                  <a:tcPr/>
                </a:tc>
                <a:tc>
                  <a:txBody>
                    <a:bodyPr/>
                    <a:lstStyle/>
                    <a:p>
                      <a:endParaRPr lang="en-US" sz="2800" dirty="0"/>
                    </a:p>
                  </a:txBody>
                  <a:tcPr/>
                </a:tc>
                <a:extLst>
                  <a:ext uri="{0D108BD9-81ED-4DB2-BD59-A6C34878D82A}">
                    <a16:rowId xmlns:a16="http://schemas.microsoft.com/office/drawing/2014/main" val="3070198732"/>
                  </a:ext>
                </a:extLst>
              </a:tr>
              <a:tr h="370840">
                <a:tc>
                  <a:txBody>
                    <a:bodyPr/>
                    <a:lstStyle/>
                    <a:p>
                      <a:r>
                        <a:rPr lang="en-US" sz="2800" dirty="0"/>
                        <a:t>Age</a:t>
                      </a:r>
                    </a:p>
                  </a:txBody>
                  <a:tcPr/>
                </a:tc>
                <a:tc>
                  <a:txBody>
                    <a:bodyPr/>
                    <a:lstStyle/>
                    <a:p>
                      <a:r>
                        <a:rPr lang="en-US" sz="2800" dirty="0"/>
                        <a:t>Yes</a:t>
                      </a:r>
                    </a:p>
                  </a:txBody>
                  <a:tcPr/>
                </a:tc>
                <a:tc>
                  <a:txBody>
                    <a:bodyPr/>
                    <a:lstStyle/>
                    <a:p>
                      <a:r>
                        <a:rPr lang="en-US" sz="2800" dirty="0"/>
                        <a:t>Mean(</a:t>
                      </a:r>
                      <a:r>
                        <a:rPr lang="en-US" sz="2800" dirty="0" err="1"/>
                        <a:t>sd</a:t>
                      </a:r>
                      <a:r>
                        <a:rPr lang="en-US" sz="2800" dirty="0"/>
                        <a:t>)</a:t>
                      </a:r>
                    </a:p>
                  </a:txBody>
                  <a:tcPr/>
                </a:tc>
                <a:extLst>
                  <a:ext uri="{0D108BD9-81ED-4DB2-BD59-A6C34878D82A}">
                    <a16:rowId xmlns:a16="http://schemas.microsoft.com/office/drawing/2014/main" val="862886394"/>
                  </a:ext>
                </a:extLst>
              </a:tr>
              <a:tr h="370840">
                <a:tc>
                  <a:txBody>
                    <a:bodyPr/>
                    <a:lstStyle/>
                    <a:p>
                      <a:r>
                        <a:rPr lang="en-US" sz="2800" dirty="0"/>
                        <a:t>BMI</a:t>
                      </a:r>
                    </a:p>
                  </a:txBody>
                  <a:tcPr/>
                </a:tc>
                <a:tc>
                  <a:txBody>
                    <a:bodyPr/>
                    <a:lstStyle/>
                    <a:p>
                      <a:r>
                        <a:rPr lang="en-US" sz="2800" dirty="0"/>
                        <a:t>Yes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dirty="0"/>
                        <a:t>Mean(</a:t>
                      </a:r>
                      <a:r>
                        <a:rPr lang="en-US" sz="2800" dirty="0" err="1"/>
                        <a:t>sd</a:t>
                      </a:r>
                      <a:r>
                        <a:rPr lang="en-US" sz="2800" dirty="0"/>
                        <a:t>)</a:t>
                      </a:r>
                    </a:p>
                  </a:txBody>
                  <a:tcPr/>
                </a:tc>
                <a:extLst>
                  <a:ext uri="{0D108BD9-81ED-4DB2-BD59-A6C34878D82A}">
                    <a16:rowId xmlns:a16="http://schemas.microsoft.com/office/drawing/2014/main" val="3976399867"/>
                  </a:ext>
                </a:extLst>
              </a:tr>
              <a:tr h="370840">
                <a:tc>
                  <a:txBody>
                    <a:bodyPr/>
                    <a:lstStyle/>
                    <a:p>
                      <a:r>
                        <a:rPr lang="en-US" sz="2800" dirty="0"/>
                        <a:t>Length of stay</a:t>
                      </a:r>
                    </a:p>
                  </a:txBody>
                  <a:tcPr/>
                </a:tc>
                <a:tc>
                  <a:txBody>
                    <a:bodyPr/>
                    <a:lstStyle/>
                    <a:p>
                      <a:r>
                        <a:rPr lang="en-US" sz="2800" dirty="0"/>
                        <a:t>Yes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dirty="0"/>
                        <a:t>Mean(</a:t>
                      </a:r>
                      <a:r>
                        <a:rPr lang="en-US" sz="2800" dirty="0" err="1"/>
                        <a:t>sd</a:t>
                      </a:r>
                      <a:r>
                        <a:rPr lang="en-US" sz="2800" dirty="0"/>
                        <a:t>)</a:t>
                      </a:r>
                    </a:p>
                  </a:txBody>
                  <a:tcPr/>
                </a:tc>
                <a:extLst>
                  <a:ext uri="{0D108BD9-81ED-4DB2-BD59-A6C34878D82A}">
                    <a16:rowId xmlns:a16="http://schemas.microsoft.com/office/drawing/2014/main" val="436294369"/>
                  </a:ext>
                </a:extLst>
              </a:tr>
            </a:tbl>
          </a:graphicData>
        </a:graphic>
      </p:graphicFrame>
    </p:spTree>
    <p:extLst>
      <p:ext uri="{BB962C8B-B14F-4D97-AF65-F5344CB8AC3E}">
        <p14:creationId xmlns:p14="http://schemas.microsoft.com/office/powerpoint/2010/main" val="23427033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C76843-1E97-BDA4-5448-AE28F83A79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4E73FC-252D-5287-0C60-C2F9397545FB}"/>
              </a:ext>
            </a:extLst>
          </p:cNvPr>
          <p:cNvSpPr>
            <a:spLocks noGrp="1"/>
          </p:cNvSpPr>
          <p:nvPr>
            <p:ph type="title"/>
          </p:nvPr>
        </p:nvSpPr>
        <p:spPr/>
        <p:txBody>
          <a:bodyPr/>
          <a:lstStyle/>
          <a:p>
            <a:endParaRPr lang="en-US"/>
          </a:p>
        </p:txBody>
      </p:sp>
      <p:graphicFrame>
        <p:nvGraphicFramePr>
          <p:cNvPr id="4" name="Table 3">
            <a:extLst>
              <a:ext uri="{FF2B5EF4-FFF2-40B4-BE49-F238E27FC236}">
                <a16:creationId xmlns:a16="http://schemas.microsoft.com/office/drawing/2014/main" id="{5B0B93CF-BA3D-F267-981E-1F14EC6E4616}"/>
              </a:ext>
            </a:extLst>
          </p:cNvPr>
          <p:cNvGraphicFramePr>
            <a:graphicFrameLocks noGrp="1"/>
          </p:cNvGraphicFramePr>
          <p:nvPr>
            <p:extLst>
              <p:ext uri="{D42A27DB-BD31-4B8C-83A1-F6EECF244321}">
                <p14:modId xmlns:p14="http://schemas.microsoft.com/office/powerpoint/2010/main" val="475953105"/>
              </p:ext>
            </p:extLst>
          </p:nvPr>
        </p:nvGraphicFramePr>
        <p:xfrm>
          <a:off x="1491344" y="2189237"/>
          <a:ext cx="8839200" cy="2072640"/>
        </p:xfrm>
        <a:graphic>
          <a:graphicData uri="http://schemas.openxmlformats.org/drawingml/2006/table">
            <a:tbl>
              <a:tblPr firstRow="1" bandRow="1">
                <a:tableStyleId>{5C22544A-7EE6-4342-B048-85BDC9FD1C3A}</a:tableStyleId>
              </a:tblPr>
              <a:tblGrid>
                <a:gridCol w="2645227">
                  <a:extLst>
                    <a:ext uri="{9D8B030D-6E8A-4147-A177-3AD203B41FA5}">
                      <a16:colId xmlns:a16="http://schemas.microsoft.com/office/drawing/2014/main" val="2561183350"/>
                    </a:ext>
                  </a:extLst>
                </a:gridCol>
                <a:gridCol w="3644812">
                  <a:extLst>
                    <a:ext uri="{9D8B030D-6E8A-4147-A177-3AD203B41FA5}">
                      <a16:colId xmlns:a16="http://schemas.microsoft.com/office/drawing/2014/main" val="3395798206"/>
                    </a:ext>
                  </a:extLst>
                </a:gridCol>
                <a:gridCol w="2549161">
                  <a:extLst>
                    <a:ext uri="{9D8B030D-6E8A-4147-A177-3AD203B41FA5}">
                      <a16:colId xmlns:a16="http://schemas.microsoft.com/office/drawing/2014/main" val="2100221258"/>
                    </a:ext>
                  </a:extLst>
                </a:gridCol>
              </a:tblGrid>
              <a:tr h="370840">
                <a:tc>
                  <a:txBody>
                    <a:bodyPr/>
                    <a:lstStyle/>
                    <a:p>
                      <a:r>
                        <a:rPr lang="en-US" sz="2800" dirty="0"/>
                        <a:t>Variables</a:t>
                      </a:r>
                    </a:p>
                  </a:txBody>
                  <a:tcPr/>
                </a:tc>
                <a:tc>
                  <a:txBody>
                    <a:bodyPr/>
                    <a:lstStyle/>
                    <a:p>
                      <a:r>
                        <a:rPr lang="en-US" sz="2800" dirty="0"/>
                        <a:t>Normal distribution</a:t>
                      </a:r>
                    </a:p>
                  </a:txBody>
                  <a:tcPr/>
                </a:tc>
                <a:tc>
                  <a:txBody>
                    <a:bodyPr/>
                    <a:lstStyle/>
                    <a:p>
                      <a:endParaRPr lang="en-US" sz="2800" dirty="0"/>
                    </a:p>
                  </a:txBody>
                  <a:tcPr/>
                </a:tc>
                <a:extLst>
                  <a:ext uri="{0D108BD9-81ED-4DB2-BD59-A6C34878D82A}">
                    <a16:rowId xmlns:a16="http://schemas.microsoft.com/office/drawing/2014/main" val="3070198732"/>
                  </a:ext>
                </a:extLst>
              </a:tr>
              <a:tr h="370840">
                <a:tc>
                  <a:txBody>
                    <a:bodyPr/>
                    <a:lstStyle/>
                    <a:p>
                      <a:r>
                        <a:rPr lang="en-US" sz="2800" dirty="0"/>
                        <a:t>Age</a:t>
                      </a:r>
                    </a:p>
                  </a:txBody>
                  <a:tcPr/>
                </a:tc>
                <a:tc>
                  <a:txBody>
                    <a:bodyPr/>
                    <a:lstStyle/>
                    <a:p>
                      <a:r>
                        <a:rPr lang="en-US" sz="2800" dirty="0"/>
                        <a:t>Yes</a:t>
                      </a:r>
                    </a:p>
                  </a:txBody>
                  <a:tcPr/>
                </a:tc>
                <a:tc>
                  <a:txBody>
                    <a:bodyPr/>
                    <a:lstStyle/>
                    <a:p>
                      <a:r>
                        <a:rPr lang="en-US" sz="2800" dirty="0"/>
                        <a:t>Mean(</a:t>
                      </a:r>
                      <a:r>
                        <a:rPr lang="en-US" sz="2800" dirty="0" err="1"/>
                        <a:t>sd</a:t>
                      </a:r>
                      <a:r>
                        <a:rPr lang="en-US" sz="2800" dirty="0"/>
                        <a:t>)</a:t>
                      </a:r>
                    </a:p>
                  </a:txBody>
                  <a:tcPr/>
                </a:tc>
                <a:extLst>
                  <a:ext uri="{0D108BD9-81ED-4DB2-BD59-A6C34878D82A}">
                    <a16:rowId xmlns:a16="http://schemas.microsoft.com/office/drawing/2014/main" val="862886394"/>
                  </a:ext>
                </a:extLst>
              </a:tr>
              <a:tr h="370840">
                <a:tc>
                  <a:txBody>
                    <a:bodyPr/>
                    <a:lstStyle/>
                    <a:p>
                      <a:r>
                        <a:rPr lang="en-US" sz="2800" dirty="0"/>
                        <a:t>BMI</a:t>
                      </a:r>
                    </a:p>
                  </a:txBody>
                  <a:tcPr/>
                </a:tc>
                <a:tc>
                  <a:txBody>
                    <a:bodyPr/>
                    <a:lstStyle/>
                    <a:p>
                      <a:r>
                        <a:rPr lang="en-US" sz="2800" dirty="0"/>
                        <a:t>Yes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dirty="0"/>
                        <a:t>Mean(</a:t>
                      </a:r>
                      <a:r>
                        <a:rPr lang="en-US" sz="2800" dirty="0" err="1"/>
                        <a:t>sd</a:t>
                      </a:r>
                      <a:r>
                        <a:rPr lang="en-US" sz="2800" dirty="0"/>
                        <a:t>)</a:t>
                      </a:r>
                    </a:p>
                  </a:txBody>
                  <a:tcPr/>
                </a:tc>
                <a:extLst>
                  <a:ext uri="{0D108BD9-81ED-4DB2-BD59-A6C34878D82A}">
                    <a16:rowId xmlns:a16="http://schemas.microsoft.com/office/drawing/2014/main" val="3976399867"/>
                  </a:ext>
                </a:extLst>
              </a:tr>
              <a:tr h="370840">
                <a:tc>
                  <a:txBody>
                    <a:bodyPr/>
                    <a:lstStyle/>
                    <a:p>
                      <a:r>
                        <a:rPr lang="en-US" sz="2800" dirty="0"/>
                        <a:t>Length of stay</a:t>
                      </a:r>
                    </a:p>
                  </a:txBody>
                  <a:tcPr/>
                </a:tc>
                <a:tc>
                  <a:txBody>
                    <a:bodyPr/>
                    <a:lstStyle/>
                    <a:p>
                      <a:r>
                        <a:rPr lang="en-US" sz="2800" dirty="0"/>
                        <a:t>No</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dirty="0"/>
                        <a:t>Median(IQR)</a:t>
                      </a:r>
                    </a:p>
                  </a:txBody>
                  <a:tcPr/>
                </a:tc>
                <a:extLst>
                  <a:ext uri="{0D108BD9-81ED-4DB2-BD59-A6C34878D82A}">
                    <a16:rowId xmlns:a16="http://schemas.microsoft.com/office/drawing/2014/main" val="436294369"/>
                  </a:ext>
                </a:extLst>
              </a:tr>
            </a:tbl>
          </a:graphicData>
        </a:graphic>
      </p:graphicFrame>
    </p:spTree>
    <p:extLst>
      <p:ext uri="{BB962C8B-B14F-4D97-AF65-F5344CB8AC3E}">
        <p14:creationId xmlns:p14="http://schemas.microsoft.com/office/powerpoint/2010/main" val="26803783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ABFBB2-4141-B650-8464-EB9006B3AF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1DB013-9CA3-2C15-AA7A-AF3B13A253D4}"/>
              </a:ext>
            </a:extLst>
          </p:cNvPr>
          <p:cNvSpPr>
            <a:spLocks noGrp="1"/>
          </p:cNvSpPr>
          <p:nvPr>
            <p:ph type="title"/>
          </p:nvPr>
        </p:nvSpPr>
        <p:spPr/>
        <p:txBody>
          <a:bodyPr/>
          <a:lstStyle/>
          <a:p>
            <a:endParaRPr lang="en-US"/>
          </a:p>
        </p:txBody>
      </p:sp>
      <p:graphicFrame>
        <p:nvGraphicFramePr>
          <p:cNvPr id="4" name="Table 3">
            <a:extLst>
              <a:ext uri="{FF2B5EF4-FFF2-40B4-BE49-F238E27FC236}">
                <a16:creationId xmlns:a16="http://schemas.microsoft.com/office/drawing/2014/main" id="{1656EA95-7693-81D4-9BC1-C0445FD1D8DD}"/>
              </a:ext>
            </a:extLst>
          </p:cNvPr>
          <p:cNvGraphicFramePr>
            <a:graphicFrameLocks noGrp="1"/>
          </p:cNvGraphicFramePr>
          <p:nvPr>
            <p:extLst>
              <p:ext uri="{D42A27DB-BD31-4B8C-83A1-F6EECF244321}">
                <p14:modId xmlns:p14="http://schemas.microsoft.com/office/powerpoint/2010/main" val="2864137367"/>
              </p:ext>
            </p:extLst>
          </p:nvPr>
        </p:nvGraphicFramePr>
        <p:xfrm>
          <a:off x="1491344" y="2189237"/>
          <a:ext cx="8839200" cy="2072640"/>
        </p:xfrm>
        <a:graphic>
          <a:graphicData uri="http://schemas.openxmlformats.org/drawingml/2006/table">
            <a:tbl>
              <a:tblPr firstRow="1" bandRow="1">
                <a:tableStyleId>{5C22544A-7EE6-4342-B048-85BDC9FD1C3A}</a:tableStyleId>
              </a:tblPr>
              <a:tblGrid>
                <a:gridCol w="2645227">
                  <a:extLst>
                    <a:ext uri="{9D8B030D-6E8A-4147-A177-3AD203B41FA5}">
                      <a16:colId xmlns:a16="http://schemas.microsoft.com/office/drawing/2014/main" val="2561183350"/>
                    </a:ext>
                  </a:extLst>
                </a:gridCol>
                <a:gridCol w="3644812">
                  <a:extLst>
                    <a:ext uri="{9D8B030D-6E8A-4147-A177-3AD203B41FA5}">
                      <a16:colId xmlns:a16="http://schemas.microsoft.com/office/drawing/2014/main" val="3395798206"/>
                    </a:ext>
                  </a:extLst>
                </a:gridCol>
                <a:gridCol w="2549161">
                  <a:extLst>
                    <a:ext uri="{9D8B030D-6E8A-4147-A177-3AD203B41FA5}">
                      <a16:colId xmlns:a16="http://schemas.microsoft.com/office/drawing/2014/main" val="2100221258"/>
                    </a:ext>
                  </a:extLst>
                </a:gridCol>
              </a:tblGrid>
              <a:tr h="370840">
                <a:tc>
                  <a:txBody>
                    <a:bodyPr/>
                    <a:lstStyle/>
                    <a:p>
                      <a:r>
                        <a:rPr lang="en-US" sz="2800" dirty="0"/>
                        <a:t>Variables</a:t>
                      </a:r>
                    </a:p>
                  </a:txBody>
                  <a:tcPr/>
                </a:tc>
                <a:tc>
                  <a:txBody>
                    <a:bodyPr/>
                    <a:lstStyle/>
                    <a:p>
                      <a:r>
                        <a:rPr lang="en-US" sz="2800" dirty="0"/>
                        <a:t>Normal distribution</a:t>
                      </a:r>
                    </a:p>
                  </a:txBody>
                  <a:tcPr/>
                </a:tc>
                <a:tc>
                  <a:txBody>
                    <a:bodyPr/>
                    <a:lstStyle/>
                    <a:p>
                      <a:endParaRPr lang="en-US" sz="2800" dirty="0"/>
                    </a:p>
                  </a:txBody>
                  <a:tcPr/>
                </a:tc>
                <a:extLst>
                  <a:ext uri="{0D108BD9-81ED-4DB2-BD59-A6C34878D82A}">
                    <a16:rowId xmlns:a16="http://schemas.microsoft.com/office/drawing/2014/main" val="3070198732"/>
                  </a:ext>
                </a:extLst>
              </a:tr>
              <a:tr h="370840">
                <a:tc>
                  <a:txBody>
                    <a:bodyPr/>
                    <a:lstStyle/>
                    <a:p>
                      <a:r>
                        <a:rPr lang="en-US" sz="2800" dirty="0"/>
                        <a:t>Age</a:t>
                      </a:r>
                    </a:p>
                  </a:txBody>
                  <a:tcPr/>
                </a:tc>
                <a:tc>
                  <a:txBody>
                    <a:bodyPr/>
                    <a:lstStyle/>
                    <a:p>
                      <a:r>
                        <a:rPr lang="en-US" sz="2800" dirty="0"/>
                        <a:t>Yes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dirty="0"/>
                        <a:t>Median(IQR)</a:t>
                      </a:r>
                    </a:p>
                  </a:txBody>
                  <a:tcPr/>
                </a:tc>
                <a:extLst>
                  <a:ext uri="{0D108BD9-81ED-4DB2-BD59-A6C34878D82A}">
                    <a16:rowId xmlns:a16="http://schemas.microsoft.com/office/drawing/2014/main" val="862886394"/>
                  </a:ext>
                </a:extLst>
              </a:tr>
              <a:tr h="370840">
                <a:tc>
                  <a:txBody>
                    <a:bodyPr/>
                    <a:lstStyle/>
                    <a:p>
                      <a:r>
                        <a:rPr lang="en-US" sz="2800" dirty="0"/>
                        <a:t>BMI</a:t>
                      </a:r>
                    </a:p>
                  </a:txBody>
                  <a:tcPr/>
                </a:tc>
                <a:tc>
                  <a:txBody>
                    <a:bodyPr/>
                    <a:lstStyle/>
                    <a:p>
                      <a:r>
                        <a:rPr lang="en-US" sz="2800" dirty="0"/>
                        <a:t>Yes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dirty="0"/>
                        <a:t>Median(IQR)</a:t>
                      </a:r>
                    </a:p>
                  </a:txBody>
                  <a:tcPr/>
                </a:tc>
                <a:extLst>
                  <a:ext uri="{0D108BD9-81ED-4DB2-BD59-A6C34878D82A}">
                    <a16:rowId xmlns:a16="http://schemas.microsoft.com/office/drawing/2014/main" val="3976399867"/>
                  </a:ext>
                </a:extLst>
              </a:tr>
              <a:tr h="370840">
                <a:tc>
                  <a:txBody>
                    <a:bodyPr/>
                    <a:lstStyle/>
                    <a:p>
                      <a:r>
                        <a:rPr lang="en-US" sz="2800" dirty="0"/>
                        <a:t>Length of stay</a:t>
                      </a:r>
                    </a:p>
                  </a:txBody>
                  <a:tcPr/>
                </a:tc>
                <a:tc>
                  <a:txBody>
                    <a:bodyPr/>
                    <a:lstStyle/>
                    <a:p>
                      <a:r>
                        <a:rPr lang="en-US" sz="2800" dirty="0"/>
                        <a:t>No</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dirty="0"/>
                        <a:t>Median(IQR)</a:t>
                      </a:r>
                    </a:p>
                  </a:txBody>
                  <a:tcPr/>
                </a:tc>
                <a:extLst>
                  <a:ext uri="{0D108BD9-81ED-4DB2-BD59-A6C34878D82A}">
                    <a16:rowId xmlns:a16="http://schemas.microsoft.com/office/drawing/2014/main" val="436294369"/>
                  </a:ext>
                </a:extLst>
              </a:tr>
            </a:tbl>
          </a:graphicData>
        </a:graphic>
      </p:graphicFrame>
    </p:spTree>
    <p:extLst>
      <p:ext uri="{BB962C8B-B14F-4D97-AF65-F5344CB8AC3E}">
        <p14:creationId xmlns:p14="http://schemas.microsoft.com/office/powerpoint/2010/main" val="35379462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15371F-4D26-3CA7-2BE1-F436EA591851}"/>
            </a:ext>
          </a:extLst>
        </p:cNvPr>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7B470D3F-C723-D413-B3FF-B17CD57AC044}"/>
              </a:ext>
            </a:extLst>
          </p:cNvPr>
          <p:cNvGraphicFramePr>
            <a:graphicFrameLocks noGrp="1"/>
          </p:cNvGraphicFramePr>
          <p:nvPr>
            <p:ph idx="1"/>
            <p:extLst>
              <p:ext uri="{D42A27DB-BD31-4B8C-83A1-F6EECF244321}">
                <p14:modId xmlns:p14="http://schemas.microsoft.com/office/powerpoint/2010/main" val="768328668"/>
              </p:ext>
            </p:extLst>
          </p:nvPr>
        </p:nvGraphicFramePr>
        <p:xfrm>
          <a:off x="1415143" y="1480457"/>
          <a:ext cx="10080170" cy="1645920"/>
        </p:xfrm>
        <a:graphic>
          <a:graphicData uri="http://schemas.openxmlformats.org/drawingml/2006/table">
            <a:tbl>
              <a:tblPr firstRow="1" bandRow="1">
                <a:tableStyleId>{5C22544A-7EE6-4342-B048-85BDC9FD1C3A}</a:tableStyleId>
              </a:tblPr>
              <a:tblGrid>
                <a:gridCol w="4914898">
                  <a:extLst>
                    <a:ext uri="{9D8B030D-6E8A-4147-A177-3AD203B41FA5}">
                      <a16:colId xmlns:a16="http://schemas.microsoft.com/office/drawing/2014/main" val="985535134"/>
                    </a:ext>
                  </a:extLst>
                </a:gridCol>
                <a:gridCol w="5165272">
                  <a:extLst>
                    <a:ext uri="{9D8B030D-6E8A-4147-A177-3AD203B41FA5}">
                      <a16:colId xmlns:a16="http://schemas.microsoft.com/office/drawing/2014/main" val="3519897098"/>
                    </a:ext>
                  </a:extLst>
                </a:gridCol>
              </a:tblGrid>
              <a:tr h="370840">
                <a:tc>
                  <a:txBody>
                    <a:bodyPr/>
                    <a:lstStyle/>
                    <a:p>
                      <a:r>
                        <a:rPr lang="en-US" sz="3200" dirty="0"/>
                        <a:t>Variables</a:t>
                      </a:r>
                    </a:p>
                  </a:txBody>
                  <a:tcPr/>
                </a:tc>
                <a:tc>
                  <a:txBody>
                    <a:bodyPr/>
                    <a:lstStyle/>
                    <a:p>
                      <a:r>
                        <a:rPr lang="en-US" sz="3200" dirty="0"/>
                        <a:t>Preterm preeclampsia</a:t>
                      </a:r>
                    </a:p>
                    <a:p>
                      <a:r>
                        <a:rPr lang="en-US" sz="3200" dirty="0"/>
                        <a:t>n=56,446</a:t>
                      </a:r>
                    </a:p>
                  </a:txBody>
                  <a:tcPr/>
                </a:tc>
                <a:extLst>
                  <a:ext uri="{0D108BD9-81ED-4DB2-BD59-A6C34878D82A}">
                    <a16:rowId xmlns:a16="http://schemas.microsoft.com/office/drawing/2014/main" val="1261827436"/>
                  </a:ext>
                </a:extLst>
              </a:tr>
              <a:tr h="370840">
                <a:tc>
                  <a:txBody>
                    <a:bodyPr/>
                    <a:lstStyle/>
                    <a:p>
                      <a:r>
                        <a:rPr lang="en-US" sz="3200" dirty="0"/>
                        <a:t>BMI</a:t>
                      </a:r>
                    </a:p>
                  </a:txBody>
                  <a:tcPr/>
                </a:tc>
                <a:tc>
                  <a:txBody>
                    <a:bodyPr/>
                    <a:lstStyle/>
                    <a:p>
                      <a:r>
                        <a:rPr lang="en-US" sz="3200" dirty="0"/>
                        <a:t>32.2 (23.8, 38.6)</a:t>
                      </a:r>
                    </a:p>
                  </a:txBody>
                  <a:tcPr/>
                </a:tc>
                <a:extLst>
                  <a:ext uri="{0D108BD9-81ED-4DB2-BD59-A6C34878D82A}">
                    <a16:rowId xmlns:a16="http://schemas.microsoft.com/office/drawing/2014/main" val="3373794671"/>
                  </a:ext>
                </a:extLst>
              </a:tr>
            </a:tbl>
          </a:graphicData>
        </a:graphic>
      </p:graphicFrame>
    </p:spTree>
    <p:extLst>
      <p:ext uri="{BB962C8B-B14F-4D97-AF65-F5344CB8AC3E}">
        <p14:creationId xmlns:p14="http://schemas.microsoft.com/office/powerpoint/2010/main" val="16254639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3D58C1-A76F-0161-A2DB-CF17CC18C591}"/>
            </a:ext>
          </a:extLst>
        </p:cNvPr>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3A318286-E26D-D0A3-436B-FBDDDBAB2275}"/>
              </a:ext>
            </a:extLst>
          </p:cNvPr>
          <p:cNvGraphicFramePr>
            <a:graphicFrameLocks noGrp="1"/>
          </p:cNvGraphicFramePr>
          <p:nvPr>
            <p:ph idx="1"/>
            <p:extLst>
              <p:ext uri="{D42A27DB-BD31-4B8C-83A1-F6EECF244321}">
                <p14:modId xmlns:p14="http://schemas.microsoft.com/office/powerpoint/2010/main" val="3980871249"/>
              </p:ext>
            </p:extLst>
          </p:nvPr>
        </p:nvGraphicFramePr>
        <p:xfrm>
          <a:off x="1415143" y="1480457"/>
          <a:ext cx="10080170" cy="3962400"/>
        </p:xfrm>
        <a:graphic>
          <a:graphicData uri="http://schemas.openxmlformats.org/drawingml/2006/table">
            <a:tbl>
              <a:tblPr firstRow="1" bandRow="1">
                <a:tableStyleId>{5C22544A-7EE6-4342-B048-85BDC9FD1C3A}</a:tableStyleId>
              </a:tblPr>
              <a:tblGrid>
                <a:gridCol w="4914898">
                  <a:extLst>
                    <a:ext uri="{9D8B030D-6E8A-4147-A177-3AD203B41FA5}">
                      <a16:colId xmlns:a16="http://schemas.microsoft.com/office/drawing/2014/main" val="985535134"/>
                    </a:ext>
                  </a:extLst>
                </a:gridCol>
                <a:gridCol w="5165272">
                  <a:extLst>
                    <a:ext uri="{9D8B030D-6E8A-4147-A177-3AD203B41FA5}">
                      <a16:colId xmlns:a16="http://schemas.microsoft.com/office/drawing/2014/main" val="3519897098"/>
                    </a:ext>
                  </a:extLst>
                </a:gridCol>
              </a:tblGrid>
              <a:tr h="370840">
                <a:tc>
                  <a:txBody>
                    <a:bodyPr/>
                    <a:lstStyle/>
                    <a:p>
                      <a:r>
                        <a:rPr lang="en-US" sz="3200" dirty="0"/>
                        <a:t>Variables</a:t>
                      </a:r>
                    </a:p>
                  </a:txBody>
                  <a:tcPr/>
                </a:tc>
                <a:tc>
                  <a:txBody>
                    <a:bodyPr/>
                    <a:lstStyle/>
                    <a:p>
                      <a:r>
                        <a:rPr lang="en-US" sz="3200" dirty="0"/>
                        <a:t>Preterm preeclampsia</a:t>
                      </a:r>
                    </a:p>
                    <a:p>
                      <a:r>
                        <a:rPr lang="en-US" sz="3200" dirty="0"/>
                        <a:t>n=56,446</a:t>
                      </a:r>
                    </a:p>
                  </a:txBody>
                  <a:tcPr/>
                </a:tc>
                <a:extLst>
                  <a:ext uri="{0D108BD9-81ED-4DB2-BD59-A6C34878D82A}">
                    <a16:rowId xmlns:a16="http://schemas.microsoft.com/office/drawing/2014/main" val="1261827436"/>
                  </a:ext>
                </a:extLst>
              </a:tr>
              <a:tr h="370840">
                <a:tc>
                  <a:txBody>
                    <a:bodyPr/>
                    <a:lstStyle/>
                    <a:p>
                      <a:r>
                        <a:rPr lang="en-US" sz="3200" dirty="0"/>
                        <a:t>BMI</a:t>
                      </a:r>
                    </a:p>
                  </a:txBody>
                  <a:tcPr/>
                </a:tc>
                <a:tc>
                  <a:txBody>
                    <a:bodyPr/>
                    <a:lstStyle/>
                    <a:p>
                      <a:endParaRPr lang="en-US" sz="3200" dirty="0"/>
                    </a:p>
                  </a:txBody>
                  <a:tcPr/>
                </a:tc>
                <a:extLst>
                  <a:ext uri="{0D108BD9-81ED-4DB2-BD59-A6C34878D82A}">
                    <a16:rowId xmlns:a16="http://schemas.microsoft.com/office/drawing/2014/main" val="3373794671"/>
                  </a:ext>
                </a:extLst>
              </a:tr>
              <a:tr h="370840">
                <a:tc>
                  <a:txBody>
                    <a:bodyPr/>
                    <a:lstStyle/>
                    <a:p>
                      <a:r>
                        <a:rPr lang="en-US" sz="3200" dirty="0"/>
                        <a:t>   Under weight</a:t>
                      </a:r>
                    </a:p>
                  </a:txBody>
                  <a:tcPr/>
                </a:tc>
                <a:tc>
                  <a:txBody>
                    <a:bodyPr/>
                    <a:lstStyle/>
                    <a:p>
                      <a:r>
                        <a:rPr lang="en-US" sz="3200" dirty="0"/>
                        <a:t>923 (1.6%)</a:t>
                      </a:r>
                    </a:p>
                  </a:txBody>
                  <a:tcPr/>
                </a:tc>
                <a:extLst>
                  <a:ext uri="{0D108BD9-81ED-4DB2-BD59-A6C34878D82A}">
                    <a16:rowId xmlns:a16="http://schemas.microsoft.com/office/drawing/2014/main" val="4041629521"/>
                  </a:ext>
                </a:extLst>
              </a:tr>
              <a:tr h="370840">
                <a:tc>
                  <a:txBody>
                    <a:bodyPr/>
                    <a:lstStyle/>
                    <a:p>
                      <a:r>
                        <a:rPr lang="en-US" sz="3200" dirty="0"/>
                        <a:t>   Normal</a:t>
                      </a:r>
                    </a:p>
                  </a:txBody>
                  <a:tcPr/>
                </a:tc>
                <a:tc>
                  <a:txBody>
                    <a:bodyPr/>
                    <a:lstStyle/>
                    <a:p>
                      <a:r>
                        <a:rPr lang="en-US" sz="3200" dirty="0"/>
                        <a:t>33,158 (58.7%)</a:t>
                      </a:r>
                    </a:p>
                  </a:txBody>
                  <a:tcPr/>
                </a:tc>
                <a:extLst>
                  <a:ext uri="{0D108BD9-81ED-4DB2-BD59-A6C34878D82A}">
                    <a16:rowId xmlns:a16="http://schemas.microsoft.com/office/drawing/2014/main" val="2501693320"/>
                  </a:ext>
                </a:extLst>
              </a:tr>
              <a:tr h="370840">
                <a:tc>
                  <a:txBody>
                    <a:bodyPr/>
                    <a:lstStyle/>
                    <a:p>
                      <a:r>
                        <a:rPr lang="en-US" sz="3200" dirty="0"/>
                        <a:t>   Obesity</a:t>
                      </a:r>
                    </a:p>
                  </a:txBody>
                  <a:tcPr/>
                </a:tc>
                <a:tc>
                  <a:txBody>
                    <a:bodyPr/>
                    <a:lstStyle/>
                    <a:p>
                      <a:r>
                        <a:rPr lang="en-US" sz="3200" dirty="0"/>
                        <a:t>14,923 (26.4%)</a:t>
                      </a:r>
                    </a:p>
                  </a:txBody>
                  <a:tcPr/>
                </a:tc>
                <a:extLst>
                  <a:ext uri="{0D108BD9-81ED-4DB2-BD59-A6C34878D82A}">
                    <a16:rowId xmlns:a16="http://schemas.microsoft.com/office/drawing/2014/main" val="1384400671"/>
                  </a:ext>
                </a:extLst>
              </a:tr>
              <a:tr h="370840">
                <a:tc>
                  <a:txBody>
                    <a:bodyPr/>
                    <a:lstStyle/>
                    <a:p>
                      <a:r>
                        <a:rPr lang="en-US" sz="3200" dirty="0"/>
                        <a:t>   Morbid obesity</a:t>
                      </a:r>
                    </a:p>
                  </a:txBody>
                  <a:tcPr/>
                </a:tc>
                <a:tc>
                  <a:txBody>
                    <a:bodyPr/>
                    <a:lstStyle/>
                    <a:p>
                      <a:r>
                        <a:rPr lang="en-US" sz="3200" dirty="0"/>
                        <a:t>7442 (13.2%)</a:t>
                      </a:r>
                    </a:p>
                  </a:txBody>
                  <a:tcPr/>
                </a:tc>
                <a:extLst>
                  <a:ext uri="{0D108BD9-81ED-4DB2-BD59-A6C34878D82A}">
                    <a16:rowId xmlns:a16="http://schemas.microsoft.com/office/drawing/2014/main" val="145651733"/>
                  </a:ext>
                </a:extLst>
              </a:tr>
            </a:tbl>
          </a:graphicData>
        </a:graphic>
      </p:graphicFrame>
    </p:spTree>
    <p:extLst>
      <p:ext uri="{BB962C8B-B14F-4D97-AF65-F5344CB8AC3E}">
        <p14:creationId xmlns:p14="http://schemas.microsoft.com/office/powerpoint/2010/main" val="37997567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BBC845-C141-754C-C122-311CB22AC821}"/>
            </a:ext>
          </a:extLst>
        </p:cNvPr>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A9C0546F-4FA7-EBE3-ACCB-F907C385629B}"/>
              </a:ext>
            </a:extLst>
          </p:cNvPr>
          <p:cNvGraphicFramePr>
            <a:graphicFrameLocks noGrp="1"/>
          </p:cNvGraphicFramePr>
          <p:nvPr>
            <p:ph idx="1"/>
            <p:extLst>
              <p:ext uri="{D42A27DB-BD31-4B8C-83A1-F6EECF244321}">
                <p14:modId xmlns:p14="http://schemas.microsoft.com/office/powerpoint/2010/main" val="1049178312"/>
              </p:ext>
            </p:extLst>
          </p:nvPr>
        </p:nvGraphicFramePr>
        <p:xfrm>
          <a:off x="1415143" y="1480457"/>
          <a:ext cx="10080170" cy="2225040"/>
        </p:xfrm>
        <a:graphic>
          <a:graphicData uri="http://schemas.openxmlformats.org/drawingml/2006/table">
            <a:tbl>
              <a:tblPr firstRow="1" bandRow="1">
                <a:tableStyleId>{5C22544A-7EE6-4342-B048-85BDC9FD1C3A}</a:tableStyleId>
              </a:tblPr>
              <a:tblGrid>
                <a:gridCol w="4914898">
                  <a:extLst>
                    <a:ext uri="{9D8B030D-6E8A-4147-A177-3AD203B41FA5}">
                      <a16:colId xmlns:a16="http://schemas.microsoft.com/office/drawing/2014/main" val="985535134"/>
                    </a:ext>
                  </a:extLst>
                </a:gridCol>
                <a:gridCol w="5165272">
                  <a:extLst>
                    <a:ext uri="{9D8B030D-6E8A-4147-A177-3AD203B41FA5}">
                      <a16:colId xmlns:a16="http://schemas.microsoft.com/office/drawing/2014/main" val="3519897098"/>
                    </a:ext>
                  </a:extLst>
                </a:gridCol>
              </a:tblGrid>
              <a:tr h="370840">
                <a:tc>
                  <a:txBody>
                    <a:bodyPr/>
                    <a:lstStyle/>
                    <a:p>
                      <a:r>
                        <a:rPr lang="en-US" sz="3200" dirty="0"/>
                        <a:t>Variables</a:t>
                      </a:r>
                    </a:p>
                  </a:txBody>
                  <a:tcPr/>
                </a:tc>
                <a:tc>
                  <a:txBody>
                    <a:bodyPr/>
                    <a:lstStyle/>
                    <a:p>
                      <a:r>
                        <a:rPr lang="en-US" sz="3200" dirty="0"/>
                        <a:t>Preterm preeclampsia</a:t>
                      </a:r>
                    </a:p>
                    <a:p>
                      <a:r>
                        <a:rPr lang="en-US" sz="3200" dirty="0"/>
                        <a:t>n=56,446</a:t>
                      </a:r>
                    </a:p>
                  </a:txBody>
                  <a:tcPr/>
                </a:tc>
                <a:extLst>
                  <a:ext uri="{0D108BD9-81ED-4DB2-BD59-A6C34878D82A}">
                    <a16:rowId xmlns:a16="http://schemas.microsoft.com/office/drawing/2014/main" val="1261827436"/>
                  </a:ext>
                </a:extLst>
              </a:tr>
              <a:tr h="370840">
                <a:tc>
                  <a:txBody>
                    <a:bodyPr/>
                    <a:lstStyle/>
                    <a:p>
                      <a:r>
                        <a:rPr lang="en-US" sz="3200" dirty="0"/>
                        <a:t>   Obesity</a:t>
                      </a:r>
                    </a:p>
                  </a:txBody>
                  <a:tcPr/>
                </a:tc>
                <a:tc>
                  <a:txBody>
                    <a:bodyPr/>
                    <a:lstStyle/>
                    <a:p>
                      <a:r>
                        <a:rPr lang="en-US" sz="3200" dirty="0"/>
                        <a:t>14,923 (26.4%)</a:t>
                      </a:r>
                    </a:p>
                  </a:txBody>
                  <a:tcPr/>
                </a:tc>
                <a:extLst>
                  <a:ext uri="{0D108BD9-81ED-4DB2-BD59-A6C34878D82A}">
                    <a16:rowId xmlns:a16="http://schemas.microsoft.com/office/drawing/2014/main" val="4041629521"/>
                  </a:ext>
                </a:extLst>
              </a:tr>
              <a:tr h="370840">
                <a:tc>
                  <a:txBody>
                    <a:bodyPr/>
                    <a:lstStyle/>
                    <a:p>
                      <a:r>
                        <a:rPr lang="en-US" sz="3200" dirty="0"/>
                        <a:t>   Morbid obesity</a:t>
                      </a:r>
                    </a:p>
                  </a:txBody>
                  <a:tcPr/>
                </a:tc>
                <a:tc>
                  <a:txBody>
                    <a:bodyPr/>
                    <a:lstStyle/>
                    <a:p>
                      <a:r>
                        <a:rPr lang="en-US" sz="3200" dirty="0"/>
                        <a:t>7442 (13.2%)</a:t>
                      </a:r>
                    </a:p>
                  </a:txBody>
                  <a:tcPr/>
                </a:tc>
                <a:extLst>
                  <a:ext uri="{0D108BD9-81ED-4DB2-BD59-A6C34878D82A}">
                    <a16:rowId xmlns:a16="http://schemas.microsoft.com/office/drawing/2014/main" val="2501693320"/>
                  </a:ext>
                </a:extLst>
              </a:tr>
            </a:tbl>
          </a:graphicData>
        </a:graphic>
      </p:graphicFrame>
    </p:spTree>
    <p:extLst>
      <p:ext uri="{BB962C8B-B14F-4D97-AF65-F5344CB8AC3E}">
        <p14:creationId xmlns:p14="http://schemas.microsoft.com/office/powerpoint/2010/main" val="9150982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0D3072-E7A2-0C3A-EB40-514EB3D579B8}"/>
            </a:ext>
          </a:extLst>
        </p:cNvPr>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A20311EA-A7EA-A0DD-1A31-B75AEC1AEEF5}"/>
              </a:ext>
            </a:extLst>
          </p:cNvPr>
          <p:cNvGraphicFramePr>
            <a:graphicFrameLocks noGrp="1"/>
          </p:cNvGraphicFramePr>
          <p:nvPr>
            <p:ph idx="1"/>
            <p:extLst>
              <p:ext uri="{D42A27DB-BD31-4B8C-83A1-F6EECF244321}">
                <p14:modId xmlns:p14="http://schemas.microsoft.com/office/powerpoint/2010/main" val="3558543939"/>
              </p:ext>
            </p:extLst>
          </p:nvPr>
        </p:nvGraphicFramePr>
        <p:xfrm>
          <a:off x="1415143" y="1480457"/>
          <a:ext cx="10080169" cy="4450080"/>
        </p:xfrm>
        <a:graphic>
          <a:graphicData uri="http://schemas.openxmlformats.org/drawingml/2006/table">
            <a:tbl>
              <a:tblPr firstRow="1" bandRow="1">
                <a:tableStyleId>{5C22544A-7EE6-4342-B048-85BDC9FD1C3A}</a:tableStyleId>
              </a:tblPr>
              <a:tblGrid>
                <a:gridCol w="3249693">
                  <a:extLst>
                    <a:ext uri="{9D8B030D-6E8A-4147-A177-3AD203B41FA5}">
                      <a16:colId xmlns:a16="http://schemas.microsoft.com/office/drawing/2014/main" val="985535134"/>
                    </a:ext>
                  </a:extLst>
                </a:gridCol>
                <a:gridCol w="3415238">
                  <a:extLst>
                    <a:ext uri="{9D8B030D-6E8A-4147-A177-3AD203B41FA5}">
                      <a16:colId xmlns:a16="http://schemas.microsoft.com/office/drawing/2014/main" val="216443669"/>
                    </a:ext>
                  </a:extLst>
                </a:gridCol>
                <a:gridCol w="3415238">
                  <a:extLst>
                    <a:ext uri="{9D8B030D-6E8A-4147-A177-3AD203B41FA5}">
                      <a16:colId xmlns:a16="http://schemas.microsoft.com/office/drawing/2014/main" val="3519897098"/>
                    </a:ext>
                  </a:extLst>
                </a:gridCol>
              </a:tblGrid>
              <a:tr h="370840">
                <a:tc>
                  <a:txBody>
                    <a:bodyPr/>
                    <a:lstStyle/>
                    <a:p>
                      <a:r>
                        <a:rPr lang="en-US" sz="3200" dirty="0"/>
                        <a:t>Variables</a:t>
                      </a:r>
                    </a:p>
                  </a:txBody>
                  <a:tcPr/>
                </a:tc>
                <a:tc>
                  <a:txBody>
                    <a:bodyPr/>
                    <a:lstStyle/>
                    <a:p>
                      <a:r>
                        <a:rPr lang="en-US" sz="3200" dirty="0"/>
                        <a:t>No preeclampsia</a:t>
                      </a:r>
                    </a:p>
                    <a:p>
                      <a:r>
                        <a:rPr lang="en-US" sz="3200" dirty="0"/>
                        <a:t>n=2,093,579</a:t>
                      </a:r>
                    </a:p>
                    <a:p>
                      <a:endParaRPr lang="en-US" sz="3200" dirty="0"/>
                    </a:p>
                  </a:txBody>
                  <a:tcPr/>
                </a:tc>
                <a:tc>
                  <a:txBody>
                    <a:bodyPr/>
                    <a:lstStyle/>
                    <a:p>
                      <a:r>
                        <a:rPr lang="en-US" sz="3200" dirty="0"/>
                        <a:t>Preterm preeclampsia</a:t>
                      </a:r>
                    </a:p>
                    <a:p>
                      <a:r>
                        <a:rPr lang="en-US" sz="3200" dirty="0"/>
                        <a:t>n=56,446</a:t>
                      </a:r>
                    </a:p>
                  </a:txBody>
                  <a:tcPr/>
                </a:tc>
                <a:extLst>
                  <a:ext uri="{0D108BD9-81ED-4DB2-BD59-A6C34878D82A}">
                    <a16:rowId xmlns:a16="http://schemas.microsoft.com/office/drawing/2014/main" val="1261827436"/>
                  </a:ext>
                </a:extLst>
              </a:tr>
              <a:tr h="370840">
                <a:tc>
                  <a:txBody>
                    <a:bodyPr/>
                    <a:lstStyle/>
                    <a:p>
                      <a:r>
                        <a:rPr lang="en-US" sz="3200" dirty="0"/>
                        <a:t>BMI</a:t>
                      </a:r>
                    </a:p>
                  </a:txBody>
                  <a:tcPr/>
                </a:tc>
                <a:tc>
                  <a:txBody>
                    <a:bodyPr/>
                    <a:lstStyle/>
                    <a:p>
                      <a:endParaRPr lang="en-US" sz="3200" dirty="0"/>
                    </a:p>
                  </a:txBody>
                  <a:tcPr/>
                </a:tc>
                <a:tc>
                  <a:txBody>
                    <a:bodyPr/>
                    <a:lstStyle/>
                    <a:p>
                      <a:endParaRPr lang="en-US" sz="3200" dirty="0"/>
                    </a:p>
                  </a:txBody>
                  <a:tcPr/>
                </a:tc>
                <a:extLst>
                  <a:ext uri="{0D108BD9-81ED-4DB2-BD59-A6C34878D82A}">
                    <a16:rowId xmlns:a16="http://schemas.microsoft.com/office/drawing/2014/main" val="3373794671"/>
                  </a:ext>
                </a:extLst>
              </a:tr>
              <a:tr h="370840">
                <a:tc>
                  <a:txBody>
                    <a:bodyPr/>
                    <a:lstStyle/>
                    <a:p>
                      <a:r>
                        <a:rPr lang="en-US" sz="3200" dirty="0"/>
                        <a:t>   Under weight</a:t>
                      </a:r>
                    </a:p>
                  </a:txBody>
                  <a:tcPr/>
                </a:tc>
                <a:tc>
                  <a:txBody>
                    <a:bodyPr/>
                    <a:lstStyle/>
                    <a:p>
                      <a:r>
                        <a:rPr lang="en-US" sz="3200" dirty="0"/>
                        <a:t>25,123 (1.2%)</a:t>
                      </a:r>
                    </a:p>
                  </a:txBody>
                  <a:tcPr/>
                </a:tc>
                <a:tc>
                  <a:txBody>
                    <a:bodyPr/>
                    <a:lstStyle/>
                    <a:p>
                      <a:r>
                        <a:rPr lang="en-US" sz="3200" dirty="0"/>
                        <a:t>923 (1.6%)</a:t>
                      </a:r>
                    </a:p>
                  </a:txBody>
                  <a:tcPr/>
                </a:tc>
                <a:extLst>
                  <a:ext uri="{0D108BD9-81ED-4DB2-BD59-A6C34878D82A}">
                    <a16:rowId xmlns:a16="http://schemas.microsoft.com/office/drawing/2014/main" val="4041629521"/>
                  </a:ext>
                </a:extLst>
              </a:tr>
              <a:tr h="370840">
                <a:tc>
                  <a:txBody>
                    <a:bodyPr/>
                    <a:lstStyle/>
                    <a:p>
                      <a:r>
                        <a:rPr lang="en-US" sz="3200" dirty="0"/>
                        <a:t>   Normal</a:t>
                      </a:r>
                    </a:p>
                  </a:txBody>
                  <a:tcPr/>
                </a:tc>
                <a:tc>
                  <a:txBody>
                    <a:bodyPr/>
                    <a:lstStyle/>
                    <a:p>
                      <a:r>
                        <a:rPr lang="en-US" sz="3200" dirty="0"/>
                        <a:t>1,760,101 (84.1%)</a:t>
                      </a:r>
                    </a:p>
                  </a:txBody>
                  <a:tcPr/>
                </a:tc>
                <a:tc>
                  <a:txBody>
                    <a:bodyPr/>
                    <a:lstStyle/>
                    <a:p>
                      <a:r>
                        <a:rPr lang="en-US" sz="3200" dirty="0"/>
                        <a:t>33,158 (58.7%)</a:t>
                      </a:r>
                    </a:p>
                  </a:txBody>
                  <a:tcPr/>
                </a:tc>
                <a:extLst>
                  <a:ext uri="{0D108BD9-81ED-4DB2-BD59-A6C34878D82A}">
                    <a16:rowId xmlns:a16="http://schemas.microsoft.com/office/drawing/2014/main" val="2501693320"/>
                  </a:ext>
                </a:extLst>
              </a:tr>
              <a:tr h="370840">
                <a:tc>
                  <a:txBody>
                    <a:bodyPr/>
                    <a:lstStyle/>
                    <a:p>
                      <a:r>
                        <a:rPr lang="en-US" sz="3200" dirty="0"/>
                        <a:t>   Obesity</a:t>
                      </a:r>
                    </a:p>
                  </a:txBody>
                  <a:tcPr/>
                </a:tc>
                <a:tc>
                  <a:txBody>
                    <a:bodyPr/>
                    <a:lstStyle/>
                    <a:p>
                      <a:r>
                        <a:rPr lang="en-US" sz="3200" dirty="0"/>
                        <a:t>222,153 (10.6%)</a:t>
                      </a:r>
                    </a:p>
                  </a:txBody>
                  <a:tcPr/>
                </a:tc>
                <a:tc>
                  <a:txBody>
                    <a:bodyPr/>
                    <a:lstStyle/>
                    <a:p>
                      <a:r>
                        <a:rPr lang="en-US" sz="3200" dirty="0"/>
                        <a:t>14,923 (26.4%)</a:t>
                      </a:r>
                    </a:p>
                  </a:txBody>
                  <a:tcPr/>
                </a:tc>
                <a:extLst>
                  <a:ext uri="{0D108BD9-81ED-4DB2-BD59-A6C34878D82A}">
                    <a16:rowId xmlns:a16="http://schemas.microsoft.com/office/drawing/2014/main" val="1384400671"/>
                  </a:ext>
                </a:extLst>
              </a:tr>
              <a:tr h="370840">
                <a:tc>
                  <a:txBody>
                    <a:bodyPr/>
                    <a:lstStyle/>
                    <a:p>
                      <a:r>
                        <a:rPr lang="en-US" sz="3200" dirty="0"/>
                        <a:t>   Morbid obesity</a:t>
                      </a:r>
                    </a:p>
                  </a:txBody>
                  <a:tcPr/>
                </a:tc>
                <a:tc>
                  <a:txBody>
                    <a:bodyPr/>
                    <a:lstStyle/>
                    <a:p>
                      <a:r>
                        <a:rPr lang="en-US" sz="3200" dirty="0"/>
                        <a:t>86,202 (4.1%)</a:t>
                      </a:r>
                    </a:p>
                  </a:txBody>
                  <a:tcPr/>
                </a:tc>
                <a:tc>
                  <a:txBody>
                    <a:bodyPr/>
                    <a:lstStyle/>
                    <a:p>
                      <a:r>
                        <a:rPr lang="en-US" sz="3200" dirty="0"/>
                        <a:t>7442 (13.2%)</a:t>
                      </a:r>
                    </a:p>
                  </a:txBody>
                  <a:tcPr/>
                </a:tc>
                <a:extLst>
                  <a:ext uri="{0D108BD9-81ED-4DB2-BD59-A6C34878D82A}">
                    <a16:rowId xmlns:a16="http://schemas.microsoft.com/office/drawing/2014/main" val="145651733"/>
                  </a:ext>
                </a:extLst>
              </a:tr>
            </a:tbl>
          </a:graphicData>
        </a:graphic>
      </p:graphicFrame>
    </p:spTree>
    <p:extLst>
      <p:ext uri="{BB962C8B-B14F-4D97-AF65-F5344CB8AC3E}">
        <p14:creationId xmlns:p14="http://schemas.microsoft.com/office/powerpoint/2010/main" val="9940024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C23AA1-665F-484A-E3A9-A4DB16BCCE14}"/>
              </a:ext>
            </a:extLst>
          </p:cNvPr>
          <p:cNvSpPr>
            <a:spLocks noGrp="1"/>
          </p:cNvSpPr>
          <p:nvPr>
            <p:ph type="title"/>
          </p:nvPr>
        </p:nvSpPr>
        <p:spPr/>
        <p:txBody>
          <a:bodyPr/>
          <a:lstStyle/>
          <a:p>
            <a:r>
              <a:rPr lang="en-US" dirty="0"/>
              <a:t>Chi-square test</a:t>
            </a:r>
          </a:p>
        </p:txBody>
      </p:sp>
      <p:sp>
        <p:nvSpPr>
          <p:cNvPr id="3" name="Content Placeholder 2">
            <a:extLst>
              <a:ext uri="{FF2B5EF4-FFF2-40B4-BE49-F238E27FC236}">
                <a16:creationId xmlns:a16="http://schemas.microsoft.com/office/drawing/2014/main" id="{ADCF436E-07B7-5410-A069-A4D669AFF3FF}"/>
              </a:ext>
            </a:extLst>
          </p:cNvPr>
          <p:cNvSpPr>
            <a:spLocks noGrp="1"/>
          </p:cNvSpPr>
          <p:nvPr>
            <p:ph idx="1"/>
          </p:nvPr>
        </p:nvSpPr>
        <p:spPr/>
        <p:txBody>
          <a:bodyPr/>
          <a:lstStyle/>
          <a:p>
            <a:r>
              <a:rPr lang="en-US" dirty="0"/>
              <a:t>P&lt;0.05</a:t>
            </a:r>
          </a:p>
          <a:p>
            <a:r>
              <a:rPr lang="en-US" dirty="0"/>
              <a:t>Those with no history of preeclampsia were more likely to have normal weight.</a:t>
            </a:r>
          </a:p>
          <a:p>
            <a:r>
              <a:rPr lang="en-US" dirty="0"/>
              <a:t>Those with preterm preeclampsia were more likely to have obesity or morbid obesity.</a:t>
            </a:r>
          </a:p>
          <a:p>
            <a:endParaRPr lang="en-US" dirty="0"/>
          </a:p>
        </p:txBody>
      </p:sp>
    </p:spTree>
    <p:extLst>
      <p:ext uri="{BB962C8B-B14F-4D97-AF65-F5344CB8AC3E}">
        <p14:creationId xmlns:p14="http://schemas.microsoft.com/office/powerpoint/2010/main" val="42942111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32BE0-8882-BC0F-7732-6701AE74EA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CD52B9-5AC6-41CF-587F-40155CF35CEC}"/>
              </a:ext>
            </a:extLst>
          </p:cNvPr>
          <p:cNvSpPr>
            <a:spLocks noGrp="1"/>
          </p:cNvSpPr>
          <p:nvPr>
            <p:ph type="title"/>
          </p:nvPr>
        </p:nvSpPr>
        <p:spPr/>
        <p:txBody>
          <a:bodyPr/>
          <a:lstStyle/>
          <a:p>
            <a:r>
              <a:rPr lang="en-US" dirty="0"/>
              <a:t>Chi-square test</a:t>
            </a:r>
          </a:p>
        </p:txBody>
      </p:sp>
      <p:sp>
        <p:nvSpPr>
          <p:cNvPr id="3" name="Content Placeholder 2">
            <a:extLst>
              <a:ext uri="{FF2B5EF4-FFF2-40B4-BE49-F238E27FC236}">
                <a16:creationId xmlns:a16="http://schemas.microsoft.com/office/drawing/2014/main" id="{21DE330A-11C7-4E97-B1CD-3A1B016D90CE}"/>
              </a:ext>
            </a:extLst>
          </p:cNvPr>
          <p:cNvSpPr>
            <a:spLocks noGrp="1"/>
          </p:cNvSpPr>
          <p:nvPr>
            <p:ph idx="1"/>
          </p:nvPr>
        </p:nvSpPr>
        <p:spPr/>
        <p:txBody>
          <a:bodyPr/>
          <a:lstStyle/>
          <a:p>
            <a:r>
              <a:rPr lang="en-US" dirty="0"/>
              <a:t>What if sample size is small</a:t>
            </a:r>
          </a:p>
          <a:p>
            <a:endParaRPr lang="en-US" dirty="0"/>
          </a:p>
          <a:p>
            <a:r>
              <a:rPr lang="en-US" dirty="0"/>
              <a:t>N=125</a:t>
            </a:r>
          </a:p>
        </p:txBody>
      </p:sp>
    </p:spTree>
    <p:extLst>
      <p:ext uri="{BB962C8B-B14F-4D97-AF65-F5344CB8AC3E}">
        <p14:creationId xmlns:p14="http://schemas.microsoft.com/office/powerpoint/2010/main" val="16823039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1B9C4C-2B16-81DF-F7CA-6AB46CEBB345}"/>
            </a:ext>
          </a:extLst>
        </p:cNvPr>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E1196C32-304E-1F07-9051-A31D06FB01D4}"/>
              </a:ext>
            </a:extLst>
          </p:cNvPr>
          <p:cNvGraphicFramePr>
            <a:graphicFrameLocks noGrp="1"/>
          </p:cNvGraphicFramePr>
          <p:nvPr>
            <p:ph idx="1"/>
            <p:extLst>
              <p:ext uri="{D42A27DB-BD31-4B8C-83A1-F6EECF244321}">
                <p14:modId xmlns:p14="http://schemas.microsoft.com/office/powerpoint/2010/main" val="3891752410"/>
              </p:ext>
            </p:extLst>
          </p:nvPr>
        </p:nvGraphicFramePr>
        <p:xfrm>
          <a:off x="1404258" y="881743"/>
          <a:ext cx="10080169" cy="4450080"/>
        </p:xfrm>
        <a:graphic>
          <a:graphicData uri="http://schemas.openxmlformats.org/drawingml/2006/table">
            <a:tbl>
              <a:tblPr firstRow="1" bandRow="1">
                <a:tableStyleId>{5C22544A-7EE6-4342-B048-85BDC9FD1C3A}</a:tableStyleId>
              </a:tblPr>
              <a:tblGrid>
                <a:gridCol w="3249693">
                  <a:extLst>
                    <a:ext uri="{9D8B030D-6E8A-4147-A177-3AD203B41FA5}">
                      <a16:colId xmlns:a16="http://schemas.microsoft.com/office/drawing/2014/main" val="985535134"/>
                    </a:ext>
                  </a:extLst>
                </a:gridCol>
                <a:gridCol w="3415238">
                  <a:extLst>
                    <a:ext uri="{9D8B030D-6E8A-4147-A177-3AD203B41FA5}">
                      <a16:colId xmlns:a16="http://schemas.microsoft.com/office/drawing/2014/main" val="216443669"/>
                    </a:ext>
                  </a:extLst>
                </a:gridCol>
                <a:gridCol w="3415238">
                  <a:extLst>
                    <a:ext uri="{9D8B030D-6E8A-4147-A177-3AD203B41FA5}">
                      <a16:colId xmlns:a16="http://schemas.microsoft.com/office/drawing/2014/main" val="3519897098"/>
                    </a:ext>
                  </a:extLst>
                </a:gridCol>
              </a:tblGrid>
              <a:tr h="370840">
                <a:tc>
                  <a:txBody>
                    <a:bodyPr/>
                    <a:lstStyle/>
                    <a:p>
                      <a:r>
                        <a:rPr lang="en-US" sz="3200" dirty="0"/>
                        <a:t>Variables</a:t>
                      </a:r>
                    </a:p>
                  </a:txBody>
                  <a:tcPr/>
                </a:tc>
                <a:tc>
                  <a:txBody>
                    <a:bodyPr/>
                    <a:lstStyle/>
                    <a:p>
                      <a:r>
                        <a:rPr lang="en-US" sz="3200" dirty="0"/>
                        <a:t>No preeclampsia</a:t>
                      </a:r>
                    </a:p>
                    <a:p>
                      <a:r>
                        <a:rPr lang="en-US" sz="3200" dirty="0"/>
                        <a:t>n=79</a:t>
                      </a:r>
                    </a:p>
                    <a:p>
                      <a:endParaRPr lang="en-US" sz="3200" dirty="0"/>
                    </a:p>
                  </a:txBody>
                  <a:tcPr/>
                </a:tc>
                <a:tc>
                  <a:txBody>
                    <a:bodyPr/>
                    <a:lstStyle/>
                    <a:p>
                      <a:r>
                        <a:rPr lang="en-US" sz="3200" dirty="0"/>
                        <a:t>Preterm preeclampsia</a:t>
                      </a:r>
                    </a:p>
                    <a:p>
                      <a:r>
                        <a:rPr lang="en-US" sz="3200" dirty="0"/>
                        <a:t>n=46</a:t>
                      </a:r>
                    </a:p>
                  </a:txBody>
                  <a:tcPr/>
                </a:tc>
                <a:extLst>
                  <a:ext uri="{0D108BD9-81ED-4DB2-BD59-A6C34878D82A}">
                    <a16:rowId xmlns:a16="http://schemas.microsoft.com/office/drawing/2014/main" val="1261827436"/>
                  </a:ext>
                </a:extLst>
              </a:tr>
              <a:tr h="370840">
                <a:tc>
                  <a:txBody>
                    <a:bodyPr/>
                    <a:lstStyle/>
                    <a:p>
                      <a:r>
                        <a:rPr lang="en-US" sz="3200" dirty="0"/>
                        <a:t>BMI</a:t>
                      </a:r>
                    </a:p>
                  </a:txBody>
                  <a:tcPr/>
                </a:tc>
                <a:tc>
                  <a:txBody>
                    <a:bodyPr/>
                    <a:lstStyle/>
                    <a:p>
                      <a:endParaRPr lang="en-US" sz="3200" dirty="0"/>
                    </a:p>
                  </a:txBody>
                  <a:tcPr/>
                </a:tc>
                <a:tc>
                  <a:txBody>
                    <a:bodyPr/>
                    <a:lstStyle/>
                    <a:p>
                      <a:endParaRPr lang="en-US" sz="3200" dirty="0"/>
                    </a:p>
                  </a:txBody>
                  <a:tcPr/>
                </a:tc>
                <a:extLst>
                  <a:ext uri="{0D108BD9-81ED-4DB2-BD59-A6C34878D82A}">
                    <a16:rowId xmlns:a16="http://schemas.microsoft.com/office/drawing/2014/main" val="3373794671"/>
                  </a:ext>
                </a:extLst>
              </a:tr>
              <a:tr h="370840">
                <a:tc>
                  <a:txBody>
                    <a:bodyPr/>
                    <a:lstStyle/>
                    <a:p>
                      <a:r>
                        <a:rPr lang="en-US" sz="3200" dirty="0"/>
                        <a:t>   Under weight</a:t>
                      </a:r>
                    </a:p>
                  </a:txBody>
                  <a:tcPr/>
                </a:tc>
                <a:tc>
                  <a:txBody>
                    <a:bodyPr/>
                    <a:lstStyle/>
                    <a:p>
                      <a:r>
                        <a:rPr lang="en-US" sz="3200" dirty="0"/>
                        <a:t>2 (2.5%)</a:t>
                      </a:r>
                    </a:p>
                  </a:txBody>
                  <a:tcPr/>
                </a:tc>
                <a:tc>
                  <a:txBody>
                    <a:bodyPr/>
                    <a:lstStyle/>
                    <a:p>
                      <a:r>
                        <a:rPr lang="en-US" sz="3200" dirty="0"/>
                        <a:t>1 (2.2%)</a:t>
                      </a:r>
                    </a:p>
                  </a:txBody>
                  <a:tcPr/>
                </a:tc>
                <a:extLst>
                  <a:ext uri="{0D108BD9-81ED-4DB2-BD59-A6C34878D82A}">
                    <a16:rowId xmlns:a16="http://schemas.microsoft.com/office/drawing/2014/main" val="4041629521"/>
                  </a:ext>
                </a:extLst>
              </a:tr>
              <a:tr h="370840">
                <a:tc>
                  <a:txBody>
                    <a:bodyPr/>
                    <a:lstStyle/>
                    <a:p>
                      <a:r>
                        <a:rPr lang="en-US" sz="3200" dirty="0"/>
                        <a:t>   Normal</a:t>
                      </a:r>
                    </a:p>
                  </a:txBody>
                  <a:tcPr/>
                </a:tc>
                <a:tc>
                  <a:txBody>
                    <a:bodyPr/>
                    <a:lstStyle/>
                    <a:p>
                      <a:r>
                        <a:rPr lang="en-US" sz="3200" dirty="0"/>
                        <a:t>66 (83.5%)</a:t>
                      </a:r>
                    </a:p>
                  </a:txBody>
                  <a:tcPr/>
                </a:tc>
                <a:tc>
                  <a:txBody>
                    <a:bodyPr/>
                    <a:lstStyle/>
                    <a:p>
                      <a:r>
                        <a:rPr lang="en-US" sz="3200" dirty="0"/>
                        <a:t>27 (58.7%)</a:t>
                      </a:r>
                    </a:p>
                  </a:txBody>
                  <a:tcPr/>
                </a:tc>
                <a:extLst>
                  <a:ext uri="{0D108BD9-81ED-4DB2-BD59-A6C34878D82A}">
                    <a16:rowId xmlns:a16="http://schemas.microsoft.com/office/drawing/2014/main" val="2501693320"/>
                  </a:ext>
                </a:extLst>
              </a:tr>
              <a:tr h="370840">
                <a:tc>
                  <a:txBody>
                    <a:bodyPr/>
                    <a:lstStyle/>
                    <a:p>
                      <a:r>
                        <a:rPr lang="en-US" sz="3200" dirty="0"/>
                        <a:t>   Obesity</a:t>
                      </a:r>
                    </a:p>
                  </a:txBody>
                  <a:tcPr/>
                </a:tc>
                <a:tc>
                  <a:txBody>
                    <a:bodyPr/>
                    <a:lstStyle/>
                    <a:p>
                      <a:r>
                        <a:rPr lang="en-US" sz="3200" dirty="0"/>
                        <a:t>8 (10.1%)</a:t>
                      </a:r>
                    </a:p>
                  </a:txBody>
                  <a:tcPr/>
                </a:tc>
                <a:tc>
                  <a:txBody>
                    <a:bodyPr/>
                    <a:lstStyle/>
                    <a:p>
                      <a:r>
                        <a:rPr lang="en-US" sz="3200" dirty="0"/>
                        <a:t>12 (26.1%)</a:t>
                      </a:r>
                    </a:p>
                  </a:txBody>
                  <a:tcPr/>
                </a:tc>
                <a:extLst>
                  <a:ext uri="{0D108BD9-81ED-4DB2-BD59-A6C34878D82A}">
                    <a16:rowId xmlns:a16="http://schemas.microsoft.com/office/drawing/2014/main" val="1384400671"/>
                  </a:ext>
                </a:extLst>
              </a:tr>
              <a:tr h="370840">
                <a:tc>
                  <a:txBody>
                    <a:bodyPr/>
                    <a:lstStyle/>
                    <a:p>
                      <a:r>
                        <a:rPr lang="en-US" sz="3200" dirty="0"/>
                        <a:t>   Morbid obesity</a:t>
                      </a:r>
                    </a:p>
                  </a:txBody>
                  <a:tcPr/>
                </a:tc>
                <a:tc>
                  <a:txBody>
                    <a:bodyPr/>
                    <a:lstStyle/>
                    <a:p>
                      <a:r>
                        <a:rPr lang="en-US" sz="3200" dirty="0"/>
                        <a:t>3 (3.8%)</a:t>
                      </a:r>
                    </a:p>
                  </a:txBody>
                  <a:tcPr/>
                </a:tc>
                <a:tc>
                  <a:txBody>
                    <a:bodyPr/>
                    <a:lstStyle/>
                    <a:p>
                      <a:r>
                        <a:rPr lang="en-US" sz="3200" dirty="0"/>
                        <a:t>6 (13.0%)</a:t>
                      </a:r>
                    </a:p>
                  </a:txBody>
                  <a:tcPr/>
                </a:tc>
                <a:extLst>
                  <a:ext uri="{0D108BD9-81ED-4DB2-BD59-A6C34878D82A}">
                    <a16:rowId xmlns:a16="http://schemas.microsoft.com/office/drawing/2014/main" val="145651733"/>
                  </a:ext>
                </a:extLst>
              </a:tr>
            </a:tbl>
          </a:graphicData>
        </a:graphic>
      </p:graphicFrame>
      <p:sp>
        <p:nvSpPr>
          <p:cNvPr id="2" name="TextBox 1">
            <a:extLst>
              <a:ext uri="{FF2B5EF4-FFF2-40B4-BE49-F238E27FC236}">
                <a16:creationId xmlns:a16="http://schemas.microsoft.com/office/drawing/2014/main" id="{C1ECD890-63BE-6583-36DB-8FF2FF892B34}"/>
              </a:ext>
            </a:extLst>
          </p:cNvPr>
          <p:cNvSpPr txBox="1"/>
          <p:nvPr/>
        </p:nvSpPr>
        <p:spPr>
          <a:xfrm>
            <a:off x="1621971" y="5932714"/>
            <a:ext cx="6561796" cy="584775"/>
          </a:xfrm>
          <a:prstGeom prst="rect">
            <a:avLst/>
          </a:prstGeom>
          <a:noFill/>
        </p:spPr>
        <p:txBody>
          <a:bodyPr wrap="none" rtlCol="0">
            <a:spAutoFit/>
          </a:bodyPr>
          <a:lstStyle/>
          <a:p>
            <a:r>
              <a:rPr lang="en-US" sz="3200" dirty="0"/>
              <a:t>37.5% cells have a count less than 5</a:t>
            </a:r>
          </a:p>
        </p:txBody>
      </p:sp>
    </p:spTree>
    <p:extLst>
      <p:ext uri="{BB962C8B-B14F-4D97-AF65-F5344CB8AC3E}">
        <p14:creationId xmlns:p14="http://schemas.microsoft.com/office/powerpoint/2010/main" val="423533933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9C2528-D237-B4CD-5B81-D31F35333C27}"/>
              </a:ext>
            </a:extLst>
          </p:cNvPr>
          <p:cNvSpPr>
            <a:spLocks noGrp="1"/>
          </p:cNvSpPr>
          <p:nvPr>
            <p:ph type="title"/>
          </p:nvPr>
        </p:nvSpPr>
        <p:spPr/>
        <p:txBody>
          <a:bodyPr/>
          <a:lstStyle/>
          <a:p>
            <a:r>
              <a:rPr lang="en-US" dirty="0"/>
              <a:t>Chi-square test VS Fisher’s exact test</a:t>
            </a:r>
          </a:p>
        </p:txBody>
      </p:sp>
      <p:sp>
        <p:nvSpPr>
          <p:cNvPr id="3" name="Content Placeholder 2">
            <a:extLst>
              <a:ext uri="{FF2B5EF4-FFF2-40B4-BE49-F238E27FC236}">
                <a16:creationId xmlns:a16="http://schemas.microsoft.com/office/drawing/2014/main" id="{D99D58F6-5445-07D7-9244-7986F163988C}"/>
              </a:ext>
            </a:extLst>
          </p:cNvPr>
          <p:cNvSpPr>
            <a:spLocks noGrp="1"/>
          </p:cNvSpPr>
          <p:nvPr>
            <p:ph idx="1"/>
          </p:nvPr>
        </p:nvSpPr>
        <p:spPr/>
        <p:txBody>
          <a:bodyPr/>
          <a:lstStyle/>
          <a:p>
            <a:r>
              <a:rPr lang="en-US" dirty="0"/>
              <a:t>&lt;20% </a:t>
            </a:r>
          </a:p>
          <a:p>
            <a:pPr lvl="1"/>
            <a:r>
              <a:rPr lang="en-US" dirty="0"/>
              <a:t>Chi-square test or Fisher’s exact test</a:t>
            </a:r>
          </a:p>
          <a:p>
            <a:endParaRPr lang="en-US" dirty="0"/>
          </a:p>
          <a:p>
            <a:r>
              <a:rPr lang="en-US" dirty="0"/>
              <a:t>&gt;= 20% and &lt;= 50%</a:t>
            </a:r>
          </a:p>
          <a:p>
            <a:pPr lvl="1"/>
            <a:r>
              <a:rPr lang="en-US" dirty="0"/>
              <a:t>Fisher’s exact test</a:t>
            </a:r>
          </a:p>
          <a:p>
            <a:endParaRPr lang="en-US" dirty="0"/>
          </a:p>
          <a:p>
            <a:r>
              <a:rPr lang="en-US" dirty="0"/>
              <a:t>&gt;50%</a:t>
            </a:r>
          </a:p>
          <a:p>
            <a:pPr lvl="1"/>
            <a:r>
              <a:rPr lang="en-US" dirty="0"/>
              <a:t>Neither</a:t>
            </a:r>
          </a:p>
        </p:txBody>
      </p:sp>
    </p:spTree>
    <p:extLst>
      <p:ext uri="{BB962C8B-B14F-4D97-AF65-F5344CB8AC3E}">
        <p14:creationId xmlns:p14="http://schemas.microsoft.com/office/powerpoint/2010/main" val="42367462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2C8F46-D08B-0428-FF84-C95931AD1D5C}"/>
            </a:ext>
          </a:extLst>
        </p:cNvPr>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2B39FDB5-50F2-72BD-33DF-4C3B22509664}"/>
              </a:ext>
            </a:extLst>
          </p:cNvPr>
          <p:cNvGraphicFramePr>
            <a:graphicFrameLocks noGrp="1"/>
          </p:cNvGraphicFramePr>
          <p:nvPr>
            <p:ph idx="1"/>
            <p:extLst>
              <p:ext uri="{D42A27DB-BD31-4B8C-83A1-F6EECF244321}">
                <p14:modId xmlns:p14="http://schemas.microsoft.com/office/powerpoint/2010/main" val="4175852011"/>
              </p:ext>
            </p:extLst>
          </p:nvPr>
        </p:nvGraphicFramePr>
        <p:xfrm>
          <a:off x="1404258" y="844621"/>
          <a:ext cx="10080169" cy="4450080"/>
        </p:xfrm>
        <a:graphic>
          <a:graphicData uri="http://schemas.openxmlformats.org/drawingml/2006/table">
            <a:tbl>
              <a:tblPr firstRow="1" bandRow="1">
                <a:tableStyleId>{5C22544A-7EE6-4342-B048-85BDC9FD1C3A}</a:tableStyleId>
              </a:tblPr>
              <a:tblGrid>
                <a:gridCol w="3249693">
                  <a:extLst>
                    <a:ext uri="{9D8B030D-6E8A-4147-A177-3AD203B41FA5}">
                      <a16:colId xmlns:a16="http://schemas.microsoft.com/office/drawing/2014/main" val="985535134"/>
                    </a:ext>
                  </a:extLst>
                </a:gridCol>
                <a:gridCol w="3415238">
                  <a:extLst>
                    <a:ext uri="{9D8B030D-6E8A-4147-A177-3AD203B41FA5}">
                      <a16:colId xmlns:a16="http://schemas.microsoft.com/office/drawing/2014/main" val="216443669"/>
                    </a:ext>
                  </a:extLst>
                </a:gridCol>
                <a:gridCol w="3415238">
                  <a:extLst>
                    <a:ext uri="{9D8B030D-6E8A-4147-A177-3AD203B41FA5}">
                      <a16:colId xmlns:a16="http://schemas.microsoft.com/office/drawing/2014/main" val="3519897098"/>
                    </a:ext>
                  </a:extLst>
                </a:gridCol>
              </a:tblGrid>
              <a:tr h="370840">
                <a:tc>
                  <a:txBody>
                    <a:bodyPr/>
                    <a:lstStyle/>
                    <a:p>
                      <a:r>
                        <a:rPr lang="en-US" sz="3200" dirty="0"/>
                        <a:t>Variables</a:t>
                      </a:r>
                    </a:p>
                  </a:txBody>
                  <a:tcPr/>
                </a:tc>
                <a:tc>
                  <a:txBody>
                    <a:bodyPr/>
                    <a:lstStyle/>
                    <a:p>
                      <a:r>
                        <a:rPr lang="en-US" sz="3200" dirty="0"/>
                        <a:t>No preeclampsia</a:t>
                      </a:r>
                    </a:p>
                    <a:p>
                      <a:r>
                        <a:rPr lang="en-US" sz="3200" dirty="0"/>
                        <a:t>n=79</a:t>
                      </a:r>
                    </a:p>
                    <a:p>
                      <a:endParaRPr lang="en-US" sz="3200" dirty="0"/>
                    </a:p>
                  </a:txBody>
                  <a:tcPr/>
                </a:tc>
                <a:tc>
                  <a:txBody>
                    <a:bodyPr/>
                    <a:lstStyle/>
                    <a:p>
                      <a:r>
                        <a:rPr lang="en-US" sz="3200" dirty="0"/>
                        <a:t>Preterm preeclampsia</a:t>
                      </a:r>
                    </a:p>
                    <a:p>
                      <a:r>
                        <a:rPr lang="en-US" sz="3200" dirty="0"/>
                        <a:t>n=46</a:t>
                      </a:r>
                    </a:p>
                  </a:txBody>
                  <a:tcPr/>
                </a:tc>
                <a:extLst>
                  <a:ext uri="{0D108BD9-81ED-4DB2-BD59-A6C34878D82A}">
                    <a16:rowId xmlns:a16="http://schemas.microsoft.com/office/drawing/2014/main" val="1261827436"/>
                  </a:ext>
                </a:extLst>
              </a:tr>
              <a:tr h="370840">
                <a:tc>
                  <a:txBody>
                    <a:bodyPr/>
                    <a:lstStyle/>
                    <a:p>
                      <a:r>
                        <a:rPr lang="en-US" sz="3200" dirty="0"/>
                        <a:t>BMI</a:t>
                      </a:r>
                    </a:p>
                  </a:txBody>
                  <a:tcPr/>
                </a:tc>
                <a:tc>
                  <a:txBody>
                    <a:bodyPr/>
                    <a:lstStyle/>
                    <a:p>
                      <a:endParaRPr lang="en-US" sz="3200" dirty="0"/>
                    </a:p>
                  </a:txBody>
                  <a:tcPr/>
                </a:tc>
                <a:tc>
                  <a:txBody>
                    <a:bodyPr/>
                    <a:lstStyle/>
                    <a:p>
                      <a:endParaRPr lang="en-US" sz="3200" dirty="0"/>
                    </a:p>
                  </a:txBody>
                  <a:tcPr/>
                </a:tc>
                <a:extLst>
                  <a:ext uri="{0D108BD9-81ED-4DB2-BD59-A6C34878D82A}">
                    <a16:rowId xmlns:a16="http://schemas.microsoft.com/office/drawing/2014/main" val="3373794671"/>
                  </a:ext>
                </a:extLst>
              </a:tr>
              <a:tr h="370840">
                <a:tc>
                  <a:txBody>
                    <a:bodyPr/>
                    <a:lstStyle/>
                    <a:p>
                      <a:r>
                        <a:rPr lang="en-US" sz="3200" dirty="0"/>
                        <a:t>   Under weight</a:t>
                      </a:r>
                    </a:p>
                  </a:txBody>
                  <a:tcPr/>
                </a:tc>
                <a:tc>
                  <a:txBody>
                    <a:bodyPr/>
                    <a:lstStyle/>
                    <a:p>
                      <a:r>
                        <a:rPr lang="en-US" sz="3200" dirty="0"/>
                        <a:t>2 (2.5%)</a:t>
                      </a:r>
                    </a:p>
                  </a:txBody>
                  <a:tcPr/>
                </a:tc>
                <a:tc>
                  <a:txBody>
                    <a:bodyPr/>
                    <a:lstStyle/>
                    <a:p>
                      <a:r>
                        <a:rPr lang="en-US" sz="3200" dirty="0"/>
                        <a:t>1 (2.2%)</a:t>
                      </a:r>
                    </a:p>
                  </a:txBody>
                  <a:tcPr/>
                </a:tc>
                <a:extLst>
                  <a:ext uri="{0D108BD9-81ED-4DB2-BD59-A6C34878D82A}">
                    <a16:rowId xmlns:a16="http://schemas.microsoft.com/office/drawing/2014/main" val="4041629521"/>
                  </a:ext>
                </a:extLst>
              </a:tr>
              <a:tr h="370840">
                <a:tc>
                  <a:txBody>
                    <a:bodyPr/>
                    <a:lstStyle/>
                    <a:p>
                      <a:r>
                        <a:rPr lang="en-US" sz="3200" dirty="0"/>
                        <a:t>   Normal</a:t>
                      </a:r>
                    </a:p>
                  </a:txBody>
                  <a:tcPr/>
                </a:tc>
                <a:tc>
                  <a:txBody>
                    <a:bodyPr/>
                    <a:lstStyle/>
                    <a:p>
                      <a:r>
                        <a:rPr lang="en-US" sz="3200" dirty="0"/>
                        <a:t>66 (83.5%)</a:t>
                      </a:r>
                    </a:p>
                  </a:txBody>
                  <a:tcPr/>
                </a:tc>
                <a:tc>
                  <a:txBody>
                    <a:bodyPr/>
                    <a:lstStyle/>
                    <a:p>
                      <a:r>
                        <a:rPr lang="en-US" sz="3200" dirty="0"/>
                        <a:t>27 (58.7%)</a:t>
                      </a:r>
                    </a:p>
                  </a:txBody>
                  <a:tcPr/>
                </a:tc>
                <a:extLst>
                  <a:ext uri="{0D108BD9-81ED-4DB2-BD59-A6C34878D82A}">
                    <a16:rowId xmlns:a16="http://schemas.microsoft.com/office/drawing/2014/main" val="2501693320"/>
                  </a:ext>
                </a:extLst>
              </a:tr>
              <a:tr h="370840">
                <a:tc>
                  <a:txBody>
                    <a:bodyPr/>
                    <a:lstStyle/>
                    <a:p>
                      <a:r>
                        <a:rPr lang="en-US" sz="3200" dirty="0"/>
                        <a:t>   Obesity</a:t>
                      </a:r>
                    </a:p>
                  </a:txBody>
                  <a:tcPr/>
                </a:tc>
                <a:tc>
                  <a:txBody>
                    <a:bodyPr/>
                    <a:lstStyle/>
                    <a:p>
                      <a:r>
                        <a:rPr lang="en-US" sz="3200" dirty="0"/>
                        <a:t>8 (10.1%)</a:t>
                      </a:r>
                    </a:p>
                  </a:txBody>
                  <a:tcPr/>
                </a:tc>
                <a:tc>
                  <a:txBody>
                    <a:bodyPr/>
                    <a:lstStyle/>
                    <a:p>
                      <a:r>
                        <a:rPr lang="en-US" sz="3200" dirty="0"/>
                        <a:t>12 (26.1%)</a:t>
                      </a:r>
                    </a:p>
                  </a:txBody>
                  <a:tcPr/>
                </a:tc>
                <a:extLst>
                  <a:ext uri="{0D108BD9-81ED-4DB2-BD59-A6C34878D82A}">
                    <a16:rowId xmlns:a16="http://schemas.microsoft.com/office/drawing/2014/main" val="1384400671"/>
                  </a:ext>
                </a:extLst>
              </a:tr>
              <a:tr h="370840">
                <a:tc>
                  <a:txBody>
                    <a:bodyPr/>
                    <a:lstStyle/>
                    <a:p>
                      <a:r>
                        <a:rPr lang="en-US" sz="3200" dirty="0"/>
                        <a:t>   Morbid obesity</a:t>
                      </a:r>
                    </a:p>
                  </a:txBody>
                  <a:tcPr/>
                </a:tc>
                <a:tc>
                  <a:txBody>
                    <a:bodyPr/>
                    <a:lstStyle/>
                    <a:p>
                      <a:r>
                        <a:rPr lang="en-US" sz="3200" dirty="0"/>
                        <a:t>3 (3.8%)</a:t>
                      </a:r>
                    </a:p>
                  </a:txBody>
                  <a:tcPr/>
                </a:tc>
                <a:tc>
                  <a:txBody>
                    <a:bodyPr/>
                    <a:lstStyle/>
                    <a:p>
                      <a:r>
                        <a:rPr lang="en-US" sz="3200" dirty="0"/>
                        <a:t>6 (13.0%)</a:t>
                      </a:r>
                    </a:p>
                  </a:txBody>
                  <a:tcPr/>
                </a:tc>
                <a:extLst>
                  <a:ext uri="{0D108BD9-81ED-4DB2-BD59-A6C34878D82A}">
                    <a16:rowId xmlns:a16="http://schemas.microsoft.com/office/drawing/2014/main" val="145651733"/>
                  </a:ext>
                </a:extLst>
              </a:tr>
            </a:tbl>
          </a:graphicData>
        </a:graphic>
      </p:graphicFrame>
      <p:sp>
        <p:nvSpPr>
          <p:cNvPr id="2" name="TextBox 1">
            <a:extLst>
              <a:ext uri="{FF2B5EF4-FFF2-40B4-BE49-F238E27FC236}">
                <a16:creationId xmlns:a16="http://schemas.microsoft.com/office/drawing/2014/main" id="{F9D463B3-7A04-0075-FBED-87A73C1EB990}"/>
              </a:ext>
            </a:extLst>
          </p:cNvPr>
          <p:cNvSpPr txBox="1"/>
          <p:nvPr/>
        </p:nvSpPr>
        <p:spPr>
          <a:xfrm>
            <a:off x="1404258" y="5551714"/>
            <a:ext cx="6561796" cy="584775"/>
          </a:xfrm>
          <a:prstGeom prst="rect">
            <a:avLst/>
          </a:prstGeom>
          <a:noFill/>
        </p:spPr>
        <p:txBody>
          <a:bodyPr wrap="none" rtlCol="0">
            <a:spAutoFit/>
          </a:bodyPr>
          <a:lstStyle/>
          <a:p>
            <a:r>
              <a:rPr lang="en-US" sz="3200" dirty="0"/>
              <a:t>37.5% cells have a count less than 5</a:t>
            </a:r>
          </a:p>
        </p:txBody>
      </p:sp>
      <p:sp>
        <p:nvSpPr>
          <p:cNvPr id="3" name="TextBox 2">
            <a:extLst>
              <a:ext uri="{FF2B5EF4-FFF2-40B4-BE49-F238E27FC236}">
                <a16:creationId xmlns:a16="http://schemas.microsoft.com/office/drawing/2014/main" id="{DE021380-BCC8-E51B-BC3C-7DD0FC9D87BC}"/>
              </a:ext>
            </a:extLst>
          </p:cNvPr>
          <p:cNvSpPr txBox="1"/>
          <p:nvPr/>
        </p:nvSpPr>
        <p:spPr>
          <a:xfrm>
            <a:off x="9339942" y="5551714"/>
            <a:ext cx="2564805" cy="461665"/>
          </a:xfrm>
          <a:prstGeom prst="rect">
            <a:avLst/>
          </a:prstGeom>
          <a:noFill/>
        </p:spPr>
        <p:txBody>
          <a:bodyPr wrap="none" rtlCol="0">
            <a:spAutoFit/>
          </a:bodyPr>
          <a:lstStyle/>
          <a:p>
            <a:r>
              <a:rPr lang="en-US" sz="2400" dirty="0"/>
              <a:t>Fisher’s exact test</a:t>
            </a:r>
          </a:p>
        </p:txBody>
      </p:sp>
    </p:spTree>
    <p:extLst>
      <p:ext uri="{BB962C8B-B14F-4D97-AF65-F5344CB8AC3E}">
        <p14:creationId xmlns:p14="http://schemas.microsoft.com/office/powerpoint/2010/main" val="144253904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6B6A4B-88DC-478C-5383-4512B170827F}"/>
            </a:ext>
          </a:extLst>
        </p:cNvPr>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0993177C-B6FB-743F-29BF-7050714BD15F}"/>
              </a:ext>
            </a:extLst>
          </p:cNvPr>
          <p:cNvGraphicFramePr>
            <a:graphicFrameLocks noGrp="1"/>
          </p:cNvGraphicFramePr>
          <p:nvPr>
            <p:ph idx="1"/>
            <p:extLst>
              <p:ext uri="{D42A27DB-BD31-4B8C-83A1-F6EECF244321}">
                <p14:modId xmlns:p14="http://schemas.microsoft.com/office/powerpoint/2010/main" val="2015177724"/>
              </p:ext>
            </p:extLst>
          </p:nvPr>
        </p:nvGraphicFramePr>
        <p:xfrm>
          <a:off x="473529" y="576943"/>
          <a:ext cx="11244942" cy="4358640"/>
        </p:xfrm>
        <a:graphic>
          <a:graphicData uri="http://schemas.openxmlformats.org/drawingml/2006/table">
            <a:tbl>
              <a:tblPr firstRow="1" bandRow="1">
                <a:tableStyleId>{5C22544A-7EE6-4342-B048-85BDC9FD1C3A}</a:tableStyleId>
              </a:tblPr>
              <a:tblGrid>
                <a:gridCol w="4691743">
                  <a:extLst>
                    <a:ext uri="{9D8B030D-6E8A-4147-A177-3AD203B41FA5}">
                      <a16:colId xmlns:a16="http://schemas.microsoft.com/office/drawing/2014/main" val="985535134"/>
                    </a:ext>
                  </a:extLst>
                </a:gridCol>
                <a:gridCol w="2743327">
                  <a:extLst>
                    <a:ext uri="{9D8B030D-6E8A-4147-A177-3AD203B41FA5}">
                      <a16:colId xmlns:a16="http://schemas.microsoft.com/office/drawing/2014/main" val="216443669"/>
                    </a:ext>
                  </a:extLst>
                </a:gridCol>
                <a:gridCol w="3809872">
                  <a:extLst>
                    <a:ext uri="{9D8B030D-6E8A-4147-A177-3AD203B41FA5}">
                      <a16:colId xmlns:a16="http://schemas.microsoft.com/office/drawing/2014/main" val="3519897098"/>
                    </a:ext>
                  </a:extLst>
                </a:gridCol>
              </a:tblGrid>
              <a:tr h="370840">
                <a:tc>
                  <a:txBody>
                    <a:bodyPr/>
                    <a:lstStyle/>
                    <a:p>
                      <a:r>
                        <a:rPr lang="en-US" sz="3200" dirty="0"/>
                        <a:t>Observed</a:t>
                      </a:r>
                    </a:p>
                  </a:txBody>
                  <a:tcPr/>
                </a:tc>
                <a:tc>
                  <a:txBody>
                    <a:bodyPr/>
                    <a:lstStyle/>
                    <a:p>
                      <a:r>
                        <a:rPr lang="en-US" sz="3200" dirty="0"/>
                        <a:t>No preeclampsia</a:t>
                      </a:r>
                    </a:p>
                    <a:p>
                      <a:r>
                        <a:rPr lang="en-US" sz="3200" dirty="0"/>
                        <a:t>n=79</a:t>
                      </a:r>
                    </a:p>
                    <a:p>
                      <a:endParaRPr lang="en-US" sz="3200" dirty="0"/>
                    </a:p>
                  </a:txBody>
                  <a:tcPr/>
                </a:tc>
                <a:tc>
                  <a:txBody>
                    <a:bodyPr/>
                    <a:lstStyle/>
                    <a:p>
                      <a:r>
                        <a:rPr lang="en-US" sz="3200" dirty="0"/>
                        <a:t>Preterm preeclampsia</a:t>
                      </a:r>
                    </a:p>
                    <a:p>
                      <a:r>
                        <a:rPr lang="en-US" sz="3200" dirty="0"/>
                        <a:t>n=46</a:t>
                      </a:r>
                    </a:p>
                  </a:txBody>
                  <a:tcPr/>
                </a:tc>
                <a:extLst>
                  <a:ext uri="{0D108BD9-81ED-4DB2-BD59-A6C34878D82A}">
                    <a16:rowId xmlns:a16="http://schemas.microsoft.com/office/drawing/2014/main" val="1261827436"/>
                  </a:ext>
                </a:extLst>
              </a:tr>
              <a:tr h="370840">
                <a:tc>
                  <a:txBody>
                    <a:bodyPr/>
                    <a:lstStyle/>
                    <a:p>
                      <a:r>
                        <a:rPr lang="en-US" sz="3200" dirty="0"/>
                        <a:t>BMI</a:t>
                      </a:r>
                    </a:p>
                  </a:txBody>
                  <a:tcPr/>
                </a:tc>
                <a:tc>
                  <a:txBody>
                    <a:bodyPr/>
                    <a:lstStyle/>
                    <a:p>
                      <a:endParaRPr lang="en-US" sz="3200" dirty="0"/>
                    </a:p>
                  </a:txBody>
                  <a:tcPr/>
                </a:tc>
                <a:tc>
                  <a:txBody>
                    <a:bodyPr/>
                    <a:lstStyle/>
                    <a:p>
                      <a:endParaRPr lang="en-US" sz="3200" dirty="0"/>
                    </a:p>
                  </a:txBody>
                  <a:tcPr/>
                </a:tc>
                <a:extLst>
                  <a:ext uri="{0D108BD9-81ED-4DB2-BD59-A6C34878D82A}">
                    <a16:rowId xmlns:a16="http://schemas.microsoft.com/office/drawing/2014/main" val="3373794671"/>
                  </a:ext>
                </a:extLst>
              </a:tr>
              <a:tr h="370840">
                <a:tc>
                  <a:txBody>
                    <a:bodyPr/>
                    <a:lstStyle/>
                    <a:p>
                      <a:r>
                        <a:rPr lang="en-US" sz="3200" dirty="0"/>
                        <a:t>   Normal (&lt;30)</a:t>
                      </a:r>
                    </a:p>
                  </a:txBody>
                  <a:tcPr/>
                </a:tc>
                <a:tc>
                  <a:txBody>
                    <a:bodyPr/>
                    <a:lstStyle/>
                    <a:p>
                      <a:r>
                        <a:rPr lang="en-US" sz="3200" dirty="0"/>
                        <a:t>68 (86.1%)</a:t>
                      </a:r>
                    </a:p>
                  </a:txBody>
                  <a:tcPr/>
                </a:tc>
                <a:tc>
                  <a:txBody>
                    <a:bodyPr/>
                    <a:lstStyle/>
                    <a:p>
                      <a:r>
                        <a:rPr lang="en-US" sz="3200" dirty="0"/>
                        <a:t>28 (60.9%)</a:t>
                      </a:r>
                    </a:p>
                  </a:txBody>
                  <a:tcPr/>
                </a:tc>
                <a:extLst>
                  <a:ext uri="{0D108BD9-81ED-4DB2-BD59-A6C34878D82A}">
                    <a16:rowId xmlns:a16="http://schemas.microsoft.com/office/drawing/2014/main" val="2501693320"/>
                  </a:ext>
                </a:extLst>
              </a:tr>
              <a:tr h="370840">
                <a:tc>
                  <a:txBody>
                    <a:bodyPr/>
                    <a:lstStyle/>
                    <a:p>
                      <a:r>
                        <a:rPr lang="en-US" sz="3200" dirty="0"/>
                        <a:t>   Obesity (&gt;=30, &lt;40)</a:t>
                      </a:r>
                    </a:p>
                  </a:txBody>
                  <a:tcPr/>
                </a:tc>
                <a:tc>
                  <a:txBody>
                    <a:bodyPr/>
                    <a:lstStyle/>
                    <a:p>
                      <a:r>
                        <a:rPr lang="en-US" sz="3200" dirty="0"/>
                        <a:t>8 (10.1%)</a:t>
                      </a:r>
                    </a:p>
                  </a:txBody>
                  <a:tcPr/>
                </a:tc>
                <a:tc>
                  <a:txBody>
                    <a:bodyPr/>
                    <a:lstStyle/>
                    <a:p>
                      <a:r>
                        <a:rPr lang="en-US" sz="3200" dirty="0"/>
                        <a:t>12 (26.1%)</a:t>
                      </a:r>
                    </a:p>
                  </a:txBody>
                  <a:tcPr/>
                </a:tc>
                <a:extLst>
                  <a:ext uri="{0D108BD9-81ED-4DB2-BD59-A6C34878D82A}">
                    <a16:rowId xmlns:a16="http://schemas.microsoft.com/office/drawing/2014/main" val="1384400671"/>
                  </a:ext>
                </a:extLst>
              </a:tr>
              <a:tr h="370840">
                <a:tc>
                  <a:txBody>
                    <a:bodyPr/>
                    <a:lstStyle/>
                    <a:p>
                      <a:r>
                        <a:rPr lang="en-US" sz="3200" dirty="0"/>
                        <a:t>   Morbid obesity (&gt;=40)</a:t>
                      </a:r>
                    </a:p>
                  </a:txBody>
                  <a:tcPr/>
                </a:tc>
                <a:tc>
                  <a:txBody>
                    <a:bodyPr/>
                    <a:lstStyle/>
                    <a:p>
                      <a:r>
                        <a:rPr lang="en-US" sz="3200" dirty="0"/>
                        <a:t>3 (3.8%)</a:t>
                      </a:r>
                    </a:p>
                  </a:txBody>
                  <a:tcPr/>
                </a:tc>
                <a:tc>
                  <a:txBody>
                    <a:bodyPr/>
                    <a:lstStyle/>
                    <a:p>
                      <a:r>
                        <a:rPr lang="en-US" sz="3200" dirty="0"/>
                        <a:t>6 (13.0%)</a:t>
                      </a:r>
                    </a:p>
                  </a:txBody>
                  <a:tcPr/>
                </a:tc>
                <a:extLst>
                  <a:ext uri="{0D108BD9-81ED-4DB2-BD59-A6C34878D82A}">
                    <a16:rowId xmlns:a16="http://schemas.microsoft.com/office/drawing/2014/main" val="145651733"/>
                  </a:ext>
                </a:extLst>
              </a:tr>
            </a:tbl>
          </a:graphicData>
        </a:graphic>
      </p:graphicFrame>
      <p:sp>
        <p:nvSpPr>
          <p:cNvPr id="3" name="TextBox 2">
            <a:extLst>
              <a:ext uri="{FF2B5EF4-FFF2-40B4-BE49-F238E27FC236}">
                <a16:creationId xmlns:a16="http://schemas.microsoft.com/office/drawing/2014/main" id="{614E6CD6-364A-E520-E50D-5E4D44F76E17}"/>
              </a:ext>
            </a:extLst>
          </p:cNvPr>
          <p:cNvSpPr txBox="1"/>
          <p:nvPr/>
        </p:nvSpPr>
        <p:spPr>
          <a:xfrm>
            <a:off x="631372" y="5181600"/>
            <a:ext cx="6561796" cy="584775"/>
          </a:xfrm>
          <a:prstGeom prst="rect">
            <a:avLst/>
          </a:prstGeom>
          <a:noFill/>
        </p:spPr>
        <p:txBody>
          <a:bodyPr wrap="none" rtlCol="0">
            <a:spAutoFit/>
          </a:bodyPr>
          <a:lstStyle/>
          <a:p>
            <a:r>
              <a:rPr lang="en-US" sz="3200" dirty="0"/>
              <a:t>16.7% cells have a count less than 5</a:t>
            </a:r>
          </a:p>
        </p:txBody>
      </p:sp>
    </p:spTree>
    <p:extLst>
      <p:ext uri="{BB962C8B-B14F-4D97-AF65-F5344CB8AC3E}">
        <p14:creationId xmlns:p14="http://schemas.microsoft.com/office/powerpoint/2010/main" val="383707478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0EF7B9-AB51-E8B5-E1A8-2EEA210B7B22}"/>
            </a:ext>
          </a:extLst>
        </p:cNvPr>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206C417D-770A-F17C-C846-B2CA64938C8A}"/>
              </a:ext>
            </a:extLst>
          </p:cNvPr>
          <p:cNvGraphicFramePr>
            <a:graphicFrameLocks noGrp="1"/>
          </p:cNvGraphicFramePr>
          <p:nvPr>
            <p:ph idx="1"/>
            <p:extLst>
              <p:ext uri="{D42A27DB-BD31-4B8C-83A1-F6EECF244321}">
                <p14:modId xmlns:p14="http://schemas.microsoft.com/office/powerpoint/2010/main" val="678254815"/>
              </p:ext>
            </p:extLst>
          </p:nvPr>
        </p:nvGraphicFramePr>
        <p:xfrm>
          <a:off x="473529" y="576943"/>
          <a:ext cx="11244941" cy="4937760"/>
        </p:xfrm>
        <a:graphic>
          <a:graphicData uri="http://schemas.openxmlformats.org/drawingml/2006/table">
            <a:tbl>
              <a:tblPr firstRow="1" bandRow="1">
                <a:tableStyleId>{5C22544A-7EE6-4342-B048-85BDC9FD1C3A}</a:tableStyleId>
              </a:tblPr>
              <a:tblGrid>
                <a:gridCol w="3504419">
                  <a:extLst>
                    <a:ext uri="{9D8B030D-6E8A-4147-A177-3AD203B41FA5}">
                      <a16:colId xmlns:a16="http://schemas.microsoft.com/office/drawing/2014/main" val="985535134"/>
                    </a:ext>
                  </a:extLst>
                </a:gridCol>
                <a:gridCol w="3250166">
                  <a:extLst>
                    <a:ext uri="{9D8B030D-6E8A-4147-A177-3AD203B41FA5}">
                      <a16:colId xmlns:a16="http://schemas.microsoft.com/office/drawing/2014/main" val="216443669"/>
                    </a:ext>
                  </a:extLst>
                </a:gridCol>
                <a:gridCol w="3102429">
                  <a:extLst>
                    <a:ext uri="{9D8B030D-6E8A-4147-A177-3AD203B41FA5}">
                      <a16:colId xmlns:a16="http://schemas.microsoft.com/office/drawing/2014/main" val="3519897098"/>
                    </a:ext>
                  </a:extLst>
                </a:gridCol>
                <a:gridCol w="1387927">
                  <a:extLst>
                    <a:ext uri="{9D8B030D-6E8A-4147-A177-3AD203B41FA5}">
                      <a16:colId xmlns:a16="http://schemas.microsoft.com/office/drawing/2014/main" val="4230006360"/>
                    </a:ext>
                  </a:extLst>
                </a:gridCol>
              </a:tblGrid>
              <a:tr h="0">
                <a:tc>
                  <a:txBody>
                    <a:bodyPr/>
                    <a:lstStyle/>
                    <a:p>
                      <a:r>
                        <a:rPr lang="en-US" sz="3200" dirty="0"/>
                        <a:t>Observed</a:t>
                      </a:r>
                    </a:p>
                  </a:txBody>
                  <a:tcPr/>
                </a:tc>
                <a:tc>
                  <a:txBody>
                    <a:bodyPr/>
                    <a:lstStyle/>
                    <a:p>
                      <a:r>
                        <a:rPr lang="en-US" sz="3200" dirty="0"/>
                        <a:t>No preeclampsia</a:t>
                      </a:r>
                    </a:p>
                  </a:txBody>
                  <a:tcPr/>
                </a:tc>
                <a:tc>
                  <a:txBody>
                    <a:bodyPr/>
                    <a:lstStyle/>
                    <a:p>
                      <a:r>
                        <a:rPr lang="en-US" sz="3200" dirty="0"/>
                        <a:t>Preterm preeclampsia</a:t>
                      </a:r>
                    </a:p>
                  </a:txBody>
                  <a:tcPr/>
                </a:tc>
                <a:tc>
                  <a:txBody>
                    <a:bodyPr/>
                    <a:lstStyle/>
                    <a:p>
                      <a:endParaRPr lang="en-US" sz="3200" dirty="0"/>
                    </a:p>
                  </a:txBody>
                  <a:tcPr/>
                </a:tc>
                <a:extLst>
                  <a:ext uri="{0D108BD9-81ED-4DB2-BD59-A6C34878D82A}">
                    <a16:rowId xmlns:a16="http://schemas.microsoft.com/office/drawing/2014/main" val="1261827436"/>
                  </a:ext>
                </a:extLst>
              </a:tr>
              <a:tr h="370840">
                <a:tc>
                  <a:txBody>
                    <a:bodyPr/>
                    <a:lstStyle/>
                    <a:p>
                      <a:r>
                        <a:rPr lang="en-US" sz="3200" dirty="0"/>
                        <a:t>BMI</a:t>
                      </a:r>
                    </a:p>
                  </a:txBody>
                  <a:tcPr/>
                </a:tc>
                <a:tc>
                  <a:txBody>
                    <a:bodyPr/>
                    <a:lstStyle/>
                    <a:p>
                      <a:endParaRPr lang="en-US" sz="3200" dirty="0"/>
                    </a:p>
                  </a:txBody>
                  <a:tcPr/>
                </a:tc>
                <a:tc>
                  <a:txBody>
                    <a:bodyPr/>
                    <a:lstStyle/>
                    <a:p>
                      <a:endParaRPr lang="en-US" sz="3200" dirty="0"/>
                    </a:p>
                  </a:txBody>
                  <a:tcPr/>
                </a:tc>
                <a:tc>
                  <a:txBody>
                    <a:bodyPr/>
                    <a:lstStyle/>
                    <a:p>
                      <a:r>
                        <a:rPr lang="en-US" sz="3200" dirty="0"/>
                        <a:t>total</a:t>
                      </a:r>
                    </a:p>
                  </a:txBody>
                  <a:tcPr/>
                </a:tc>
                <a:extLst>
                  <a:ext uri="{0D108BD9-81ED-4DB2-BD59-A6C34878D82A}">
                    <a16:rowId xmlns:a16="http://schemas.microsoft.com/office/drawing/2014/main" val="3373794671"/>
                  </a:ext>
                </a:extLst>
              </a:tr>
              <a:tr h="370840">
                <a:tc>
                  <a:txBody>
                    <a:bodyPr/>
                    <a:lstStyle/>
                    <a:p>
                      <a:r>
                        <a:rPr lang="en-US" sz="3200" dirty="0"/>
                        <a:t>   Normal (&lt;30)</a:t>
                      </a:r>
                    </a:p>
                  </a:txBody>
                  <a:tcPr/>
                </a:tc>
                <a:tc>
                  <a:txBody>
                    <a:bodyPr/>
                    <a:lstStyle/>
                    <a:p>
                      <a:r>
                        <a:rPr lang="en-US" sz="3200" dirty="0"/>
                        <a:t>68 (86.1%)</a:t>
                      </a:r>
                    </a:p>
                  </a:txBody>
                  <a:tcPr/>
                </a:tc>
                <a:tc>
                  <a:txBody>
                    <a:bodyPr/>
                    <a:lstStyle/>
                    <a:p>
                      <a:r>
                        <a:rPr lang="en-US" sz="3200" dirty="0"/>
                        <a:t>28 (60.9%)</a:t>
                      </a:r>
                    </a:p>
                  </a:txBody>
                  <a:tcPr/>
                </a:tc>
                <a:tc>
                  <a:txBody>
                    <a:bodyPr/>
                    <a:lstStyle/>
                    <a:p>
                      <a:r>
                        <a:rPr lang="en-US" sz="3200" dirty="0"/>
                        <a:t>96</a:t>
                      </a:r>
                    </a:p>
                  </a:txBody>
                  <a:tcPr/>
                </a:tc>
                <a:extLst>
                  <a:ext uri="{0D108BD9-81ED-4DB2-BD59-A6C34878D82A}">
                    <a16:rowId xmlns:a16="http://schemas.microsoft.com/office/drawing/2014/main" val="2501693320"/>
                  </a:ext>
                </a:extLst>
              </a:tr>
              <a:tr h="370840">
                <a:tc>
                  <a:txBody>
                    <a:bodyPr/>
                    <a:lstStyle/>
                    <a:p>
                      <a:r>
                        <a:rPr lang="en-US" sz="3200" dirty="0"/>
                        <a:t>   Obesity (&gt;=30, &lt;40)</a:t>
                      </a:r>
                    </a:p>
                  </a:txBody>
                  <a:tcPr/>
                </a:tc>
                <a:tc>
                  <a:txBody>
                    <a:bodyPr/>
                    <a:lstStyle/>
                    <a:p>
                      <a:r>
                        <a:rPr lang="en-US" sz="3200" dirty="0"/>
                        <a:t>8 (10.1%)</a:t>
                      </a:r>
                    </a:p>
                  </a:txBody>
                  <a:tcPr/>
                </a:tc>
                <a:tc>
                  <a:txBody>
                    <a:bodyPr/>
                    <a:lstStyle/>
                    <a:p>
                      <a:r>
                        <a:rPr lang="en-US" sz="3200" dirty="0"/>
                        <a:t>12 (26.1%)</a:t>
                      </a:r>
                    </a:p>
                  </a:txBody>
                  <a:tcPr/>
                </a:tc>
                <a:tc>
                  <a:txBody>
                    <a:bodyPr/>
                    <a:lstStyle/>
                    <a:p>
                      <a:r>
                        <a:rPr lang="en-US" sz="3200" dirty="0"/>
                        <a:t>20</a:t>
                      </a:r>
                    </a:p>
                  </a:txBody>
                  <a:tcPr/>
                </a:tc>
                <a:extLst>
                  <a:ext uri="{0D108BD9-81ED-4DB2-BD59-A6C34878D82A}">
                    <a16:rowId xmlns:a16="http://schemas.microsoft.com/office/drawing/2014/main" val="1384400671"/>
                  </a:ext>
                </a:extLst>
              </a:tr>
              <a:tr h="370840">
                <a:tc>
                  <a:txBody>
                    <a:bodyPr/>
                    <a:lstStyle/>
                    <a:p>
                      <a:r>
                        <a:rPr lang="en-US" sz="3200" dirty="0"/>
                        <a:t>   Morbid obesity (&gt;=40)</a:t>
                      </a:r>
                    </a:p>
                  </a:txBody>
                  <a:tcPr/>
                </a:tc>
                <a:tc>
                  <a:txBody>
                    <a:bodyPr/>
                    <a:lstStyle/>
                    <a:p>
                      <a:r>
                        <a:rPr lang="en-US" sz="3200" dirty="0"/>
                        <a:t>3 (3.8%)</a:t>
                      </a:r>
                    </a:p>
                  </a:txBody>
                  <a:tcPr/>
                </a:tc>
                <a:tc>
                  <a:txBody>
                    <a:bodyPr/>
                    <a:lstStyle/>
                    <a:p>
                      <a:r>
                        <a:rPr lang="en-US" sz="3200" dirty="0"/>
                        <a:t>6 (13.0%)</a:t>
                      </a:r>
                    </a:p>
                  </a:txBody>
                  <a:tcPr/>
                </a:tc>
                <a:tc>
                  <a:txBody>
                    <a:bodyPr/>
                    <a:lstStyle/>
                    <a:p>
                      <a:r>
                        <a:rPr lang="en-US" sz="3200" dirty="0"/>
                        <a:t>9</a:t>
                      </a:r>
                    </a:p>
                  </a:txBody>
                  <a:tcPr/>
                </a:tc>
                <a:extLst>
                  <a:ext uri="{0D108BD9-81ED-4DB2-BD59-A6C34878D82A}">
                    <a16:rowId xmlns:a16="http://schemas.microsoft.com/office/drawing/2014/main" val="145651733"/>
                  </a:ext>
                </a:extLst>
              </a:tr>
              <a:tr h="370840">
                <a:tc>
                  <a:txBody>
                    <a:bodyPr/>
                    <a:lstStyle/>
                    <a:p>
                      <a:r>
                        <a:rPr lang="en-US" sz="3200" dirty="0"/>
                        <a:t>total</a:t>
                      </a:r>
                    </a:p>
                  </a:txBody>
                  <a:tcPr/>
                </a:tc>
                <a:tc>
                  <a:txBody>
                    <a:bodyPr/>
                    <a:lstStyle/>
                    <a:p>
                      <a:r>
                        <a:rPr lang="en-US" sz="3200" dirty="0"/>
                        <a:t>79</a:t>
                      </a:r>
                    </a:p>
                  </a:txBody>
                  <a:tcPr/>
                </a:tc>
                <a:tc>
                  <a:txBody>
                    <a:bodyPr/>
                    <a:lstStyle/>
                    <a:p>
                      <a:r>
                        <a:rPr lang="en-US" sz="3200" dirty="0"/>
                        <a:t>46</a:t>
                      </a:r>
                    </a:p>
                  </a:txBody>
                  <a:tcPr/>
                </a:tc>
                <a:tc>
                  <a:txBody>
                    <a:bodyPr/>
                    <a:lstStyle/>
                    <a:p>
                      <a:endParaRPr lang="en-US" sz="3200" dirty="0"/>
                    </a:p>
                  </a:txBody>
                  <a:tcPr/>
                </a:tc>
                <a:extLst>
                  <a:ext uri="{0D108BD9-81ED-4DB2-BD59-A6C34878D82A}">
                    <a16:rowId xmlns:a16="http://schemas.microsoft.com/office/drawing/2014/main" val="3235631987"/>
                  </a:ext>
                </a:extLst>
              </a:tr>
            </a:tbl>
          </a:graphicData>
        </a:graphic>
      </p:graphicFrame>
    </p:spTree>
    <p:extLst>
      <p:ext uri="{BB962C8B-B14F-4D97-AF65-F5344CB8AC3E}">
        <p14:creationId xmlns:p14="http://schemas.microsoft.com/office/powerpoint/2010/main" val="527580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68050A-1849-7088-A37D-D97D9547FFD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958AB22-4202-06F5-0B50-E9170665DF9A}"/>
              </a:ext>
            </a:extLst>
          </p:cNvPr>
          <p:cNvSpPr>
            <a:spLocks noGrp="1"/>
          </p:cNvSpPr>
          <p:nvPr>
            <p:ph idx="1"/>
          </p:nvPr>
        </p:nvSpPr>
        <p:spPr/>
        <p:txBody>
          <a:bodyPr/>
          <a:lstStyle/>
          <a:p>
            <a:r>
              <a:rPr lang="en-US" dirty="0"/>
              <a:t>Expected Frequency=(Row Total/Grand Total)×(Column Total/Grand Total)×Grand Total=(Row </a:t>
            </a:r>
            <a:r>
              <a:rPr lang="en-US" dirty="0" err="1"/>
              <a:t>Total×Column</a:t>
            </a:r>
            <a:r>
              <a:rPr lang="en-US" dirty="0"/>
              <a:t> Total)/Grand Total</a:t>
            </a:r>
          </a:p>
        </p:txBody>
      </p:sp>
    </p:spTree>
    <p:extLst>
      <p:ext uri="{BB962C8B-B14F-4D97-AF65-F5344CB8AC3E}">
        <p14:creationId xmlns:p14="http://schemas.microsoft.com/office/powerpoint/2010/main" val="316586855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07896F-64DD-9291-B5AD-30228DF6DAA0}"/>
            </a:ext>
          </a:extLst>
        </p:cNvPr>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65E71999-3EB3-9049-73BC-59CF77306274}"/>
              </a:ext>
            </a:extLst>
          </p:cNvPr>
          <p:cNvGraphicFramePr>
            <a:graphicFrameLocks noGrp="1"/>
          </p:cNvGraphicFramePr>
          <p:nvPr>
            <p:ph idx="1"/>
            <p:extLst>
              <p:ext uri="{D42A27DB-BD31-4B8C-83A1-F6EECF244321}">
                <p14:modId xmlns:p14="http://schemas.microsoft.com/office/powerpoint/2010/main" val="2399700700"/>
              </p:ext>
            </p:extLst>
          </p:nvPr>
        </p:nvGraphicFramePr>
        <p:xfrm>
          <a:off x="473529" y="576943"/>
          <a:ext cx="11244941" cy="4937760"/>
        </p:xfrm>
        <a:graphic>
          <a:graphicData uri="http://schemas.openxmlformats.org/drawingml/2006/table">
            <a:tbl>
              <a:tblPr firstRow="1" bandRow="1">
                <a:tableStyleId>{5C22544A-7EE6-4342-B048-85BDC9FD1C3A}</a:tableStyleId>
              </a:tblPr>
              <a:tblGrid>
                <a:gridCol w="3504419">
                  <a:extLst>
                    <a:ext uri="{9D8B030D-6E8A-4147-A177-3AD203B41FA5}">
                      <a16:colId xmlns:a16="http://schemas.microsoft.com/office/drawing/2014/main" val="985535134"/>
                    </a:ext>
                  </a:extLst>
                </a:gridCol>
                <a:gridCol w="3250166">
                  <a:extLst>
                    <a:ext uri="{9D8B030D-6E8A-4147-A177-3AD203B41FA5}">
                      <a16:colId xmlns:a16="http://schemas.microsoft.com/office/drawing/2014/main" val="216443669"/>
                    </a:ext>
                  </a:extLst>
                </a:gridCol>
                <a:gridCol w="3102429">
                  <a:extLst>
                    <a:ext uri="{9D8B030D-6E8A-4147-A177-3AD203B41FA5}">
                      <a16:colId xmlns:a16="http://schemas.microsoft.com/office/drawing/2014/main" val="3519897098"/>
                    </a:ext>
                  </a:extLst>
                </a:gridCol>
                <a:gridCol w="1387927">
                  <a:extLst>
                    <a:ext uri="{9D8B030D-6E8A-4147-A177-3AD203B41FA5}">
                      <a16:colId xmlns:a16="http://schemas.microsoft.com/office/drawing/2014/main" val="4230006360"/>
                    </a:ext>
                  </a:extLst>
                </a:gridCol>
              </a:tblGrid>
              <a:tr h="0">
                <a:tc>
                  <a:txBody>
                    <a:bodyPr/>
                    <a:lstStyle/>
                    <a:p>
                      <a:r>
                        <a:rPr lang="en-US" sz="3200" dirty="0"/>
                        <a:t>Expected</a:t>
                      </a:r>
                    </a:p>
                  </a:txBody>
                  <a:tcPr/>
                </a:tc>
                <a:tc>
                  <a:txBody>
                    <a:bodyPr/>
                    <a:lstStyle/>
                    <a:p>
                      <a:r>
                        <a:rPr lang="en-US" sz="3200" dirty="0"/>
                        <a:t>No preeclampsia</a:t>
                      </a:r>
                    </a:p>
                  </a:txBody>
                  <a:tcPr/>
                </a:tc>
                <a:tc>
                  <a:txBody>
                    <a:bodyPr/>
                    <a:lstStyle/>
                    <a:p>
                      <a:r>
                        <a:rPr lang="en-US" sz="3200" dirty="0"/>
                        <a:t>Preterm preeclampsia</a:t>
                      </a:r>
                    </a:p>
                  </a:txBody>
                  <a:tcPr/>
                </a:tc>
                <a:tc>
                  <a:txBody>
                    <a:bodyPr/>
                    <a:lstStyle/>
                    <a:p>
                      <a:endParaRPr lang="en-US" sz="3200" dirty="0"/>
                    </a:p>
                  </a:txBody>
                  <a:tcPr/>
                </a:tc>
                <a:extLst>
                  <a:ext uri="{0D108BD9-81ED-4DB2-BD59-A6C34878D82A}">
                    <a16:rowId xmlns:a16="http://schemas.microsoft.com/office/drawing/2014/main" val="1261827436"/>
                  </a:ext>
                </a:extLst>
              </a:tr>
              <a:tr h="370840">
                <a:tc>
                  <a:txBody>
                    <a:bodyPr/>
                    <a:lstStyle/>
                    <a:p>
                      <a:r>
                        <a:rPr lang="en-US" sz="3200" dirty="0"/>
                        <a:t>BMI</a:t>
                      </a:r>
                    </a:p>
                  </a:txBody>
                  <a:tcPr/>
                </a:tc>
                <a:tc>
                  <a:txBody>
                    <a:bodyPr/>
                    <a:lstStyle/>
                    <a:p>
                      <a:endParaRPr lang="en-US" sz="3200" dirty="0"/>
                    </a:p>
                  </a:txBody>
                  <a:tcPr/>
                </a:tc>
                <a:tc>
                  <a:txBody>
                    <a:bodyPr/>
                    <a:lstStyle/>
                    <a:p>
                      <a:endParaRPr lang="en-US" sz="3200" dirty="0"/>
                    </a:p>
                  </a:txBody>
                  <a:tcPr/>
                </a:tc>
                <a:tc>
                  <a:txBody>
                    <a:bodyPr/>
                    <a:lstStyle/>
                    <a:p>
                      <a:r>
                        <a:rPr lang="en-US" sz="3200" dirty="0"/>
                        <a:t>total</a:t>
                      </a:r>
                    </a:p>
                  </a:txBody>
                  <a:tcPr/>
                </a:tc>
                <a:extLst>
                  <a:ext uri="{0D108BD9-81ED-4DB2-BD59-A6C34878D82A}">
                    <a16:rowId xmlns:a16="http://schemas.microsoft.com/office/drawing/2014/main" val="3373794671"/>
                  </a:ext>
                </a:extLst>
              </a:tr>
              <a:tr h="370840">
                <a:tc>
                  <a:txBody>
                    <a:bodyPr/>
                    <a:lstStyle/>
                    <a:p>
                      <a:r>
                        <a:rPr lang="en-US" sz="3200" dirty="0"/>
                        <a:t>   Normal (&lt;30)</a:t>
                      </a:r>
                    </a:p>
                  </a:txBody>
                  <a:tcPr/>
                </a:tc>
                <a:tc>
                  <a:txBody>
                    <a:bodyPr/>
                    <a:lstStyle/>
                    <a:p>
                      <a:r>
                        <a:rPr lang="en-US" sz="3200" dirty="0"/>
                        <a:t>60.672 (76.8%)</a:t>
                      </a:r>
                    </a:p>
                  </a:txBody>
                  <a:tcPr/>
                </a:tc>
                <a:tc>
                  <a:txBody>
                    <a:bodyPr/>
                    <a:lstStyle/>
                    <a:p>
                      <a:r>
                        <a:rPr lang="en-US" sz="3200" dirty="0"/>
                        <a:t>35.328 (76.8%)</a:t>
                      </a:r>
                    </a:p>
                  </a:txBody>
                  <a:tcPr/>
                </a:tc>
                <a:tc>
                  <a:txBody>
                    <a:bodyPr/>
                    <a:lstStyle/>
                    <a:p>
                      <a:r>
                        <a:rPr lang="en-US" sz="3200" dirty="0"/>
                        <a:t>96</a:t>
                      </a:r>
                    </a:p>
                  </a:txBody>
                  <a:tcPr/>
                </a:tc>
                <a:extLst>
                  <a:ext uri="{0D108BD9-81ED-4DB2-BD59-A6C34878D82A}">
                    <a16:rowId xmlns:a16="http://schemas.microsoft.com/office/drawing/2014/main" val="2501693320"/>
                  </a:ext>
                </a:extLst>
              </a:tr>
              <a:tr h="370840">
                <a:tc>
                  <a:txBody>
                    <a:bodyPr/>
                    <a:lstStyle/>
                    <a:p>
                      <a:r>
                        <a:rPr lang="en-US" sz="3200" dirty="0"/>
                        <a:t>   Obesity (&gt;=30, &lt;40)</a:t>
                      </a:r>
                    </a:p>
                  </a:txBody>
                  <a:tcPr/>
                </a:tc>
                <a:tc>
                  <a:txBody>
                    <a:bodyPr/>
                    <a:lstStyle/>
                    <a:p>
                      <a:r>
                        <a:rPr lang="en-US" sz="3200" dirty="0"/>
                        <a:t>12.64 (16.0%)</a:t>
                      </a:r>
                    </a:p>
                  </a:txBody>
                  <a:tcPr/>
                </a:tc>
                <a:tc>
                  <a:txBody>
                    <a:bodyPr/>
                    <a:lstStyle/>
                    <a:p>
                      <a:r>
                        <a:rPr lang="en-US" sz="3200" dirty="0"/>
                        <a:t>7.36 (16.0%)</a:t>
                      </a:r>
                    </a:p>
                  </a:txBody>
                  <a:tcPr/>
                </a:tc>
                <a:tc>
                  <a:txBody>
                    <a:bodyPr/>
                    <a:lstStyle/>
                    <a:p>
                      <a:r>
                        <a:rPr lang="en-US" sz="3200" dirty="0"/>
                        <a:t>20</a:t>
                      </a:r>
                    </a:p>
                  </a:txBody>
                  <a:tcPr/>
                </a:tc>
                <a:extLst>
                  <a:ext uri="{0D108BD9-81ED-4DB2-BD59-A6C34878D82A}">
                    <a16:rowId xmlns:a16="http://schemas.microsoft.com/office/drawing/2014/main" val="1384400671"/>
                  </a:ext>
                </a:extLst>
              </a:tr>
              <a:tr h="370840">
                <a:tc>
                  <a:txBody>
                    <a:bodyPr/>
                    <a:lstStyle/>
                    <a:p>
                      <a:r>
                        <a:rPr lang="en-US" sz="3200" dirty="0"/>
                        <a:t>   Morbid obesity (&gt;=40)</a:t>
                      </a:r>
                    </a:p>
                  </a:txBody>
                  <a:tcPr/>
                </a:tc>
                <a:tc>
                  <a:txBody>
                    <a:bodyPr/>
                    <a:lstStyle/>
                    <a:p>
                      <a:r>
                        <a:rPr lang="en-US" sz="3200" dirty="0"/>
                        <a:t>5.688 (7.2%)</a:t>
                      </a:r>
                    </a:p>
                  </a:txBody>
                  <a:tcPr/>
                </a:tc>
                <a:tc>
                  <a:txBody>
                    <a:bodyPr/>
                    <a:lstStyle/>
                    <a:p>
                      <a:r>
                        <a:rPr lang="en-US" sz="3200" dirty="0"/>
                        <a:t>3.312 (7.2%)</a:t>
                      </a:r>
                    </a:p>
                  </a:txBody>
                  <a:tcPr/>
                </a:tc>
                <a:tc>
                  <a:txBody>
                    <a:bodyPr/>
                    <a:lstStyle/>
                    <a:p>
                      <a:r>
                        <a:rPr lang="en-US" sz="3200" dirty="0"/>
                        <a:t>9</a:t>
                      </a:r>
                    </a:p>
                  </a:txBody>
                  <a:tcPr/>
                </a:tc>
                <a:extLst>
                  <a:ext uri="{0D108BD9-81ED-4DB2-BD59-A6C34878D82A}">
                    <a16:rowId xmlns:a16="http://schemas.microsoft.com/office/drawing/2014/main" val="145651733"/>
                  </a:ext>
                </a:extLst>
              </a:tr>
              <a:tr h="370840">
                <a:tc>
                  <a:txBody>
                    <a:bodyPr/>
                    <a:lstStyle/>
                    <a:p>
                      <a:r>
                        <a:rPr lang="en-US" sz="3200" dirty="0"/>
                        <a:t>total</a:t>
                      </a:r>
                    </a:p>
                  </a:txBody>
                  <a:tcPr/>
                </a:tc>
                <a:tc>
                  <a:txBody>
                    <a:bodyPr/>
                    <a:lstStyle/>
                    <a:p>
                      <a:r>
                        <a:rPr lang="en-US" sz="3200" dirty="0"/>
                        <a:t>79</a:t>
                      </a:r>
                    </a:p>
                  </a:txBody>
                  <a:tcPr/>
                </a:tc>
                <a:tc>
                  <a:txBody>
                    <a:bodyPr/>
                    <a:lstStyle/>
                    <a:p>
                      <a:r>
                        <a:rPr lang="en-US" sz="3200" dirty="0"/>
                        <a:t>46</a:t>
                      </a:r>
                    </a:p>
                  </a:txBody>
                  <a:tcPr/>
                </a:tc>
                <a:tc>
                  <a:txBody>
                    <a:bodyPr/>
                    <a:lstStyle/>
                    <a:p>
                      <a:endParaRPr lang="en-US" sz="3200" dirty="0"/>
                    </a:p>
                  </a:txBody>
                  <a:tcPr/>
                </a:tc>
                <a:extLst>
                  <a:ext uri="{0D108BD9-81ED-4DB2-BD59-A6C34878D82A}">
                    <a16:rowId xmlns:a16="http://schemas.microsoft.com/office/drawing/2014/main" val="3235631987"/>
                  </a:ext>
                </a:extLst>
              </a:tr>
            </a:tbl>
          </a:graphicData>
        </a:graphic>
      </p:graphicFrame>
    </p:spTree>
    <p:extLst>
      <p:ext uri="{BB962C8B-B14F-4D97-AF65-F5344CB8AC3E}">
        <p14:creationId xmlns:p14="http://schemas.microsoft.com/office/powerpoint/2010/main" val="210802950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81980C47-C189-80F8-3C6B-F3E8FE6BBCC1}"/>
              </a:ext>
            </a:extLst>
          </p:cNvPr>
          <p:cNvGraphicFramePr>
            <a:graphicFrameLocks/>
          </p:cNvGraphicFramePr>
          <p:nvPr>
            <p:extLst>
              <p:ext uri="{D42A27DB-BD31-4B8C-83A1-F6EECF244321}">
                <p14:modId xmlns:p14="http://schemas.microsoft.com/office/powerpoint/2010/main" val="964367271"/>
              </p:ext>
            </p:extLst>
          </p:nvPr>
        </p:nvGraphicFramePr>
        <p:xfrm>
          <a:off x="1039587" y="228600"/>
          <a:ext cx="9857014" cy="2651760"/>
        </p:xfrm>
        <a:graphic>
          <a:graphicData uri="http://schemas.openxmlformats.org/drawingml/2006/table">
            <a:tbl>
              <a:tblPr firstRow="1" bandRow="1">
                <a:tableStyleId>{5C22544A-7EE6-4342-B048-85BDC9FD1C3A}</a:tableStyleId>
              </a:tblPr>
              <a:tblGrid>
                <a:gridCol w="3504419">
                  <a:extLst>
                    <a:ext uri="{9D8B030D-6E8A-4147-A177-3AD203B41FA5}">
                      <a16:colId xmlns:a16="http://schemas.microsoft.com/office/drawing/2014/main" val="985535134"/>
                    </a:ext>
                  </a:extLst>
                </a:gridCol>
                <a:gridCol w="3250166">
                  <a:extLst>
                    <a:ext uri="{9D8B030D-6E8A-4147-A177-3AD203B41FA5}">
                      <a16:colId xmlns:a16="http://schemas.microsoft.com/office/drawing/2014/main" val="216443669"/>
                    </a:ext>
                  </a:extLst>
                </a:gridCol>
                <a:gridCol w="3102429">
                  <a:extLst>
                    <a:ext uri="{9D8B030D-6E8A-4147-A177-3AD203B41FA5}">
                      <a16:colId xmlns:a16="http://schemas.microsoft.com/office/drawing/2014/main" val="3519897098"/>
                    </a:ext>
                  </a:extLst>
                </a:gridCol>
              </a:tblGrid>
              <a:tr h="0">
                <a:tc>
                  <a:txBody>
                    <a:bodyPr/>
                    <a:lstStyle/>
                    <a:p>
                      <a:r>
                        <a:rPr lang="en-US" sz="2400" dirty="0"/>
                        <a:t>Observed</a:t>
                      </a:r>
                    </a:p>
                  </a:txBody>
                  <a:tcPr/>
                </a:tc>
                <a:tc>
                  <a:txBody>
                    <a:bodyPr/>
                    <a:lstStyle/>
                    <a:p>
                      <a:r>
                        <a:rPr lang="en-US" sz="2400" dirty="0"/>
                        <a:t>No preeclampsia</a:t>
                      </a:r>
                    </a:p>
                  </a:txBody>
                  <a:tcPr/>
                </a:tc>
                <a:tc>
                  <a:txBody>
                    <a:bodyPr/>
                    <a:lstStyle/>
                    <a:p>
                      <a:r>
                        <a:rPr lang="en-US" sz="2400" dirty="0"/>
                        <a:t>Preterm preeclampsia</a:t>
                      </a:r>
                    </a:p>
                  </a:txBody>
                  <a:tcPr/>
                </a:tc>
                <a:extLst>
                  <a:ext uri="{0D108BD9-81ED-4DB2-BD59-A6C34878D82A}">
                    <a16:rowId xmlns:a16="http://schemas.microsoft.com/office/drawing/2014/main" val="1261827436"/>
                  </a:ext>
                </a:extLst>
              </a:tr>
              <a:tr h="370840">
                <a:tc>
                  <a:txBody>
                    <a:bodyPr/>
                    <a:lstStyle/>
                    <a:p>
                      <a:r>
                        <a:rPr lang="en-US" sz="2400" dirty="0"/>
                        <a:t>BMI</a:t>
                      </a:r>
                    </a:p>
                  </a:txBody>
                  <a:tcPr/>
                </a:tc>
                <a:tc>
                  <a:txBody>
                    <a:bodyPr/>
                    <a:lstStyle/>
                    <a:p>
                      <a:endParaRPr lang="en-US" sz="2400" dirty="0"/>
                    </a:p>
                  </a:txBody>
                  <a:tcPr/>
                </a:tc>
                <a:tc>
                  <a:txBody>
                    <a:bodyPr/>
                    <a:lstStyle/>
                    <a:p>
                      <a:endParaRPr lang="en-US" sz="2400" dirty="0"/>
                    </a:p>
                  </a:txBody>
                  <a:tcPr/>
                </a:tc>
                <a:extLst>
                  <a:ext uri="{0D108BD9-81ED-4DB2-BD59-A6C34878D82A}">
                    <a16:rowId xmlns:a16="http://schemas.microsoft.com/office/drawing/2014/main" val="3373794671"/>
                  </a:ext>
                </a:extLst>
              </a:tr>
              <a:tr h="370840">
                <a:tc>
                  <a:txBody>
                    <a:bodyPr/>
                    <a:lstStyle/>
                    <a:p>
                      <a:r>
                        <a:rPr lang="en-US" sz="2400" dirty="0"/>
                        <a:t>   Normal </a:t>
                      </a:r>
                    </a:p>
                  </a:txBody>
                  <a:tcPr/>
                </a:tc>
                <a:tc>
                  <a:txBody>
                    <a:bodyPr/>
                    <a:lstStyle/>
                    <a:p>
                      <a:r>
                        <a:rPr lang="en-US" sz="2400" dirty="0"/>
                        <a:t>68 (86.1%)</a:t>
                      </a:r>
                    </a:p>
                  </a:txBody>
                  <a:tcPr/>
                </a:tc>
                <a:tc>
                  <a:txBody>
                    <a:bodyPr/>
                    <a:lstStyle/>
                    <a:p>
                      <a:r>
                        <a:rPr lang="en-US" sz="2400" dirty="0"/>
                        <a:t>28 (60.9%)</a:t>
                      </a:r>
                    </a:p>
                  </a:txBody>
                  <a:tcPr/>
                </a:tc>
                <a:extLst>
                  <a:ext uri="{0D108BD9-81ED-4DB2-BD59-A6C34878D82A}">
                    <a16:rowId xmlns:a16="http://schemas.microsoft.com/office/drawing/2014/main" val="2501693320"/>
                  </a:ext>
                </a:extLst>
              </a:tr>
              <a:tr h="370840">
                <a:tc>
                  <a:txBody>
                    <a:bodyPr/>
                    <a:lstStyle/>
                    <a:p>
                      <a:r>
                        <a:rPr lang="en-US" sz="2400" dirty="0"/>
                        <a:t>   Obesity </a:t>
                      </a:r>
                    </a:p>
                  </a:txBody>
                  <a:tcPr/>
                </a:tc>
                <a:tc>
                  <a:txBody>
                    <a:bodyPr/>
                    <a:lstStyle/>
                    <a:p>
                      <a:r>
                        <a:rPr lang="en-US" sz="2400" dirty="0"/>
                        <a:t>8 (10.1%)</a:t>
                      </a:r>
                    </a:p>
                  </a:txBody>
                  <a:tcPr/>
                </a:tc>
                <a:tc>
                  <a:txBody>
                    <a:bodyPr/>
                    <a:lstStyle/>
                    <a:p>
                      <a:r>
                        <a:rPr lang="en-US" sz="2400" dirty="0"/>
                        <a:t>12 (26.1%)</a:t>
                      </a:r>
                    </a:p>
                  </a:txBody>
                  <a:tcPr/>
                </a:tc>
                <a:extLst>
                  <a:ext uri="{0D108BD9-81ED-4DB2-BD59-A6C34878D82A}">
                    <a16:rowId xmlns:a16="http://schemas.microsoft.com/office/drawing/2014/main" val="1384400671"/>
                  </a:ext>
                </a:extLst>
              </a:tr>
              <a:tr h="370840">
                <a:tc>
                  <a:txBody>
                    <a:bodyPr/>
                    <a:lstStyle/>
                    <a:p>
                      <a:r>
                        <a:rPr lang="en-US" sz="2400" dirty="0"/>
                        <a:t>   Morbid obesity </a:t>
                      </a:r>
                    </a:p>
                  </a:txBody>
                  <a:tcPr/>
                </a:tc>
                <a:tc>
                  <a:txBody>
                    <a:bodyPr/>
                    <a:lstStyle/>
                    <a:p>
                      <a:r>
                        <a:rPr lang="en-US" sz="2400" dirty="0"/>
                        <a:t>3 (3.8%)</a:t>
                      </a:r>
                    </a:p>
                  </a:txBody>
                  <a:tcPr/>
                </a:tc>
                <a:tc>
                  <a:txBody>
                    <a:bodyPr/>
                    <a:lstStyle/>
                    <a:p>
                      <a:r>
                        <a:rPr lang="en-US" sz="2400" dirty="0"/>
                        <a:t>6 (13.0%)</a:t>
                      </a:r>
                    </a:p>
                  </a:txBody>
                  <a:tcPr/>
                </a:tc>
                <a:extLst>
                  <a:ext uri="{0D108BD9-81ED-4DB2-BD59-A6C34878D82A}">
                    <a16:rowId xmlns:a16="http://schemas.microsoft.com/office/drawing/2014/main" val="145651733"/>
                  </a:ext>
                </a:extLst>
              </a:tr>
            </a:tbl>
          </a:graphicData>
        </a:graphic>
      </p:graphicFrame>
      <p:graphicFrame>
        <p:nvGraphicFramePr>
          <p:cNvPr id="5" name="Content Placeholder 3">
            <a:extLst>
              <a:ext uri="{FF2B5EF4-FFF2-40B4-BE49-F238E27FC236}">
                <a16:creationId xmlns:a16="http://schemas.microsoft.com/office/drawing/2014/main" id="{8CFBB345-532E-65AB-C178-667C979F550A}"/>
              </a:ext>
            </a:extLst>
          </p:cNvPr>
          <p:cNvGraphicFramePr>
            <a:graphicFrameLocks noGrp="1"/>
          </p:cNvGraphicFramePr>
          <p:nvPr>
            <p:ph idx="1"/>
            <p:extLst>
              <p:ext uri="{D42A27DB-BD31-4B8C-83A1-F6EECF244321}">
                <p14:modId xmlns:p14="http://schemas.microsoft.com/office/powerpoint/2010/main" val="3966860226"/>
              </p:ext>
            </p:extLst>
          </p:nvPr>
        </p:nvGraphicFramePr>
        <p:xfrm>
          <a:off x="1039587" y="3744686"/>
          <a:ext cx="9857014" cy="2651760"/>
        </p:xfrm>
        <a:graphic>
          <a:graphicData uri="http://schemas.openxmlformats.org/drawingml/2006/table">
            <a:tbl>
              <a:tblPr firstRow="1" bandRow="1">
                <a:tableStyleId>{21E4AEA4-8DFA-4A89-87EB-49C32662AFE0}</a:tableStyleId>
              </a:tblPr>
              <a:tblGrid>
                <a:gridCol w="3504419">
                  <a:extLst>
                    <a:ext uri="{9D8B030D-6E8A-4147-A177-3AD203B41FA5}">
                      <a16:colId xmlns:a16="http://schemas.microsoft.com/office/drawing/2014/main" val="985535134"/>
                    </a:ext>
                  </a:extLst>
                </a:gridCol>
                <a:gridCol w="3250166">
                  <a:extLst>
                    <a:ext uri="{9D8B030D-6E8A-4147-A177-3AD203B41FA5}">
                      <a16:colId xmlns:a16="http://schemas.microsoft.com/office/drawing/2014/main" val="216443669"/>
                    </a:ext>
                  </a:extLst>
                </a:gridCol>
                <a:gridCol w="3102429">
                  <a:extLst>
                    <a:ext uri="{9D8B030D-6E8A-4147-A177-3AD203B41FA5}">
                      <a16:colId xmlns:a16="http://schemas.microsoft.com/office/drawing/2014/main" val="3519897098"/>
                    </a:ext>
                  </a:extLst>
                </a:gridCol>
              </a:tblGrid>
              <a:tr h="0">
                <a:tc>
                  <a:txBody>
                    <a:bodyPr/>
                    <a:lstStyle/>
                    <a:p>
                      <a:r>
                        <a:rPr lang="en-US" sz="2400" dirty="0"/>
                        <a:t>Expected</a:t>
                      </a:r>
                    </a:p>
                  </a:txBody>
                  <a:tcPr/>
                </a:tc>
                <a:tc>
                  <a:txBody>
                    <a:bodyPr/>
                    <a:lstStyle/>
                    <a:p>
                      <a:r>
                        <a:rPr lang="en-US" sz="2400" dirty="0"/>
                        <a:t>No preeclampsia</a:t>
                      </a:r>
                    </a:p>
                  </a:txBody>
                  <a:tcPr/>
                </a:tc>
                <a:tc>
                  <a:txBody>
                    <a:bodyPr/>
                    <a:lstStyle/>
                    <a:p>
                      <a:r>
                        <a:rPr lang="en-US" sz="2400" dirty="0"/>
                        <a:t>Preterm preeclampsia</a:t>
                      </a:r>
                    </a:p>
                  </a:txBody>
                  <a:tcPr/>
                </a:tc>
                <a:extLst>
                  <a:ext uri="{0D108BD9-81ED-4DB2-BD59-A6C34878D82A}">
                    <a16:rowId xmlns:a16="http://schemas.microsoft.com/office/drawing/2014/main" val="1261827436"/>
                  </a:ext>
                </a:extLst>
              </a:tr>
              <a:tr h="370840">
                <a:tc>
                  <a:txBody>
                    <a:bodyPr/>
                    <a:lstStyle/>
                    <a:p>
                      <a:r>
                        <a:rPr lang="en-US" sz="2400" dirty="0"/>
                        <a:t>BMI</a:t>
                      </a:r>
                    </a:p>
                  </a:txBody>
                  <a:tcPr/>
                </a:tc>
                <a:tc>
                  <a:txBody>
                    <a:bodyPr/>
                    <a:lstStyle/>
                    <a:p>
                      <a:endParaRPr lang="en-US" sz="2400" dirty="0"/>
                    </a:p>
                  </a:txBody>
                  <a:tcPr/>
                </a:tc>
                <a:tc>
                  <a:txBody>
                    <a:bodyPr/>
                    <a:lstStyle/>
                    <a:p>
                      <a:endParaRPr lang="en-US" sz="2400" dirty="0"/>
                    </a:p>
                  </a:txBody>
                  <a:tcPr/>
                </a:tc>
                <a:extLst>
                  <a:ext uri="{0D108BD9-81ED-4DB2-BD59-A6C34878D82A}">
                    <a16:rowId xmlns:a16="http://schemas.microsoft.com/office/drawing/2014/main" val="3373794671"/>
                  </a:ext>
                </a:extLst>
              </a:tr>
              <a:tr h="370840">
                <a:tc>
                  <a:txBody>
                    <a:bodyPr/>
                    <a:lstStyle/>
                    <a:p>
                      <a:r>
                        <a:rPr lang="en-US" sz="2400" dirty="0"/>
                        <a:t>   Normal </a:t>
                      </a:r>
                    </a:p>
                  </a:txBody>
                  <a:tcPr/>
                </a:tc>
                <a:tc>
                  <a:txBody>
                    <a:bodyPr/>
                    <a:lstStyle/>
                    <a:p>
                      <a:r>
                        <a:rPr lang="en-US" sz="2400" dirty="0"/>
                        <a:t>61 (76.8%)</a:t>
                      </a:r>
                    </a:p>
                  </a:txBody>
                  <a:tcPr/>
                </a:tc>
                <a:tc>
                  <a:txBody>
                    <a:bodyPr/>
                    <a:lstStyle/>
                    <a:p>
                      <a:r>
                        <a:rPr lang="en-US" sz="2400" dirty="0"/>
                        <a:t>36 (76.8%)</a:t>
                      </a:r>
                    </a:p>
                  </a:txBody>
                  <a:tcPr/>
                </a:tc>
                <a:extLst>
                  <a:ext uri="{0D108BD9-81ED-4DB2-BD59-A6C34878D82A}">
                    <a16:rowId xmlns:a16="http://schemas.microsoft.com/office/drawing/2014/main" val="2501693320"/>
                  </a:ext>
                </a:extLst>
              </a:tr>
              <a:tr h="370840">
                <a:tc>
                  <a:txBody>
                    <a:bodyPr/>
                    <a:lstStyle/>
                    <a:p>
                      <a:r>
                        <a:rPr lang="en-US" sz="2400" dirty="0"/>
                        <a:t>   Obesity </a:t>
                      </a:r>
                    </a:p>
                  </a:txBody>
                  <a:tcPr/>
                </a:tc>
                <a:tc>
                  <a:txBody>
                    <a:bodyPr/>
                    <a:lstStyle/>
                    <a:p>
                      <a:r>
                        <a:rPr lang="en-US" sz="2400" dirty="0"/>
                        <a:t>13 (16.0%)</a:t>
                      </a:r>
                    </a:p>
                  </a:txBody>
                  <a:tcPr/>
                </a:tc>
                <a:tc>
                  <a:txBody>
                    <a:bodyPr/>
                    <a:lstStyle/>
                    <a:p>
                      <a:r>
                        <a:rPr lang="en-US" sz="2400" dirty="0"/>
                        <a:t>7 (16.0%)</a:t>
                      </a:r>
                    </a:p>
                  </a:txBody>
                  <a:tcPr/>
                </a:tc>
                <a:extLst>
                  <a:ext uri="{0D108BD9-81ED-4DB2-BD59-A6C34878D82A}">
                    <a16:rowId xmlns:a16="http://schemas.microsoft.com/office/drawing/2014/main" val="1384400671"/>
                  </a:ext>
                </a:extLst>
              </a:tr>
              <a:tr h="370840">
                <a:tc>
                  <a:txBody>
                    <a:bodyPr/>
                    <a:lstStyle/>
                    <a:p>
                      <a:r>
                        <a:rPr lang="en-US" sz="2400" dirty="0"/>
                        <a:t>   Morbid obesity </a:t>
                      </a:r>
                    </a:p>
                  </a:txBody>
                  <a:tcPr/>
                </a:tc>
                <a:tc>
                  <a:txBody>
                    <a:bodyPr/>
                    <a:lstStyle/>
                    <a:p>
                      <a:r>
                        <a:rPr lang="en-US" sz="2400" dirty="0"/>
                        <a:t>6 (7.2%)</a:t>
                      </a:r>
                    </a:p>
                  </a:txBody>
                  <a:tcPr/>
                </a:tc>
                <a:tc>
                  <a:txBody>
                    <a:bodyPr/>
                    <a:lstStyle/>
                    <a:p>
                      <a:r>
                        <a:rPr lang="en-US" sz="2400" dirty="0"/>
                        <a:t>3 (7.2%)</a:t>
                      </a:r>
                    </a:p>
                  </a:txBody>
                  <a:tcPr/>
                </a:tc>
                <a:extLst>
                  <a:ext uri="{0D108BD9-81ED-4DB2-BD59-A6C34878D82A}">
                    <a16:rowId xmlns:a16="http://schemas.microsoft.com/office/drawing/2014/main" val="145651733"/>
                  </a:ext>
                </a:extLst>
              </a:tr>
            </a:tbl>
          </a:graphicData>
        </a:graphic>
      </p:graphicFrame>
      <p:sp>
        <p:nvSpPr>
          <p:cNvPr id="6" name="TextBox 5">
            <a:extLst>
              <a:ext uri="{FF2B5EF4-FFF2-40B4-BE49-F238E27FC236}">
                <a16:creationId xmlns:a16="http://schemas.microsoft.com/office/drawing/2014/main" id="{91B8E062-FF9F-8C89-F6C4-CCC1340AB5A1}"/>
              </a:ext>
            </a:extLst>
          </p:cNvPr>
          <p:cNvSpPr txBox="1"/>
          <p:nvPr/>
        </p:nvSpPr>
        <p:spPr>
          <a:xfrm>
            <a:off x="1039587" y="3050913"/>
            <a:ext cx="6628161" cy="523220"/>
          </a:xfrm>
          <a:prstGeom prst="rect">
            <a:avLst/>
          </a:prstGeom>
          <a:noFill/>
        </p:spPr>
        <p:txBody>
          <a:bodyPr wrap="none" rtlCol="0">
            <a:spAutoFit/>
          </a:bodyPr>
          <a:lstStyle/>
          <a:p>
            <a:r>
              <a:rPr lang="en-US" sz="2800" dirty="0"/>
              <a:t>If BMI and Preeclampsia are independent:</a:t>
            </a:r>
          </a:p>
        </p:txBody>
      </p:sp>
    </p:spTree>
    <p:extLst>
      <p:ext uri="{BB962C8B-B14F-4D97-AF65-F5344CB8AC3E}">
        <p14:creationId xmlns:p14="http://schemas.microsoft.com/office/powerpoint/2010/main" val="369169675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26014-B521-7EE8-5746-1F96399156BD}"/>
            </a:ext>
          </a:extLst>
        </p:cNvPr>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032A6F37-908C-8328-812D-6C40826C5604}"/>
              </a:ext>
            </a:extLst>
          </p:cNvPr>
          <p:cNvGraphicFramePr>
            <a:graphicFrameLocks noGrp="1"/>
          </p:cNvGraphicFramePr>
          <p:nvPr>
            <p:ph idx="1"/>
            <p:extLst>
              <p:ext uri="{D42A27DB-BD31-4B8C-83A1-F6EECF244321}">
                <p14:modId xmlns:p14="http://schemas.microsoft.com/office/powerpoint/2010/main" val="4051606187"/>
              </p:ext>
            </p:extLst>
          </p:nvPr>
        </p:nvGraphicFramePr>
        <p:xfrm>
          <a:off x="473529" y="576943"/>
          <a:ext cx="11244942" cy="3779520"/>
        </p:xfrm>
        <a:graphic>
          <a:graphicData uri="http://schemas.openxmlformats.org/drawingml/2006/table">
            <a:tbl>
              <a:tblPr firstRow="1" bandRow="1">
                <a:tableStyleId>{5C22544A-7EE6-4342-B048-85BDC9FD1C3A}</a:tableStyleId>
              </a:tblPr>
              <a:tblGrid>
                <a:gridCol w="4762500">
                  <a:extLst>
                    <a:ext uri="{9D8B030D-6E8A-4147-A177-3AD203B41FA5}">
                      <a16:colId xmlns:a16="http://schemas.microsoft.com/office/drawing/2014/main" val="985535134"/>
                    </a:ext>
                  </a:extLst>
                </a:gridCol>
                <a:gridCol w="3396342">
                  <a:extLst>
                    <a:ext uri="{9D8B030D-6E8A-4147-A177-3AD203B41FA5}">
                      <a16:colId xmlns:a16="http://schemas.microsoft.com/office/drawing/2014/main" val="216443669"/>
                    </a:ext>
                  </a:extLst>
                </a:gridCol>
                <a:gridCol w="3086100">
                  <a:extLst>
                    <a:ext uri="{9D8B030D-6E8A-4147-A177-3AD203B41FA5}">
                      <a16:colId xmlns:a16="http://schemas.microsoft.com/office/drawing/2014/main" val="3519897098"/>
                    </a:ext>
                  </a:extLst>
                </a:gridCol>
              </a:tblGrid>
              <a:tr h="370840">
                <a:tc>
                  <a:txBody>
                    <a:bodyPr/>
                    <a:lstStyle/>
                    <a:p>
                      <a:r>
                        <a:rPr lang="en-US" sz="3200" dirty="0"/>
                        <a:t>Variables</a:t>
                      </a:r>
                    </a:p>
                  </a:txBody>
                  <a:tcPr/>
                </a:tc>
                <a:tc>
                  <a:txBody>
                    <a:bodyPr/>
                    <a:lstStyle/>
                    <a:p>
                      <a:r>
                        <a:rPr lang="en-US" sz="3200" dirty="0"/>
                        <a:t>No preeclampsia</a:t>
                      </a:r>
                    </a:p>
                    <a:p>
                      <a:r>
                        <a:rPr lang="en-US" sz="3200" dirty="0"/>
                        <a:t>n=79</a:t>
                      </a:r>
                    </a:p>
                    <a:p>
                      <a:endParaRPr lang="en-US" sz="3200" dirty="0"/>
                    </a:p>
                  </a:txBody>
                  <a:tcPr/>
                </a:tc>
                <a:tc>
                  <a:txBody>
                    <a:bodyPr/>
                    <a:lstStyle/>
                    <a:p>
                      <a:r>
                        <a:rPr lang="en-US" sz="3200" dirty="0"/>
                        <a:t>Preterm preeclampsia</a:t>
                      </a:r>
                    </a:p>
                    <a:p>
                      <a:r>
                        <a:rPr lang="en-US" sz="3200" dirty="0"/>
                        <a:t>n=46</a:t>
                      </a:r>
                    </a:p>
                  </a:txBody>
                  <a:tcPr/>
                </a:tc>
                <a:extLst>
                  <a:ext uri="{0D108BD9-81ED-4DB2-BD59-A6C34878D82A}">
                    <a16:rowId xmlns:a16="http://schemas.microsoft.com/office/drawing/2014/main" val="1261827436"/>
                  </a:ext>
                </a:extLst>
              </a:tr>
              <a:tr h="370840">
                <a:tc>
                  <a:txBody>
                    <a:bodyPr/>
                    <a:lstStyle/>
                    <a:p>
                      <a:r>
                        <a:rPr lang="en-US" sz="3200" dirty="0"/>
                        <a:t>BMI</a:t>
                      </a:r>
                    </a:p>
                  </a:txBody>
                  <a:tcPr/>
                </a:tc>
                <a:tc>
                  <a:txBody>
                    <a:bodyPr/>
                    <a:lstStyle/>
                    <a:p>
                      <a:endParaRPr lang="en-US" sz="3200" dirty="0"/>
                    </a:p>
                  </a:txBody>
                  <a:tcPr/>
                </a:tc>
                <a:tc>
                  <a:txBody>
                    <a:bodyPr/>
                    <a:lstStyle/>
                    <a:p>
                      <a:endParaRPr lang="en-US" sz="3200" dirty="0"/>
                    </a:p>
                  </a:txBody>
                  <a:tcPr/>
                </a:tc>
                <a:extLst>
                  <a:ext uri="{0D108BD9-81ED-4DB2-BD59-A6C34878D82A}">
                    <a16:rowId xmlns:a16="http://schemas.microsoft.com/office/drawing/2014/main" val="3373794671"/>
                  </a:ext>
                </a:extLst>
              </a:tr>
              <a:tr h="370840">
                <a:tc>
                  <a:txBody>
                    <a:bodyPr/>
                    <a:lstStyle/>
                    <a:p>
                      <a:r>
                        <a:rPr lang="en-US" sz="3200" dirty="0"/>
                        <a:t>   Normal (&lt;30)</a:t>
                      </a:r>
                    </a:p>
                  </a:txBody>
                  <a:tcPr/>
                </a:tc>
                <a:tc>
                  <a:txBody>
                    <a:bodyPr/>
                    <a:lstStyle/>
                    <a:p>
                      <a:r>
                        <a:rPr lang="en-US" sz="3200" dirty="0"/>
                        <a:t>68 (86.1%)</a:t>
                      </a:r>
                    </a:p>
                  </a:txBody>
                  <a:tcPr/>
                </a:tc>
                <a:tc>
                  <a:txBody>
                    <a:bodyPr/>
                    <a:lstStyle/>
                    <a:p>
                      <a:r>
                        <a:rPr lang="en-US" sz="3200" dirty="0"/>
                        <a:t>28 (60.9%)</a:t>
                      </a:r>
                    </a:p>
                  </a:txBody>
                  <a:tcPr/>
                </a:tc>
                <a:extLst>
                  <a:ext uri="{0D108BD9-81ED-4DB2-BD59-A6C34878D82A}">
                    <a16:rowId xmlns:a16="http://schemas.microsoft.com/office/drawing/2014/main" val="2501693320"/>
                  </a:ext>
                </a:extLst>
              </a:tr>
              <a:tr h="370840">
                <a:tc>
                  <a:txBody>
                    <a:bodyPr/>
                    <a:lstStyle/>
                    <a:p>
                      <a:r>
                        <a:rPr lang="en-US" sz="3200" dirty="0"/>
                        <a:t>   Obesity or morbid obesity (&gt;=30)</a:t>
                      </a:r>
                    </a:p>
                  </a:txBody>
                  <a:tcPr/>
                </a:tc>
                <a:tc>
                  <a:txBody>
                    <a:bodyPr/>
                    <a:lstStyle/>
                    <a:p>
                      <a:r>
                        <a:rPr lang="en-US" sz="3200" dirty="0"/>
                        <a:t>11 (13.9%)</a:t>
                      </a:r>
                    </a:p>
                  </a:txBody>
                  <a:tcPr/>
                </a:tc>
                <a:tc>
                  <a:txBody>
                    <a:bodyPr/>
                    <a:lstStyle/>
                    <a:p>
                      <a:r>
                        <a:rPr lang="en-US" sz="3200" dirty="0"/>
                        <a:t>18 (39.1%)</a:t>
                      </a:r>
                    </a:p>
                  </a:txBody>
                  <a:tcPr/>
                </a:tc>
                <a:extLst>
                  <a:ext uri="{0D108BD9-81ED-4DB2-BD59-A6C34878D82A}">
                    <a16:rowId xmlns:a16="http://schemas.microsoft.com/office/drawing/2014/main" val="1384400671"/>
                  </a:ext>
                </a:extLst>
              </a:tr>
            </a:tbl>
          </a:graphicData>
        </a:graphic>
      </p:graphicFrame>
    </p:spTree>
    <p:extLst>
      <p:ext uri="{BB962C8B-B14F-4D97-AF65-F5344CB8AC3E}">
        <p14:creationId xmlns:p14="http://schemas.microsoft.com/office/powerpoint/2010/main" val="340539459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screenshot of a computer screen&#10;&#10;Description automatically generated">
            <a:extLst>
              <a:ext uri="{FF2B5EF4-FFF2-40B4-BE49-F238E27FC236}">
                <a16:creationId xmlns:a16="http://schemas.microsoft.com/office/drawing/2014/main" id="{E0CEB0C4-E742-7CA7-268C-DED5EAD4F488}"/>
              </a:ext>
            </a:extLst>
          </p:cNvPr>
          <p:cNvPicPr>
            <a:picLocks noGrp="1" noChangeAspect="1"/>
          </p:cNvPicPr>
          <p:nvPr>
            <p:ph idx="1"/>
          </p:nvPr>
        </p:nvPicPr>
        <p:blipFill>
          <a:blip r:embed="rId2"/>
          <a:srcRect t="16861" r="54116"/>
          <a:stretch/>
        </p:blipFill>
        <p:spPr>
          <a:xfrm>
            <a:off x="791377" y="1349827"/>
            <a:ext cx="5587652" cy="3113314"/>
          </a:xfrm>
          <a:prstGeom prst="rect">
            <a:avLst/>
          </a:prstGeom>
        </p:spPr>
      </p:pic>
      <p:pic>
        <p:nvPicPr>
          <p:cNvPr id="6" name="Content Placeholder 4" descr="A screenshot of a computer screen&#10;&#10;Description automatically generated">
            <a:extLst>
              <a:ext uri="{FF2B5EF4-FFF2-40B4-BE49-F238E27FC236}">
                <a16:creationId xmlns:a16="http://schemas.microsoft.com/office/drawing/2014/main" id="{363B993E-1646-33F6-2D2A-ED9224FA5D96}"/>
              </a:ext>
            </a:extLst>
          </p:cNvPr>
          <p:cNvPicPr>
            <a:picLocks noChangeAspect="1"/>
          </p:cNvPicPr>
          <p:nvPr/>
        </p:nvPicPr>
        <p:blipFill>
          <a:blip r:embed="rId2"/>
          <a:srcRect l="65460" t="16860" b="7849"/>
          <a:stretch/>
        </p:blipFill>
        <p:spPr>
          <a:xfrm>
            <a:off x="6379029" y="1349827"/>
            <a:ext cx="4206217" cy="2819400"/>
          </a:xfrm>
          <a:prstGeom prst="rect">
            <a:avLst/>
          </a:prstGeom>
        </p:spPr>
      </p:pic>
    </p:spTree>
    <p:extLst>
      <p:ext uri="{BB962C8B-B14F-4D97-AF65-F5344CB8AC3E}">
        <p14:creationId xmlns:p14="http://schemas.microsoft.com/office/powerpoint/2010/main" val="223823087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AC6E6D1-130F-A5C4-247A-83855BE14AB6}"/>
            </a:ext>
          </a:extLst>
        </p:cNvPr>
        <p:cNvGrpSpPr/>
        <p:nvPr/>
      </p:nvGrpSpPr>
      <p:grpSpPr>
        <a:xfrm>
          <a:off x="0" y="0"/>
          <a:ext cx="0" cy="0"/>
          <a:chOff x="0" y="0"/>
          <a:chExt cx="0" cy="0"/>
        </a:xfrm>
      </p:grpSpPr>
      <p:pic>
        <p:nvPicPr>
          <p:cNvPr id="5" name="Content Placeholder 4" descr="A screenshot of a computer screen&#10;&#10;Description automatically generated">
            <a:extLst>
              <a:ext uri="{FF2B5EF4-FFF2-40B4-BE49-F238E27FC236}">
                <a16:creationId xmlns:a16="http://schemas.microsoft.com/office/drawing/2014/main" id="{A6010CB8-CC60-E62D-9179-FB364BA4FE19}"/>
              </a:ext>
            </a:extLst>
          </p:cNvPr>
          <p:cNvPicPr>
            <a:picLocks noGrp="1" noChangeAspect="1"/>
          </p:cNvPicPr>
          <p:nvPr>
            <p:ph idx="1"/>
          </p:nvPr>
        </p:nvPicPr>
        <p:blipFill>
          <a:blip r:embed="rId2"/>
          <a:srcRect r="34727" b="27331"/>
          <a:stretch/>
        </p:blipFill>
        <p:spPr>
          <a:xfrm>
            <a:off x="643467" y="391886"/>
            <a:ext cx="9260454" cy="3995057"/>
          </a:xfrm>
          <a:prstGeom prst="rect">
            <a:avLst/>
          </a:prstGeom>
        </p:spPr>
      </p:pic>
      <p:pic>
        <p:nvPicPr>
          <p:cNvPr id="2" name="Content Placeholder 4" descr="A screenshot of a computer screen">
            <a:extLst>
              <a:ext uri="{FF2B5EF4-FFF2-40B4-BE49-F238E27FC236}">
                <a16:creationId xmlns:a16="http://schemas.microsoft.com/office/drawing/2014/main" id="{649EB0A7-7510-78C4-AC2F-69FF59FA9B39}"/>
              </a:ext>
            </a:extLst>
          </p:cNvPr>
          <p:cNvPicPr>
            <a:picLocks noChangeAspect="1"/>
          </p:cNvPicPr>
          <p:nvPr/>
        </p:nvPicPr>
        <p:blipFill>
          <a:blip r:embed="rId2"/>
          <a:srcRect l="64874" t="11090" b="27330"/>
          <a:stretch/>
        </p:blipFill>
        <p:spPr>
          <a:xfrm>
            <a:off x="4931230" y="1001526"/>
            <a:ext cx="4983495" cy="3385417"/>
          </a:xfrm>
          <a:prstGeom prst="rect">
            <a:avLst/>
          </a:prstGeom>
        </p:spPr>
      </p:pic>
      <p:sp>
        <p:nvSpPr>
          <p:cNvPr id="4" name="TextBox 3">
            <a:extLst>
              <a:ext uri="{FF2B5EF4-FFF2-40B4-BE49-F238E27FC236}">
                <a16:creationId xmlns:a16="http://schemas.microsoft.com/office/drawing/2014/main" id="{18D09725-FFE4-54B9-A604-15588F962145}"/>
              </a:ext>
            </a:extLst>
          </p:cNvPr>
          <p:cNvSpPr txBox="1"/>
          <p:nvPr/>
        </p:nvSpPr>
        <p:spPr>
          <a:xfrm>
            <a:off x="533399" y="4602464"/>
            <a:ext cx="10167257" cy="1015663"/>
          </a:xfrm>
          <a:prstGeom prst="rect">
            <a:avLst/>
          </a:prstGeom>
          <a:noFill/>
        </p:spPr>
        <p:txBody>
          <a:bodyPr wrap="square">
            <a:spAutoFit/>
          </a:bodyPr>
          <a:lstStyle/>
          <a:p>
            <a:pPr algn="l"/>
            <a:r>
              <a:rPr lang="en-US" sz="2000" b="0" i="0" u="none" strike="noStrike" baseline="0" dirty="0">
                <a:latin typeface="AdvHelNeu-LC"/>
              </a:rPr>
              <a:t>Controlled for age, race, obesity, tobacco use, chronic hypertension, asthma, anemia, chronic kidney disease, history of cesarean, multiple gestations, patient location, income, insurance, hospital location, hospital type and ownership, hospital size, length of stay, and mode of delivery</a:t>
            </a:r>
            <a:endParaRPr lang="en-US" sz="2000" dirty="0"/>
          </a:p>
        </p:txBody>
      </p:sp>
    </p:spTree>
    <p:extLst>
      <p:ext uri="{BB962C8B-B14F-4D97-AF65-F5344CB8AC3E}">
        <p14:creationId xmlns:p14="http://schemas.microsoft.com/office/powerpoint/2010/main" val="145414790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9A0B0-8635-FAA6-283D-B39FC66C38A6}"/>
              </a:ext>
            </a:extLst>
          </p:cNvPr>
          <p:cNvSpPr>
            <a:spLocks noGrp="1"/>
          </p:cNvSpPr>
          <p:nvPr>
            <p:ph type="title"/>
          </p:nvPr>
        </p:nvSpPr>
        <p:spPr/>
        <p:txBody>
          <a:bodyPr/>
          <a:lstStyle/>
          <a:p>
            <a:r>
              <a:rPr lang="en-US" dirty="0"/>
              <a:t>Oral contraceptive and thromboembolism</a:t>
            </a:r>
          </a:p>
        </p:txBody>
      </p:sp>
      <p:sp>
        <p:nvSpPr>
          <p:cNvPr id="3" name="Content Placeholder 2">
            <a:extLst>
              <a:ext uri="{FF2B5EF4-FFF2-40B4-BE49-F238E27FC236}">
                <a16:creationId xmlns:a16="http://schemas.microsoft.com/office/drawing/2014/main" id="{3C54906E-5F03-E2E5-B6FD-FD0DAD3FD58A}"/>
              </a:ext>
            </a:extLst>
          </p:cNvPr>
          <p:cNvSpPr>
            <a:spLocks noGrp="1"/>
          </p:cNvSpPr>
          <p:nvPr>
            <p:ph idx="1"/>
          </p:nvPr>
        </p:nvSpPr>
        <p:spPr/>
        <p:txBody>
          <a:bodyPr/>
          <a:lstStyle/>
          <a:p>
            <a:r>
              <a:rPr lang="en-US" dirty="0"/>
              <a:t>Case: with thromboembolism</a:t>
            </a:r>
          </a:p>
          <a:p>
            <a:r>
              <a:rPr lang="en-US" dirty="0"/>
              <a:t>Control: without thromboembolism</a:t>
            </a:r>
          </a:p>
          <a:p>
            <a:r>
              <a:rPr lang="en-US" dirty="0"/>
              <a:t>Exposure: oral contraceptive</a:t>
            </a:r>
          </a:p>
          <a:p>
            <a:endParaRPr lang="en-US" dirty="0"/>
          </a:p>
          <a:p>
            <a:endParaRPr lang="en-US" dirty="0"/>
          </a:p>
        </p:txBody>
      </p:sp>
    </p:spTree>
    <p:extLst>
      <p:ext uri="{BB962C8B-B14F-4D97-AF65-F5344CB8AC3E}">
        <p14:creationId xmlns:p14="http://schemas.microsoft.com/office/powerpoint/2010/main" val="291794894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684F52-EA53-47D8-97BA-F2B58149B212}"/>
              </a:ext>
            </a:extLst>
          </p:cNvPr>
          <p:cNvSpPr>
            <a:spLocks noGrp="1"/>
          </p:cNvSpPr>
          <p:nvPr>
            <p:ph type="title"/>
          </p:nvPr>
        </p:nvSpPr>
        <p:spPr/>
        <p:txBody>
          <a:bodyPr/>
          <a:lstStyle/>
          <a:p>
            <a:r>
              <a:rPr lang="en-US" dirty="0"/>
              <a:t>Scenario 1</a:t>
            </a:r>
          </a:p>
        </p:txBody>
      </p:sp>
      <p:sp>
        <p:nvSpPr>
          <p:cNvPr id="3" name="Content Placeholder 2">
            <a:extLst>
              <a:ext uri="{FF2B5EF4-FFF2-40B4-BE49-F238E27FC236}">
                <a16:creationId xmlns:a16="http://schemas.microsoft.com/office/drawing/2014/main" id="{FFBD7009-F393-4BD8-9064-8A5AE0E6895A}"/>
              </a:ext>
            </a:extLst>
          </p:cNvPr>
          <p:cNvSpPr>
            <a:spLocks noGrp="1"/>
          </p:cNvSpPr>
          <p:nvPr>
            <p:ph idx="1"/>
          </p:nvPr>
        </p:nvSpPr>
        <p:spPr/>
        <p:txBody>
          <a:bodyPr/>
          <a:lstStyle/>
          <a:p>
            <a:r>
              <a:rPr lang="en-US" dirty="0"/>
              <a:t>Case: n=200, 15% use oral contraceptive</a:t>
            </a:r>
          </a:p>
          <a:p>
            <a:r>
              <a:rPr lang="en-US" dirty="0"/>
              <a:t>Control: n=200, 10% use oral contraceptive</a:t>
            </a:r>
          </a:p>
          <a:p>
            <a:endParaRPr lang="en-US" dirty="0"/>
          </a:p>
          <a:p>
            <a:r>
              <a:rPr lang="en-US" dirty="0"/>
              <a:t>Significance level =0.05</a:t>
            </a:r>
          </a:p>
          <a:p>
            <a:r>
              <a:rPr lang="en-US" dirty="0"/>
              <a:t>Power calculation</a:t>
            </a:r>
          </a:p>
        </p:txBody>
      </p:sp>
    </p:spTree>
    <p:extLst>
      <p:ext uri="{BB962C8B-B14F-4D97-AF65-F5344CB8AC3E}">
        <p14:creationId xmlns:p14="http://schemas.microsoft.com/office/powerpoint/2010/main" val="224737324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screenshot of a computer&#10;&#10;Description automatically generated">
            <a:extLst>
              <a:ext uri="{FF2B5EF4-FFF2-40B4-BE49-F238E27FC236}">
                <a16:creationId xmlns:a16="http://schemas.microsoft.com/office/drawing/2014/main" id="{26B020C0-38F7-3312-D522-45278BBBC3AC}"/>
              </a:ext>
            </a:extLst>
          </p:cNvPr>
          <p:cNvPicPr>
            <a:picLocks noGrp="1" noChangeAspect="1"/>
          </p:cNvPicPr>
          <p:nvPr>
            <p:ph idx="1"/>
          </p:nvPr>
        </p:nvPicPr>
        <p:blipFill>
          <a:blip r:embed="rId2"/>
          <a:srcRect b="8185"/>
          <a:stretch/>
        </p:blipFill>
        <p:spPr>
          <a:xfrm>
            <a:off x="2885277" y="643466"/>
            <a:ext cx="6421445" cy="5115077"/>
          </a:xfrm>
          <a:prstGeom prst="rect">
            <a:avLst/>
          </a:prstGeom>
        </p:spPr>
      </p:pic>
    </p:spTree>
    <p:extLst>
      <p:ext uri="{BB962C8B-B14F-4D97-AF65-F5344CB8AC3E}">
        <p14:creationId xmlns:p14="http://schemas.microsoft.com/office/powerpoint/2010/main" val="386518067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E104E2-6E76-696B-1A2F-EF1900B7A5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60837A-366A-F48A-7A75-C1E6006AD5A2}"/>
              </a:ext>
            </a:extLst>
          </p:cNvPr>
          <p:cNvSpPr>
            <a:spLocks noGrp="1"/>
          </p:cNvSpPr>
          <p:nvPr>
            <p:ph type="title"/>
          </p:nvPr>
        </p:nvSpPr>
        <p:spPr/>
        <p:txBody>
          <a:bodyPr/>
          <a:lstStyle/>
          <a:p>
            <a:r>
              <a:rPr lang="en-US" dirty="0"/>
              <a:t>Scenario 2</a:t>
            </a:r>
          </a:p>
        </p:txBody>
      </p:sp>
      <p:sp>
        <p:nvSpPr>
          <p:cNvPr id="3" name="Content Placeholder 2">
            <a:extLst>
              <a:ext uri="{FF2B5EF4-FFF2-40B4-BE49-F238E27FC236}">
                <a16:creationId xmlns:a16="http://schemas.microsoft.com/office/drawing/2014/main" id="{87154ED9-521A-AFB4-BF41-762B3D3348E1}"/>
              </a:ext>
            </a:extLst>
          </p:cNvPr>
          <p:cNvSpPr>
            <a:spLocks noGrp="1"/>
          </p:cNvSpPr>
          <p:nvPr>
            <p:ph idx="1"/>
          </p:nvPr>
        </p:nvSpPr>
        <p:spPr/>
        <p:txBody>
          <a:bodyPr/>
          <a:lstStyle/>
          <a:p>
            <a:r>
              <a:rPr lang="en-US" dirty="0"/>
              <a:t>Case: 15% use oral contraceptive</a:t>
            </a:r>
          </a:p>
          <a:p>
            <a:r>
              <a:rPr lang="en-US" dirty="0"/>
              <a:t>Control: 10% use oral contraceptive</a:t>
            </a:r>
          </a:p>
          <a:p>
            <a:endParaRPr lang="en-US" dirty="0"/>
          </a:p>
          <a:p>
            <a:r>
              <a:rPr lang="en-US" dirty="0"/>
              <a:t>Significance level =0.05</a:t>
            </a:r>
          </a:p>
          <a:p>
            <a:r>
              <a:rPr lang="en-US" dirty="0"/>
              <a:t>80% Power </a:t>
            </a:r>
          </a:p>
          <a:p>
            <a:r>
              <a:rPr lang="en-US" dirty="0"/>
              <a:t>Sample size</a:t>
            </a:r>
          </a:p>
        </p:txBody>
      </p:sp>
    </p:spTree>
    <p:extLst>
      <p:ext uri="{BB962C8B-B14F-4D97-AF65-F5344CB8AC3E}">
        <p14:creationId xmlns:p14="http://schemas.microsoft.com/office/powerpoint/2010/main" val="83962541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screenshot of a computer&#10;&#10;Description automatically generated">
            <a:extLst>
              <a:ext uri="{FF2B5EF4-FFF2-40B4-BE49-F238E27FC236}">
                <a16:creationId xmlns:a16="http://schemas.microsoft.com/office/drawing/2014/main" id="{F5B4A3D2-A868-A879-DF47-E1CE8B6F8869}"/>
              </a:ext>
            </a:extLst>
          </p:cNvPr>
          <p:cNvPicPr>
            <a:picLocks noGrp="1" noChangeAspect="1"/>
          </p:cNvPicPr>
          <p:nvPr>
            <p:ph idx="1"/>
          </p:nvPr>
        </p:nvPicPr>
        <p:blipFill>
          <a:blip r:embed="rId2"/>
          <a:stretch>
            <a:fillRect/>
          </a:stretch>
        </p:blipFill>
        <p:spPr>
          <a:xfrm>
            <a:off x="2508406" y="643466"/>
            <a:ext cx="7175187" cy="5571067"/>
          </a:xfrm>
          <a:prstGeom prst="rect">
            <a:avLst/>
          </a:prstGeom>
        </p:spPr>
      </p:pic>
    </p:spTree>
    <p:extLst>
      <p:ext uri="{BB962C8B-B14F-4D97-AF65-F5344CB8AC3E}">
        <p14:creationId xmlns:p14="http://schemas.microsoft.com/office/powerpoint/2010/main" val="97231962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D14397-D67E-8647-A35E-A13F2684DA1E}"/>
              </a:ext>
            </a:extLst>
          </p:cNvPr>
          <p:cNvSpPr>
            <a:spLocks noGrp="1"/>
          </p:cNvSpPr>
          <p:nvPr>
            <p:ph type="title"/>
          </p:nvPr>
        </p:nvSpPr>
        <p:spPr/>
        <p:txBody>
          <a:bodyPr/>
          <a:lstStyle/>
          <a:p>
            <a:r>
              <a:rPr lang="en-US" dirty="0"/>
              <a:t>Postpartum depression and future pregnancy</a:t>
            </a:r>
          </a:p>
        </p:txBody>
      </p:sp>
      <p:sp>
        <p:nvSpPr>
          <p:cNvPr id="3" name="Content Placeholder 2">
            <a:extLst>
              <a:ext uri="{FF2B5EF4-FFF2-40B4-BE49-F238E27FC236}">
                <a16:creationId xmlns:a16="http://schemas.microsoft.com/office/drawing/2014/main" id="{429D5FCF-8197-00A5-250D-439D741E4135}"/>
              </a:ext>
            </a:extLst>
          </p:cNvPr>
          <p:cNvSpPr>
            <a:spLocks noGrp="1"/>
          </p:cNvSpPr>
          <p:nvPr>
            <p:ph idx="1"/>
          </p:nvPr>
        </p:nvSpPr>
        <p:spPr/>
        <p:txBody>
          <a:bodyPr/>
          <a:lstStyle/>
          <a:p>
            <a:r>
              <a:rPr lang="en-US" dirty="0"/>
              <a:t>Cohort 1: postpartum depression</a:t>
            </a:r>
          </a:p>
          <a:p>
            <a:r>
              <a:rPr lang="en-US" dirty="0"/>
              <a:t>Cohort 2: no postpartum depression</a:t>
            </a:r>
          </a:p>
          <a:p>
            <a:endParaRPr lang="en-US" dirty="0"/>
          </a:p>
        </p:txBody>
      </p:sp>
    </p:spTree>
    <p:extLst>
      <p:ext uri="{BB962C8B-B14F-4D97-AF65-F5344CB8AC3E}">
        <p14:creationId xmlns:p14="http://schemas.microsoft.com/office/powerpoint/2010/main" val="338473380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E0355-980A-2C82-08AB-8C41DC6335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87D2AB-C972-C335-4ABC-D544D74C6322}"/>
              </a:ext>
            </a:extLst>
          </p:cNvPr>
          <p:cNvSpPr>
            <a:spLocks noGrp="1"/>
          </p:cNvSpPr>
          <p:nvPr>
            <p:ph type="title"/>
          </p:nvPr>
        </p:nvSpPr>
        <p:spPr/>
        <p:txBody>
          <a:bodyPr/>
          <a:lstStyle/>
          <a:p>
            <a:r>
              <a:rPr lang="en-US" dirty="0"/>
              <a:t>Scenario </a:t>
            </a:r>
          </a:p>
        </p:txBody>
      </p:sp>
      <p:sp>
        <p:nvSpPr>
          <p:cNvPr id="3" name="Content Placeholder 2">
            <a:extLst>
              <a:ext uri="{FF2B5EF4-FFF2-40B4-BE49-F238E27FC236}">
                <a16:creationId xmlns:a16="http://schemas.microsoft.com/office/drawing/2014/main" id="{4907DADB-ECB7-8973-7F18-8C7F7AA4307B}"/>
              </a:ext>
            </a:extLst>
          </p:cNvPr>
          <p:cNvSpPr>
            <a:spLocks noGrp="1"/>
          </p:cNvSpPr>
          <p:nvPr>
            <p:ph idx="1"/>
          </p:nvPr>
        </p:nvSpPr>
        <p:spPr/>
        <p:txBody>
          <a:bodyPr/>
          <a:lstStyle/>
          <a:p>
            <a:r>
              <a:rPr lang="en-US" dirty="0"/>
              <a:t>PPD Cohort : 40%</a:t>
            </a:r>
          </a:p>
          <a:p>
            <a:r>
              <a:rPr lang="en-US" dirty="0"/>
              <a:t>Non-PPD Cohort: 60%</a:t>
            </a:r>
          </a:p>
          <a:p>
            <a:endParaRPr lang="en-US" dirty="0"/>
          </a:p>
          <a:p>
            <a:r>
              <a:rPr lang="en-US" dirty="0"/>
              <a:t>Significance level =0.05</a:t>
            </a:r>
          </a:p>
          <a:p>
            <a:r>
              <a:rPr lang="en-US" dirty="0"/>
              <a:t>80% Power </a:t>
            </a:r>
          </a:p>
        </p:txBody>
      </p:sp>
    </p:spTree>
    <p:extLst>
      <p:ext uri="{BB962C8B-B14F-4D97-AF65-F5344CB8AC3E}">
        <p14:creationId xmlns:p14="http://schemas.microsoft.com/office/powerpoint/2010/main" val="407408480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screenshot of a computer&#10;&#10;Description automatically generated">
            <a:extLst>
              <a:ext uri="{FF2B5EF4-FFF2-40B4-BE49-F238E27FC236}">
                <a16:creationId xmlns:a16="http://schemas.microsoft.com/office/drawing/2014/main" id="{EBA8C9CB-2496-47C9-3B62-1EDFA63A7C7D}"/>
              </a:ext>
            </a:extLst>
          </p:cNvPr>
          <p:cNvPicPr>
            <a:picLocks noGrp="1" noChangeAspect="1"/>
          </p:cNvPicPr>
          <p:nvPr>
            <p:ph idx="1"/>
          </p:nvPr>
        </p:nvPicPr>
        <p:blipFill>
          <a:blip r:embed="rId2"/>
          <a:stretch>
            <a:fillRect/>
          </a:stretch>
        </p:blipFill>
        <p:spPr>
          <a:xfrm>
            <a:off x="2634525" y="643466"/>
            <a:ext cx="6922950" cy="5571067"/>
          </a:xfrm>
          <a:prstGeom prst="rect">
            <a:avLst/>
          </a:prstGeom>
        </p:spPr>
      </p:pic>
    </p:spTree>
    <p:extLst>
      <p:ext uri="{BB962C8B-B14F-4D97-AF65-F5344CB8AC3E}">
        <p14:creationId xmlns:p14="http://schemas.microsoft.com/office/powerpoint/2010/main" val="57112723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F32CD3-FCC9-5C1C-10CE-D6E078C70181}"/>
              </a:ext>
            </a:extLst>
          </p:cNvPr>
          <p:cNvSpPr>
            <a:spLocks noGrp="1"/>
          </p:cNvSpPr>
          <p:nvPr>
            <p:ph type="title"/>
          </p:nvPr>
        </p:nvSpPr>
        <p:spPr/>
        <p:txBody>
          <a:bodyPr/>
          <a:lstStyle/>
          <a:p>
            <a:r>
              <a:rPr lang="en-US" dirty="0"/>
              <a:t>Ask UM-GPT</a:t>
            </a:r>
          </a:p>
        </p:txBody>
      </p:sp>
      <p:sp>
        <p:nvSpPr>
          <p:cNvPr id="3" name="Content Placeholder 2">
            <a:extLst>
              <a:ext uri="{FF2B5EF4-FFF2-40B4-BE49-F238E27FC236}">
                <a16:creationId xmlns:a16="http://schemas.microsoft.com/office/drawing/2014/main" id="{2151233E-0783-2ECC-90A8-9CBCB2BF7B2A}"/>
              </a:ext>
            </a:extLst>
          </p:cNvPr>
          <p:cNvSpPr>
            <a:spLocks noGrp="1"/>
          </p:cNvSpPr>
          <p:nvPr>
            <p:ph idx="1"/>
          </p:nvPr>
        </p:nvSpPr>
        <p:spPr/>
        <p:txBody>
          <a:bodyPr/>
          <a:lstStyle/>
          <a:p>
            <a:r>
              <a:rPr lang="en-US" dirty="0"/>
              <a:t>I want to do a power/sample size calculation in Stata (R):</a:t>
            </a:r>
          </a:p>
          <a:p>
            <a:pPr marL="0" indent="0">
              <a:buNone/>
            </a:pPr>
            <a:r>
              <a:rPr lang="en-US" dirty="0"/>
              <a:t>……</a:t>
            </a:r>
          </a:p>
          <a:p>
            <a:pPr marL="0" indent="0">
              <a:buNone/>
            </a:pPr>
            <a:r>
              <a:rPr lang="en-US" dirty="0"/>
              <a:t>……</a:t>
            </a:r>
          </a:p>
          <a:p>
            <a:r>
              <a:rPr lang="en-US" dirty="0"/>
              <a:t>Can you show me how to do it step by step?</a:t>
            </a:r>
          </a:p>
        </p:txBody>
      </p:sp>
    </p:spTree>
    <p:extLst>
      <p:ext uri="{BB962C8B-B14F-4D97-AF65-F5344CB8AC3E}">
        <p14:creationId xmlns:p14="http://schemas.microsoft.com/office/powerpoint/2010/main" val="175683056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3973E1-49E8-2B64-E6F6-3B54CAE17B64}"/>
              </a:ext>
            </a:extLst>
          </p:cNvPr>
          <p:cNvSpPr>
            <a:spLocks noGrp="1"/>
          </p:cNvSpPr>
          <p:nvPr>
            <p:ph type="title"/>
          </p:nvPr>
        </p:nvSpPr>
        <p:spPr/>
        <p:txBody>
          <a:bodyPr/>
          <a:lstStyle/>
          <a:p>
            <a:r>
              <a:rPr lang="en-US" dirty="0"/>
              <a:t>Sampling </a:t>
            </a:r>
            <a:r>
              <a:rPr lang="en-US"/>
              <a:t>and weighting</a:t>
            </a:r>
            <a:endParaRPr lang="en-US" dirty="0"/>
          </a:p>
        </p:txBody>
      </p:sp>
      <p:sp>
        <p:nvSpPr>
          <p:cNvPr id="3" name="Content Placeholder 2">
            <a:extLst>
              <a:ext uri="{FF2B5EF4-FFF2-40B4-BE49-F238E27FC236}">
                <a16:creationId xmlns:a16="http://schemas.microsoft.com/office/drawing/2014/main" id="{60477817-EEB0-D613-140F-BBA4EAE4D364}"/>
              </a:ext>
            </a:extLst>
          </p:cNvPr>
          <p:cNvSpPr>
            <a:spLocks noGrp="1"/>
          </p:cNvSpPr>
          <p:nvPr>
            <p:ph idx="1"/>
          </p:nvPr>
        </p:nvSpPr>
        <p:spPr/>
        <p:txBody>
          <a:bodyPr/>
          <a:lstStyle/>
          <a:p>
            <a:r>
              <a:rPr lang="en-US" dirty="0">
                <a:hlinkClick r:id="rId2"/>
              </a:rPr>
              <a:t>https://www.youtube.com/watch?v=DD5npelwh80</a:t>
            </a:r>
            <a:endParaRPr lang="en-US" dirty="0"/>
          </a:p>
          <a:p>
            <a:endParaRPr lang="en-US" dirty="0"/>
          </a:p>
          <a:p>
            <a:r>
              <a:rPr lang="en-US" dirty="0">
                <a:hlinkClick r:id="rId3"/>
              </a:rPr>
              <a:t>https://www.youtube.com/watch?v=dt0fQDabb4Y</a:t>
            </a:r>
            <a:endParaRPr lang="en-US" dirty="0"/>
          </a:p>
          <a:p>
            <a:endParaRPr lang="en-US" dirty="0"/>
          </a:p>
          <a:p>
            <a:endParaRPr lang="en-US" dirty="0"/>
          </a:p>
          <a:p>
            <a:endParaRPr lang="en-US" dirty="0"/>
          </a:p>
        </p:txBody>
      </p:sp>
    </p:spTree>
    <p:extLst>
      <p:ext uri="{BB962C8B-B14F-4D97-AF65-F5344CB8AC3E}">
        <p14:creationId xmlns:p14="http://schemas.microsoft.com/office/powerpoint/2010/main" val="163831651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269D13-1F29-FA4C-25E0-73FB910988FB}"/>
              </a:ext>
            </a:extLst>
          </p:cNvPr>
          <p:cNvSpPr>
            <a:spLocks noGrp="1"/>
          </p:cNvSpPr>
          <p:nvPr>
            <p:ph type="title"/>
          </p:nvPr>
        </p:nvSpPr>
        <p:spPr>
          <a:xfrm>
            <a:off x="1121228" y="2103437"/>
            <a:ext cx="10515600" cy="1325563"/>
          </a:xfrm>
        </p:spPr>
        <p:txBody>
          <a:bodyPr>
            <a:normAutofit fontScale="90000"/>
          </a:bodyPr>
          <a:lstStyle/>
          <a:p>
            <a:r>
              <a:rPr lang="en-US" sz="4400" dirty="0">
                <a:latin typeface="Raleway" pitchFamily="34" charset="0"/>
                <a:ea typeface="Raleway" pitchFamily="34" charset="-122"/>
                <a:cs typeface="Raleway" pitchFamily="34" charset="-120"/>
              </a:rPr>
              <a:t>Hypothetical Nationwide Cesarean Rate Survey - U.S. 2024</a:t>
            </a:r>
            <a:br>
              <a:rPr lang="en-US" dirty="0"/>
            </a:br>
            <a:endParaRPr lang="en-US" dirty="0"/>
          </a:p>
        </p:txBody>
      </p:sp>
    </p:spTree>
    <p:extLst>
      <p:ext uri="{BB962C8B-B14F-4D97-AF65-F5344CB8AC3E}">
        <p14:creationId xmlns:p14="http://schemas.microsoft.com/office/powerpoint/2010/main" val="374375251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68B673-4FD2-135C-34F3-01844575F067}"/>
              </a:ext>
            </a:extLst>
          </p:cNvPr>
          <p:cNvSpPr>
            <a:spLocks noGrp="1"/>
          </p:cNvSpPr>
          <p:nvPr>
            <p:ph type="title"/>
          </p:nvPr>
        </p:nvSpPr>
        <p:spPr/>
        <p:txBody>
          <a:bodyPr/>
          <a:lstStyle/>
          <a:p>
            <a:r>
              <a:rPr lang="en-US" dirty="0"/>
              <a:t>Hypothetical </a:t>
            </a:r>
          </a:p>
        </p:txBody>
      </p:sp>
      <p:sp>
        <p:nvSpPr>
          <p:cNvPr id="3" name="Content Placeholder 2">
            <a:extLst>
              <a:ext uri="{FF2B5EF4-FFF2-40B4-BE49-F238E27FC236}">
                <a16:creationId xmlns:a16="http://schemas.microsoft.com/office/drawing/2014/main" id="{1DDF72FA-5FE8-1E81-CCE1-E6D00571B0B4}"/>
              </a:ext>
            </a:extLst>
          </p:cNvPr>
          <p:cNvSpPr>
            <a:spLocks noGrp="1"/>
          </p:cNvSpPr>
          <p:nvPr>
            <p:ph idx="1"/>
          </p:nvPr>
        </p:nvSpPr>
        <p:spPr/>
        <p:txBody>
          <a:bodyPr/>
          <a:lstStyle/>
          <a:p>
            <a:r>
              <a:rPr lang="en-US" dirty="0"/>
              <a:t>Sample size: 4000 deliveries</a:t>
            </a:r>
          </a:p>
          <a:p>
            <a:r>
              <a:rPr lang="en-US" dirty="0"/>
              <a:t>35-40 hospitals or birth centers</a:t>
            </a:r>
          </a:p>
          <a:p>
            <a:r>
              <a:rPr lang="en-US" dirty="0"/>
              <a:t>March 1-10, 2024</a:t>
            </a:r>
          </a:p>
        </p:txBody>
      </p:sp>
    </p:spTree>
    <p:extLst>
      <p:ext uri="{BB962C8B-B14F-4D97-AF65-F5344CB8AC3E}">
        <p14:creationId xmlns:p14="http://schemas.microsoft.com/office/powerpoint/2010/main" val="357868561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42FD5-EFF5-E52F-67BA-21233DC215C1}"/>
              </a:ext>
            </a:extLst>
          </p:cNvPr>
          <p:cNvSpPr>
            <a:spLocks noGrp="1"/>
          </p:cNvSpPr>
          <p:nvPr>
            <p:ph type="title"/>
          </p:nvPr>
        </p:nvSpPr>
        <p:spPr/>
        <p:txBody>
          <a:bodyPr/>
          <a:lstStyle/>
          <a:p>
            <a:r>
              <a:rPr lang="en-US" b="0" i="0" dirty="0">
                <a:solidFill>
                  <a:srgbClr val="000000"/>
                </a:solidFill>
                <a:effectLst/>
                <a:latin typeface="Söhne"/>
              </a:rPr>
              <a:t>Stratified multistage cluster sampling</a:t>
            </a:r>
            <a:endParaRPr lang="en-US" dirty="0"/>
          </a:p>
        </p:txBody>
      </p:sp>
      <p:sp>
        <p:nvSpPr>
          <p:cNvPr id="3" name="Content Placeholder 2">
            <a:extLst>
              <a:ext uri="{FF2B5EF4-FFF2-40B4-BE49-F238E27FC236}">
                <a16:creationId xmlns:a16="http://schemas.microsoft.com/office/drawing/2014/main" id="{B00B936F-65A0-414A-D028-FE5C79E85DEB}"/>
              </a:ext>
            </a:extLst>
          </p:cNvPr>
          <p:cNvSpPr>
            <a:spLocks noGrp="1"/>
          </p:cNvSpPr>
          <p:nvPr>
            <p:ph idx="1"/>
          </p:nvPr>
        </p:nvSpPr>
        <p:spPr/>
        <p:txBody>
          <a:bodyPr/>
          <a:lstStyle/>
          <a:p>
            <a:r>
              <a:rPr lang="en-US" b="0" i="0" dirty="0">
                <a:solidFill>
                  <a:srgbClr val="000000"/>
                </a:solidFill>
                <a:effectLst/>
                <a:latin typeface="Söhne"/>
              </a:rPr>
              <a:t>Strata: Geographic regions, urban vs. rural areas, facility types. Clusters: Hospitals and birthing centers. </a:t>
            </a:r>
          </a:p>
          <a:p>
            <a:r>
              <a:rPr lang="en-US" b="0" i="0" dirty="0">
                <a:solidFill>
                  <a:srgbClr val="000000"/>
                </a:solidFill>
                <a:effectLst/>
                <a:latin typeface="Söhne"/>
              </a:rPr>
              <a:t>Stage 1: Selection of Primary Sampling Units (PSUs) Stratify by geographic regions. Select PSUs using probability proportional to size (PPS) sampling based on the number of births. </a:t>
            </a:r>
          </a:p>
          <a:p>
            <a:r>
              <a:rPr lang="en-US" b="0" i="0" dirty="0">
                <a:solidFill>
                  <a:srgbClr val="000000"/>
                </a:solidFill>
                <a:effectLst/>
                <a:latin typeface="Söhne"/>
              </a:rPr>
              <a:t>Stage 2: Within PSU Facilities Randomly select hospitals/birthing centers within each PSU. </a:t>
            </a:r>
          </a:p>
          <a:p>
            <a:r>
              <a:rPr lang="en-US" b="0" i="0" dirty="0">
                <a:solidFill>
                  <a:srgbClr val="000000"/>
                </a:solidFill>
                <a:effectLst/>
                <a:latin typeface="Söhne"/>
              </a:rPr>
              <a:t>Stage 3: Individual Births Random sample of births from selected facilities.</a:t>
            </a:r>
            <a:endParaRPr lang="en-US" dirty="0"/>
          </a:p>
        </p:txBody>
      </p:sp>
    </p:spTree>
    <p:extLst>
      <p:ext uri="{BB962C8B-B14F-4D97-AF65-F5344CB8AC3E}">
        <p14:creationId xmlns:p14="http://schemas.microsoft.com/office/powerpoint/2010/main" val="333495841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E00E2B-EC38-7037-C5A8-6FC7D1960E55}"/>
              </a:ext>
            </a:extLst>
          </p:cNvPr>
          <p:cNvSpPr>
            <a:spLocks noGrp="1"/>
          </p:cNvSpPr>
          <p:nvPr>
            <p:ph type="title"/>
          </p:nvPr>
        </p:nvSpPr>
        <p:spPr/>
        <p:txBody>
          <a:bodyPr/>
          <a:lstStyle/>
          <a:p>
            <a:r>
              <a:rPr lang="en-US" b="1" i="0" dirty="0">
                <a:solidFill>
                  <a:srgbClr val="000000"/>
                </a:solidFill>
                <a:effectLst/>
                <a:latin typeface="Söhne"/>
              </a:rPr>
              <a:t>Stratified Multistage Cluster Sampling</a:t>
            </a:r>
            <a:br>
              <a:rPr lang="en-US" b="1" i="0" dirty="0">
                <a:solidFill>
                  <a:srgbClr val="000000"/>
                </a:solidFill>
                <a:effectLst/>
                <a:latin typeface="Söhne"/>
              </a:rPr>
            </a:br>
            <a:endParaRPr lang="en-US" dirty="0"/>
          </a:p>
        </p:txBody>
      </p:sp>
      <p:sp>
        <p:nvSpPr>
          <p:cNvPr id="3" name="Content Placeholder 2">
            <a:extLst>
              <a:ext uri="{FF2B5EF4-FFF2-40B4-BE49-F238E27FC236}">
                <a16:creationId xmlns:a16="http://schemas.microsoft.com/office/drawing/2014/main" id="{F35566F7-FE93-DDAA-1E7B-55F67872123A}"/>
              </a:ext>
            </a:extLst>
          </p:cNvPr>
          <p:cNvSpPr>
            <a:spLocks noGrp="1"/>
          </p:cNvSpPr>
          <p:nvPr>
            <p:ph idx="1"/>
          </p:nvPr>
        </p:nvSpPr>
        <p:spPr/>
        <p:txBody>
          <a:bodyPr/>
          <a:lstStyle/>
          <a:p>
            <a:r>
              <a:rPr lang="en-US" b="1" i="0" dirty="0">
                <a:solidFill>
                  <a:srgbClr val="000000"/>
                </a:solidFill>
                <a:effectLst/>
                <a:latin typeface="Söhne"/>
              </a:rPr>
              <a:t>Stratified Sampling:</a:t>
            </a:r>
            <a:r>
              <a:rPr lang="en-US" b="0" i="0" dirty="0">
                <a:solidFill>
                  <a:srgbClr val="000000"/>
                </a:solidFill>
                <a:effectLst/>
                <a:latin typeface="Söhne"/>
              </a:rPr>
              <a:t> geographic regions, urban versus rural areas, and facility types</a:t>
            </a:r>
          </a:p>
          <a:p>
            <a:endParaRPr lang="en-US" dirty="0">
              <a:solidFill>
                <a:srgbClr val="000000"/>
              </a:solidFill>
              <a:latin typeface="Söhne"/>
            </a:endParaRPr>
          </a:p>
          <a:p>
            <a:r>
              <a:rPr lang="en-US" b="1" i="0" dirty="0">
                <a:solidFill>
                  <a:srgbClr val="000000"/>
                </a:solidFill>
                <a:effectLst/>
                <a:latin typeface="Söhne"/>
              </a:rPr>
              <a:t>Cluster Sampling:</a:t>
            </a:r>
            <a:endParaRPr lang="en-US" dirty="0"/>
          </a:p>
        </p:txBody>
      </p:sp>
    </p:spTree>
    <p:extLst>
      <p:ext uri="{BB962C8B-B14F-4D97-AF65-F5344CB8AC3E}">
        <p14:creationId xmlns:p14="http://schemas.microsoft.com/office/powerpoint/2010/main" val="96825021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DF9B55F-2CC6-96D2-2BB6-04F0D87B18AA}"/>
              </a:ext>
            </a:extLst>
          </p:cNvPr>
          <p:cNvPicPr>
            <a:picLocks noChangeAspect="1"/>
          </p:cNvPicPr>
          <p:nvPr/>
        </p:nvPicPr>
        <p:blipFill>
          <a:blip r:embed="rId2"/>
          <a:stretch>
            <a:fillRect/>
          </a:stretch>
        </p:blipFill>
        <p:spPr>
          <a:xfrm>
            <a:off x="1524000" y="0"/>
            <a:ext cx="9144000" cy="6858000"/>
          </a:xfrm>
          <a:prstGeom prst="rect">
            <a:avLst/>
          </a:prstGeom>
        </p:spPr>
      </p:pic>
    </p:spTree>
    <p:extLst>
      <p:ext uri="{BB962C8B-B14F-4D97-AF65-F5344CB8AC3E}">
        <p14:creationId xmlns:p14="http://schemas.microsoft.com/office/powerpoint/2010/main" val="322173930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F40CB3-89FB-41F6-0A3D-C929A7554B0C}"/>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F95242F7-672F-B9CA-E118-8E7DC40129F4}"/>
              </a:ext>
            </a:extLst>
          </p:cNvPr>
          <p:cNvPicPr>
            <a:picLocks noChangeAspect="1"/>
          </p:cNvPicPr>
          <p:nvPr/>
        </p:nvPicPr>
        <p:blipFill>
          <a:blip r:embed="rId2"/>
          <a:stretch>
            <a:fillRect/>
          </a:stretch>
        </p:blipFill>
        <p:spPr>
          <a:xfrm>
            <a:off x="1524000" y="0"/>
            <a:ext cx="9144000" cy="6858000"/>
          </a:xfrm>
          <a:prstGeom prst="rect">
            <a:avLst/>
          </a:prstGeom>
        </p:spPr>
      </p:pic>
      <p:sp>
        <p:nvSpPr>
          <p:cNvPr id="2" name="Oval 1">
            <a:extLst>
              <a:ext uri="{FF2B5EF4-FFF2-40B4-BE49-F238E27FC236}">
                <a16:creationId xmlns:a16="http://schemas.microsoft.com/office/drawing/2014/main" id="{71E80CFC-BF3B-A2E6-D76C-F9B7EFEF38DF}"/>
              </a:ext>
            </a:extLst>
          </p:cNvPr>
          <p:cNvSpPr/>
          <p:nvPr/>
        </p:nvSpPr>
        <p:spPr>
          <a:xfrm>
            <a:off x="4495800" y="1807029"/>
            <a:ext cx="65314" cy="8708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 name="Oval 2">
            <a:extLst>
              <a:ext uri="{FF2B5EF4-FFF2-40B4-BE49-F238E27FC236}">
                <a16:creationId xmlns:a16="http://schemas.microsoft.com/office/drawing/2014/main" id="{E35A4BD6-0F7A-89FE-0EAF-39A84994468A}"/>
              </a:ext>
            </a:extLst>
          </p:cNvPr>
          <p:cNvSpPr/>
          <p:nvPr/>
        </p:nvSpPr>
        <p:spPr>
          <a:xfrm>
            <a:off x="2721429" y="1959429"/>
            <a:ext cx="65314" cy="8708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2075F798-AA48-E28B-2E48-FAED43530267}"/>
              </a:ext>
            </a:extLst>
          </p:cNvPr>
          <p:cNvSpPr/>
          <p:nvPr/>
        </p:nvSpPr>
        <p:spPr>
          <a:xfrm>
            <a:off x="4800600" y="2111829"/>
            <a:ext cx="65314" cy="8708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3763C069-37B1-8252-8552-8ACD4E1F5BF3}"/>
              </a:ext>
            </a:extLst>
          </p:cNvPr>
          <p:cNvSpPr/>
          <p:nvPr/>
        </p:nvSpPr>
        <p:spPr>
          <a:xfrm>
            <a:off x="4103914" y="2264229"/>
            <a:ext cx="65314" cy="8708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339B4A9A-3443-75E2-8DFF-800D14CBE649}"/>
              </a:ext>
            </a:extLst>
          </p:cNvPr>
          <p:cNvSpPr/>
          <p:nvPr/>
        </p:nvSpPr>
        <p:spPr>
          <a:xfrm>
            <a:off x="2492827" y="3189515"/>
            <a:ext cx="65314" cy="8708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F46C3A69-8E32-901A-5336-B67B4A20458D}"/>
              </a:ext>
            </a:extLst>
          </p:cNvPr>
          <p:cNvSpPr/>
          <p:nvPr/>
        </p:nvSpPr>
        <p:spPr>
          <a:xfrm>
            <a:off x="5595257" y="2166255"/>
            <a:ext cx="65314" cy="8708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92BE83B3-4999-2E59-1A5E-CEB9574D6C61}"/>
              </a:ext>
            </a:extLst>
          </p:cNvPr>
          <p:cNvSpPr/>
          <p:nvPr/>
        </p:nvSpPr>
        <p:spPr>
          <a:xfrm>
            <a:off x="3026229" y="2721429"/>
            <a:ext cx="65314" cy="8708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ACEC6492-5855-C98E-D7E4-9BF6EEF10351}"/>
              </a:ext>
            </a:extLst>
          </p:cNvPr>
          <p:cNvSpPr/>
          <p:nvPr/>
        </p:nvSpPr>
        <p:spPr>
          <a:xfrm>
            <a:off x="5562600" y="2873829"/>
            <a:ext cx="65314" cy="8708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6C9C22C7-BBBD-87A9-934A-80F9FAA11C1F}"/>
              </a:ext>
            </a:extLst>
          </p:cNvPr>
          <p:cNvSpPr/>
          <p:nvPr/>
        </p:nvSpPr>
        <p:spPr>
          <a:xfrm>
            <a:off x="5715000" y="4343402"/>
            <a:ext cx="65314" cy="8708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961C47B5-60AD-9D74-9BEF-D6CBD6EB6B69}"/>
              </a:ext>
            </a:extLst>
          </p:cNvPr>
          <p:cNvSpPr/>
          <p:nvPr/>
        </p:nvSpPr>
        <p:spPr>
          <a:xfrm>
            <a:off x="2764971" y="3178629"/>
            <a:ext cx="65314" cy="8708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1AB51E7D-0592-68D5-E2A0-76B3CDE32B1B}"/>
              </a:ext>
            </a:extLst>
          </p:cNvPr>
          <p:cNvSpPr/>
          <p:nvPr/>
        </p:nvSpPr>
        <p:spPr>
          <a:xfrm>
            <a:off x="6335488" y="2242457"/>
            <a:ext cx="65314" cy="8708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B06518C5-9505-A9AB-E3C0-C27DBD9C1A67}"/>
              </a:ext>
            </a:extLst>
          </p:cNvPr>
          <p:cNvSpPr/>
          <p:nvPr/>
        </p:nvSpPr>
        <p:spPr>
          <a:xfrm>
            <a:off x="8752113" y="2514599"/>
            <a:ext cx="65314" cy="8708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3AC8DD93-6D20-DD57-8425-F72C84851BBD}"/>
              </a:ext>
            </a:extLst>
          </p:cNvPr>
          <p:cNvSpPr/>
          <p:nvPr/>
        </p:nvSpPr>
        <p:spPr>
          <a:xfrm>
            <a:off x="6324600" y="3635829"/>
            <a:ext cx="65314" cy="8708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7EBBA326-AD8C-FB97-4EB8-7F18913F0DF0}"/>
              </a:ext>
            </a:extLst>
          </p:cNvPr>
          <p:cNvSpPr/>
          <p:nvPr/>
        </p:nvSpPr>
        <p:spPr>
          <a:xfrm>
            <a:off x="8828313" y="3788229"/>
            <a:ext cx="65314" cy="8708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076339A4-E3CF-7098-C446-BE384C270114}"/>
              </a:ext>
            </a:extLst>
          </p:cNvPr>
          <p:cNvSpPr/>
          <p:nvPr/>
        </p:nvSpPr>
        <p:spPr>
          <a:xfrm>
            <a:off x="6629400" y="3940629"/>
            <a:ext cx="65314" cy="8708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F025EEAC-9F71-9E1F-9B6B-FEAFA1733CC7}"/>
              </a:ext>
            </a:extLst>
          </p:cNvPr>
          <p:cNvSpPr/>
          <p:nvPr/>
        </p:nvSpPr>
        <p:spPr>
          <a:xfrm>
            <a:off x="9372599" y="2035630"/>
            <a:ext cx="65314" cy="8708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E6E84616-D6C3-1EAC-1ADF-C4BC93ADCE75}"/>
              </a:ext>
            </a:extLst>
          </p:cNvPr>
          <p:cNvSpPr/>
          <p:nvPr/>
        </p:nvSpPr>
        <p:spPr>
          <a:xfrm>
            <a:off x="4441372" y="3951515"/>
            <a:ext cx="65314" cy="8708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0A8B14C9-1F38-44B6-09D7-64D1C90B92C4}"/>
              </a:ext>
            </a:extLst>
          </p:cNvPr>
          <p:cNvSpPr/>
          <p:nvPr/>
        </p:nvSpPr>
        <p:spPr>
          <a:xfrm>
            <a:off x="7086600" y="4397829"/>
            <a:ext cx="65314" cy="8708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87ACAAE0-EFF1-0064-0D37-653DE3F72AE7}"/>
              </a:ext>
            </a:extLst>
          </p:cNvPr>
          <p:cNvSpPr/>
          <p:nvPr/>
        </p:nvSpPr>
        <p:spPr>
          <a:xfrm>
            <a:off x="5323115" y="4550229"/>
            <a:ext cx="65314" cy="8708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CC6AAD2-A7F6-2627-C688-8CCC3BF69AC6}"/>
              </a:ext>
            </a:extLst>
          </p:cNvPr>
          <p:cNvSpPr/>
          <p:nvPr/>
        </p:nvSpPr>
        <p:spPr>
          <a:xfrm>
            <a:off x="7053943" y="2111831"/>
            <a:ext cx="65314" cy="8708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0D5418CE-74DB-A8C9-A392-5701DAF4B4E7}"/>
              </a:ext>
            </a:extLst>
          </p:cNvPr>
          <p:cNvSpPr/>
          <p:nvPr/>
        </p:nvSpPr>
        <p:spPr>
          <a:xfrm>
            <a:off x="7543800" y="4855029"/>
            <a:ext cx="65314" cy="8708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90D98FF5-FC54-A7B7-15C5-D084B178B611}"/>
              </a:ext>
            </a:extLst>
          </p:cNvPr>
          <p:cNvSpPr/>
          <p:nvPr/>
        </p:nvSpPr>
        <p:spPr>
          <a:xfrm>
            <a:off x="7696200" y="2928258"/>
            <a:ext cx="65314" cy="8708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38DB5FFB-3023-26F1-D51B-28C227798F57}"/>
              </a:ext>
            </a:extLst>
          </p:cNvPr>
          <p:cNvSpPr/>
          <p:nvPr/>
        </p:nvSpPr>
        <p:spPr>
          <a:xfrm>
            <a:off x="7848600" y="4386943"/>
            <a:ext cx="65314" cy="8708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F419C2F0-74B5-6039-CB06-00A91472924B}"/>
              </a:ext>
            </a:extLst>
          </p:cNvPr>
          <p:cNvSpPr/>
          <p:nvPr/>
        </p:nvSpPr>
        <p:spPr>
          <a:xfrm>
            <a:off x="4256314" y="2525486"/>
            <a:ext cx="65314" cy="8708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3E9C951A-19AA-D4BC-BD6A-C6D419BC582B}"/>
              </a:ext>
            </a:extLst>
          </p:cNvPr>
          <p:cNvSpPr/>
          <p:nvPr/>
        </p:nvSpPr>
        <p:spPr>
          <a:xfrm>
            <a:off x="4408714" y="2569029"/>
            <a:ext cx="65314" cy="8708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840F6AED-6DDE-229D-FCB8-E89FA859EBBD}"/>
              </a:ext>
            </a:extLst>
          </p:cNvPr>
          <p:cNvSpPr/>
          <p:nvPr/>
        </p:nvSpPr>
        <p:spPr>
          <a:xfrm>
            <a:off x="4561114" y="2329543"/>
            <a:ext cx="65314" cy="8708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F6A66425-9D4E-A898-CE2E-25250A8F3DD2}"/>
              </a:ext>
            </a:extLst>
          </p:cNvPr>
          <p:cNvSpPr/>
          <p:nvPr/>
        </p:nvSpPr>
        <p:spPr>
          <a:xfrm>
            <a:off x="4713514" y="2873829"/>
            <a:ext cx="65314" cy="8708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FAA855DF-8493-01E5-68A7-3320AB66A914}"/>
              </a:ext>
            </a:extLst>
          </p:cNvPr>
          <p:cNvSpPr/>
          <p:nvPr/>
        </p:nvSpPr>
        <p:spPr>
          <a:xfrm>
            <a:off x="4865914" y="3722915"/>
            <a:ext cx="65314" cy="8708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E202FF04-7F58-BFC3-88B8-DB87991B63A6}"/>
              </a:ext>
            </a:extLst>
          </p:cNvPr>
          <p:cNvSpPr/>
          <p:nvPr/>
        </p:nvSpPr>
        <p:spPr>
          <a:xfrm>
            <a:off x="5018314" y="3178629"/>
            <a:ext cx="65314" cy="8708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9C3AE3A1-F78D-95A7-E444-ADF148CEEE9F}"/>
              </a:ext>
            </a:extLst>
          </p:cNvPr>
          <p:cNvSpPr/>
          <p:nvPr/>
        </p:nvSpPr>
        <p:spPr>
          <a:xfrm>
            <a:off x="5170714" y="3331029"/>
            <a:ext cx="65314" cy="8708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0EF48B6C-1644-7FD8-DBAC-F9A9A8ACCFF5}"/>
              </a:ext>
            </a:extLst>
          </p:cNvPr>
          <p:cNvSpPr/>
          <p:nvPr/>
        </p:nvSpPr>
        <p:spPr>
          <a:xfrm>
            <a:off x="3178629" y="3570515"/>
            <a:ext cx="65314" cy="8708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D87E6F66-C2D1-54D2-2302-112E5BD61D36}"/>
              </a:ext>
            </a:extLst>
          </p:cNvPr>
          <p:cNvSpPr/>
          <p:nvPr/>
        </p:nvSpPr>
        <p:spPr>
          <a:xfrm>
            <a:off x="3331029" y="3026229"/>
            <a:ext cx="65314" cy="8708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83D2C411-1113-3A7D-545F-B59AC89DBDB3}"/>
              </a:ext>
            </a:extLst>
          </p:cNvPr>
          <p:cNvSpPr/>
          <p:nvPr/>
        </p:nvSpPr>
        <p:spPr>
          <a:xfrm>
            <a:off x="3483429" y="3178629"/>
            <a:ext cx="65314" cy="8708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D0C9EC23-4F5A-443B-53F1-D99A4DA7CDD8}"/>
              </a:ext>
            </a:extLst>
          </p:cNvPr>
          <p:cNvSpPr/>
          <p:nvPr/>
        </p:nvSpPr>
        <p:spPr>
          <a:xfrm>
            <a:off x="3635829" y="3722915"/>
            <a:ext cx="65314" cy="8708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7F958E87-13EE-C815-A523-54D2766F6F68}"/>
              </a:ext>
            </a:extLst>
          </p:cNvPr>
          <p:cNvSpPr/>
          <p:nvPr/>
        </p:nvSpPr>
        <p:spPr>
          <a:xfrm>
            <a:off x="3788229" y="2296885"/>
            <a:ext cx="65314" cy="8708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55294BCB-66BD-E451-1113-D09EE15D86FA}"/>
              </a:ext>
            </a:extLst>
          </p:cNvPr>
          <p:cNvSpPr/>
          <p:nvPr/>
        </p:nvSpPr>
        <p:spPr>
          <a:xfrm>
            <a:off x="3940629" y="3635829"/>
            <a:ext cx="65314" cy="8708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A86E7C04-EE09-9F97-D73A-65174F3A7846}"/>
              </a:ext>
            </a:extLst>
          </p:cNvPr>
          <p:cNvSpPr/>
          <p:nvPr/>
        </p:nvSpPr>
        <p:spPr>
          <a:xfrm>
            <a:off x="4093029" y="3788229"/>
            <a:ext cx="65314" cy="8708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FF4E6DAB-1F93-5F4A-2A34-22999975639F}"/>
              </a:ext>
            </a:extLst>
          </p:cNvPr>
          <p:cNvSpPr/>
          <p:nvPr/>
        </p:nvSpPr>
        <p:spPr>
          <a:xfrm>
            <a:off x="4648200" y="1665515"/>
            <a:ext cx="65314" cy="8708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B0F9E86F-7EC6-109C-5D92-FF51904B8418}"/>
              </a:ext>
            </a:extLst>
          </p:cNvPr>
          <p:cNvSpPr/>
          <p:nvPr/>
        </p:nvSpPr>
        <p:spPr>
          <a:xfrm>
            <a:off x="4800600" y="2111829"/>
            <a:ext cx="65314" cy="8708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31730691-97B6-7310-5F88-3396427671F2}"/>
              </a:ext>
            </a:extLst>
          </p:cNvPr>
          <p:cNvSpPr/>
          <p:nvPr/>
        </p:nvSpPr>
        <p:spPr>
          <a:xfrm>
            <a:off x="2438398" y="2264229"/>
            <a:ext cx="65314" cy="8708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3A37E2CC-D48C-4EF3-11C4-F07A433C7694}"/>
              </a:ext>
            </a:extLst>
          </p:cNvPr>
          <p:cNvSpPr/>
          <p:nvPr/>
        </p:nvSpPr>
        <p:spPr>
          <a:xfrm>
            <a:off x="5105400" y="1719943"/>
            <a:ext cx="65314" cy="8708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FDC90CEF-B5D5-7A17-30C3-6D5498314D2F}"/>
              </a:ext>
            </a:extLst>
          </p:cNvPr>
          <p:cNvSpPr/>
          <p:nvPr/>
        </p:nvSpPr>
        <p:spPr>
          <a:xfrm>
            <a:off x="5257800" y="2569029"/>
            <a:ext cx="65314" cy="8708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6D41B306-375C-03EC-3E81-D5176F2B0047}"/>
              </a:ext>
            </a:extLst>
          </p:cNvPr>
          <p:cNvSpPr/>
          <p:nvPr/>
        </p:nvSpPr>
        <p:spPr>
          <a:xfrm>
            <a:off x="5410200" y="2721429"/>
            <a:ext cx="65314" cy="8708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3A1EE85C-3EE4-4242-4E4A-C87A0CCAA956}"/>
              </a:ext>
            </a:extLst>
          </p:cNvPr>
          <p:cNvSpPr/>
          <p:nvPr/>
        </p:nvSpPr>
        <p:spPr>
          <a:xfrm>
            <a:off x="5562600" y="3439887"/>
            <a:ext cx="65314" cy="8708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A9E624DF-60A7-9F19-8B10-125E5EA071BB}"/>
              </a:ext>
            </a:extLst>
          </p:cNvPr>
          <p:cNvSpPr/>
          <p:nvPr/>
        </p:nvSpPr>
        <p:spPr>
          <a:xfrm>
            <a:off x="2873829" y="2111829"/>
            <a:ext cx="65314" cy="8708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801B873A-E8CE-3ED3-D099-188C40DFBB97}"/>
              </a:ext>
            </a:extLst>
          </p:cNvPr>
          <p:cNvSpPr/>
          <p:nvPr/>
        </p:nvSpPr>
        <p:spPr>
          <a:xfrm>
            <a:off x="3026229" y="1872343"/>
            <a:ext cx="65314" cy="8708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A4E6DE9C-2E39-68CE-BA36-5A0AB11D6FA4}"/>
              </a:ext>
            </a:extLst>
          </p:cNvPr>
          <p:cNvSpPr/>
          <p:nvPr/>
        </p:nvSpPr>
        <p:spPr>
          <a:xfrm>
            <a:off x="3178629" y="2416629"/>
            <a:ext cx="65314" cy="8708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269A83B5-747C-12DB-185E-CE06044CF593}"/>
              </a:ext>
            </a:extLst>
          </p:cNvPr>
          <p:cNvSpPr/>
          <p:nvPr/>
        </p:nvSpPr>
        <p:spPr>
          <a:xfrm>
            <a:off x="2296885" y="2569029"/>
            <a:ext cx="65314" cy="8708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A36621D0-F392-6DA3-46D4-CC08A6EFA20D}"/>
              </a:ext>
            </a:extLst>
          </p:cNvPr>
          <p:cNvSpPr/>
          <p:nvPr/>
        </p:nvSpPr>
        <p:spPr>
          <a:xfrm>
            <a:off x="3483429" y="2721429"/>
            <a:ext cx="65314" cy="8708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CA117815-A821-C656-9FE7-2E77D395F50E}"/>
              </a:ext>
            </a:extLst>
          </p:cNvPr>
          <p:cNvSpPr/>
          <p:nvPr/>
        </p:nvSpPr>
        <p:spPr>
          <a:xfrm>
            <a:off x="3635829" y="2873829"/>
            <a:ext cx="65314" cy="8708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469D98D9-BA8C-1F61-8FA3-3B4482F580F5}"/>
              </a:ext>
            </a:extLst>
          </p:cNvPr>
          <p:cNvSpPr/>
          <p:nvPr/>
        </p:nvSpPr>
        <p:spPr>
          <a:xfrm>
            <a:off x="3788229" y="3026229"/>
            <a:ext cx="65314" cy="8708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25B88969-E9FC-BE35-C94B-BF183EDB929F}"/>
              </a:ext>
            </a:extLst>
          </p:cNvPr>
          <p:cNvSpPr/>
          <p:nvPr/>
        </p:nvSpPr>
        <p:spPr>
          <a:xfrm>
            <a:off x="7206343" y="2264231"/>
            <a:ext cx="65314" cy="8708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B933D6F0-D0FF-E544-C75A-50DB8343D307}"/>
              </a:ext>
            </a:extLst>
          </p:cNvPr>
          <p:cNvSpPr/>
          <p:nvPr/>
        </p:nvSpPr>
        <p:spPr>
          <a:xfrm>
            <a:off x="7358743" y="2808517"/>
            <a:ext cx="65314" cy="8708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0D718BEB-CE7B-EBD7-A7E0-6FDF7347823D}"/>
              </a:ext>
            </a:extLst>
          </p:cNvPr>
          <p:cNvSpPr/>
          <p:nvPr/>
        </p:nvSpPr>
        <p:spPr>
          <a:xfrm>
            <a:off x="6498771" y="2569031"/>
            <a:ext cx="65314" cy="8708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4939A3F9-D36D-54BB-674C-EB175262A5F9}"/>
              </a:ext>
            </a:extLst>
          </p:cNvPr>
          <p:cNvSpPr/>
          <p:nvPr/>
        </p:nvSpPr>
        <p:spPr>
          <a:xfrm>
            <a:off x="5747657" y="1926769"/>
            <a:ext cx="65314" cy="8708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58" name="Oval 57">
            <a:extLst>
              <a:ext uri="{FF2B5EF4-FFF2-40B4-BE49-F238E27FC236}">
                <a16:creationId xmlns:a16="http://schemas.microsoft.com/office/drawing/2014/main" id="{859535A5-CF41-55CF-1FC7-0A80CCDB6409}"/>
              </a:ext>
            </a:extLst>
          </p:cNvPr>
          <p:cNvSpPr/>
          <p:nvPr/>
        </p:nvSpPr>
        <p:spPr>
          <a:xfrm>
            <a:off x="5900057" y="2471055"/>
            <a:ext cx="65314" cy="8708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59" name="Oval 58">
            <a:extLst>
              <a:ext uri="{FF2B5EF4-FFF2-40B4-BE49-F238E27FC236}">
                <a16:creationId xmlns:a16="http://schemas.microsoft.com/office/drawing/2014/main" id="{11FCCD3A-D8BD-BD65-6B9F-B28625ED8E34}"/>
              </a:ext>
            </a:extLst>
          </p:cNvPr>
          <p:cNvSpPr/>
          <p:nvPr/>
        </p:nvSpPr>
        <p:spPr>
          <a:xfrm>
            <a:off x="6052457" y="2960912"/>
            <a:ext cx="65314" cy="8708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5FCFAA80-90F6-2EA7-9546-D350EA7DC14A}"/>
              </a:ext>
            </a:extLst>
          </p:cNvPr>
          <p:cNvSpPr/>
          <p:nvPr/>
        </p:nvSpPr>
        <p:spPr>
          <a:xfrm>
            <a:off x="6204857" y="2775855"/>
            <a:ext cx="65314" cy="8708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61" name="Oval 60">
            <a:extLst>
              <a:ext uri="{FF2B5EF4-FFF2-40B4-BE49-F238E27FC236}">
                <a16:creationId xmlns:a16="http://schemas.microsoft.com/office/drawing/2014/main" id="{08F3125F-D57D-16AC-35BF-C81C938D7D77}"/>
              </a:ext>
            </a:extLst>
          </p:cNvPr>
          <p:cNvSpPr/>
          <p:nvPr/>
        </p:nvSpPr>
        <p:spPr>
          <a:xfrm>
            <a:off x="6357257" y="2928255"/>
            <a:ext cx="65314" cy="8708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62" name="Oval 61">
            <a:extLst>
              <a:ext uri="{FF2B5EF4-FFF2-40B4-BE49-F238E27FC236}">
                <a16:creationId xmlns:a16="http://schemas.microsoft.com/office/drawing/2014/main" id="{3D644AE1-6276-1885-3F92-35121DA1C745}"/>
              </a:ext>
            </a:extLst>
          </p:cNvPr>
          <p:cNvSpPr/>
          <p:nvPr/>
        </p:nvSpPr>
        <p:spPr>
          <a:xfrm>
            <a:off x="5475515" y="5148944"/>
            <a:ext cx="65314" cy="8708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63" name="Oval 62">
            <a:extLst>
              <a:ext uri="{FF2B5EF4-FFF2-40B4-BE49-F238E27FC236}">
                <a16:creationId xmlns:a16="http://schemas.microsoft.com/office/drawing/2014/main" id="{7F9BF491-D836-6C7E-CFF0-A2061B1174B6}"/>
              </a:ext>
            </a:extLst>
          </p:cNvPr>
          <p:cNvSpPr/>
          <p:nvPr/>
        </p:nvSpPr>
        <p:spPr>
          <a:xfrm>
            <a:off x="5627915" y="4855029"/>
            <a:ext cx="65314" cy="8708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64" name="Oval 63">
            <a:extLst>
              <a:ext uri="{FF2B5EF4-FFF2-40B4-BE49-F238E27FC236}">
                <a16:creationId xmlns:a16="http://schemas.microsoft.com/office/drawing/2014/main" id="{9318B53A-3F5A-BDB5-0DA2-698A51B190B7}"/>
              </a:ext>
            </a:extLst>
          </p:cNvPr>
          <p:cNvSpPr/>
          <p:nvPr/>
        </p:nvSpPr>
        <p:spPr>
          <a:xfrm>
            <a:off x="5780315" y="4615543"/>
            <a:ext cx="65314" cy="8708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65" name="Oval 64">
            <a:extLst>
              <a:ext uri="{FF2B5EF4-FFF2-40B4-BE49-F238E27FC236}">
                <a16:creationId xmlns:a16="http://schemas.microsoft.com/office/drawing/2014/main" id="{63143798-FD81-F3F4-E58D-E5538EC79FD7}"/>
              </a:ext>
            </a:extLst>
          </p:cNvPr>
          <p:cNvSpPr/>
          <p:nvPr/>
        </p:nvSpPr>
        <p:spPr>
          <a:xfrm>
            <a:off x="5932715" y="5159829"/>
            <a:ext cx="65314" cy="8708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7561E6C3-C728-DA69-2FD0-06A2A8C05F19}"/>
              </a:ext>
            </a:extLst>
          </p:cNvPr>
          <p:cNvSpPr/>
          <p:nvPr/>
        </p:nvSpPr>
        <p:spPr>
          <a:xfrm>
            <a:off x="5867400" y="4495802"/>
            <a:ext cx="65314" cy="8708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67" name="Oval 66">
            <a:extLst>
              <a:ext uri="{FF2B5EF4-FFF2-40B4-BE49-F238E27FC236}">
                <a16:creationId xmlns:a16="http://schemas.microsoft.com/office/drawing/2014/main" id="{2F8F2793-1F26-6C0F-B1CA-623F6370BC25}"/>
              </a:ext>
            </a:extLst>
          </p:cNvPr>
          <p:cNvSpPr/>
          <p:nvPr/>
        </p:nvSpPr>
        <p:spPr>
          <a:xfrm>
            <a:off x="6019800" y="4147458"/>
            <a:ext cx="65314" cy="8708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68" name="Oval 67">
            <a:extLst>
              <a:ext uri="{FF2B5EF4-FFF2-40B4-BE49-F238E27FC236}">
                <a16:creationId xmlns:a16="http://schemas.microsoft.com/office/drawing/2014/main" id="{1C3E96D9-D116-8779-7F1C-E03BEE42263B}"/>
              </a:ext>
            </a:extLst>
          </p:cNvPr>
          <p:cNvSpPr/>
          <p:nvPr/>
        </p:nvSpPr>
        <p:spPr>
          <a:xfrm>
            <a:off x="6172200" y="4800602"/>
            <a:ext cx="65314" cy="8708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69" name="Oval 68">
            <a:extLst>
              <a:ext uri="{FF2B5EF4-FFF2-40B4-BE49-F238E27FC236}">
                <a16:creationId xmlns:a16="http://schemas.microsoft.com/office/drawing/2014/main" id="{4E04EA24-8BC7-1E67-F4CA-76798D04ACF7}"/>
              </a:ext>
            </a:extLst>
          </p:cNvPr>
          <p:cNvSpPr/>
          <p:nvPr/>
        </p:nvSpPr>
        <p:spPr>
          <a:xfrm>
            <a:off x="6324600" y="4953002"/>
            <a:ext cx="65314" cy="8708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8FF38012-27A2-BACD-2A4E-9D8140FAD828}"/>
              </a:ext>
            </a:extLst>
          </p:cNvPr>
          <p:cNvSpPr/>
          <p:nvPr/>
        </p:nvSpPr>
        <p:spPr>
          <a:xfrm>
            <a:off x="6477000" y="3396343"/>
            <a:ext cx="65314" cy="8708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71" name="Oval 70">
            <a:extLst>
              <a:ext uri="{FF2B5EF4-FFF2-40B4-BE49-F238E27FC236}">
                <a16:creationId xmlns:a16="http://schemas.microsoft.com/office/drawing/2014/main" id="{009A09CB-1E17-8A35-E2A3-293E1B4EC8E6}"/>
              </a:ext>
            </a:extLst>
          </p:cNvPr>
          <p:cNvSpPr/>
          <p:nvPr/>
        </p:nvSpPr>
        <p:spPr>
          <a:xfrm>
            <a:off x="6629400" y="3940629"/>
            <a:ext cx="65314" cy="8708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72" name="Oval 71">
            <a:extLst>
              <a:ext uri="{FF2B5EF4-FFF2-40B4-BE49-F238E27FC236}">
                <a16:creationId xmlns:a16="http://schemas.microsoft.com/office/drawing/2014/main" id="{BA1AD1C5-6405-2BDC-7215-7A68CA04D0E4}"/>
              </a:ext>
            </a:extLst>
          </p:cNvPr>
          <p:cNvSpPr/>
          <p:nvPr/>
        </p:nvSpPr>
        <p:spPr>
          <a:xfrm>
            <a:off x="6781800" y="4386943"/>
            <a:ext cx="65314" cy="8708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73" name="Oval 72">
            <a:extLst>
              <a:ext uri="{FF2B5EF4-FFF2-40B4-BE49-F238E27FC236}">
                <a16:creationId xmlns:a16="http://schemas.microsoft.com/office/drawing/2014/main" id="{D542DC5B-0633-ACA0-34D6-3F9BA72DC54F}"/>
              </a:ext>
            </a:extLst>
          </p:cNvPr>
          <p:cNvSpPr/>
          <p:nvPr/>
        </p:nvSpPr>
        <p:spPr>
          <a:xfrm>
            <a:off x="8001000" y="3973285"/>
            <a:ext cx="65314" cy="8708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74" name="Oval 73">
            <a:extLst>
              <a:ext uri="{FF2B5EF4-FFF2-40B4-BE49-F238E27FC236}">
                <a16:creationId xmlns:a16="http://schemas.microsoft.com/office/drawing/2014/main" id="{662B3BF2-A420-2793-204F-DC615EADCEBC}"/>
              </a:ext>
            </a:extLst>
          </p:cNvPr>
          <p:cNvSpPr/>
          <p:nvPr/>
        </p:nvSpPr>
        <p:spPr>
          <a:xfrm>
            <a:off x="8153400" y="4691743"/>
            <a:ext cx="65314" cy="8708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75" name="Oval 74">
            <a:extLst>
              <a:ext uri="{FF2B5EF4-FFF2-40B4-BE49-F238E27FC236}">
                <a16:creationId xmlns:a16="http://schemas.microsoft.com/office/drawing/2014/main" id="{7BBDF77B-C492-43E4-2FF3-8AF7D5A1221F}"/>
              </a:ext>
            </a:extLst>
          </p:cNvPr>
          <p:cNvSpPr/>
          <p:nvPr/>
        </p:nvSpPr>
        <p:spPr>
          <a:xfrm>
            <a:off x="8305800" y="4278085"/>
            <a:ext cx="65314" cy="8708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76" name="Oval 75">
            <a:extLst>
              <a:ext uri="{FF2B5EF4-FFF2-40B4-BE49-F238E27FC236}">
                <a16:creationId xmlns:a16="http://schemas.microsoft.com/office/drawing/2014/main" id="{649F15A7-C212-4765-CDBE-CCF3182F5295}"/>
              </a:ext>
            </a:extLst>
          </p:cNvPr>
          <p:cNvSpPr/>
          <p:nvPr/>
        </p:nvSpPr>
        <p:spPr>
          <a:xfrm>
            <a:off x="7848600" y="2634343"/>
            <a:ext cx="65314" cy="8708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77" name="Oval 76">
            <a:extLst>
              <a:ext uri="{FF2B5EF4-FFF2-40B4-BE49-F238E27FC236}">
                <a16:creationId xmlns:a16="http://schemas.microsoft.com/office/drawing/2014/main" id="{B33584A4-7239-563C-F753-20154AB8CAAA}"/>
              </a:ext>
            </a:extLst>
          </p:cNvPr>
          <p:cNvSpPr/>
          <p:nvPr/>
        </p:nvSpPr>
        <p:spPr>
          <a:xfrm>
            <a:off x="8001000" y="3233058"/>
            <a:ext cx="65314" cy="8708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78" name="Oval 77">
            <a:extLst>
              <a:ext uri="{FF2B5EF4-FFF2-40B4-BE49-F238E27FC236}">
                <a16:creationId xmlns:a16="http://schemas.microsoft.com/office/drawing/2014/main" id="{0B86EC9D-9A5B-20EF-EFCC-C74007B63210}"/>
              </a:ext>
            </a:extLst>
          </p:cNvPr>
          <p:cNvSpPr/>
          <p:nvPr/>
        </p:nvSpPr>
        <p:spPr>
          <a:xfrm>
            <a:off x="8153400" y="3559629"/>
            <a:ext cx="65314" cy="8708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79" name="Oval 78">
            <a:extLst>
              <a:ext uri="{FF2B5EF4-FFF2-40B4-BE49-F238E27FC236}">
                <a16:creationId xmlns:a16="http://schemas.microsoft.com/office/drawing/2014/main" id="{518CCAFA-1F0D-37C3-39EC-9F97C7BDA413}"/>
              </a:ext>
            </a:extLst>
          </p:cNvPr>
          <p:cNvSpPr/>
          <p:nvPr/>
        </p:nvSpPr>
        <p:spPr>
          <a:xfrm>
            <a:off x="8904513" y="2666999"/>
            <a:ext cx="65314" cy="8708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80" name="Oval 79">
            <a:extLst>
              <a:ext uri="{FF2B5EF4-FFF2-40B4-BE49-F238E27FC236}">
                <a16:creationId xmlns:a16="http://schemas.microsoft.com/office/drawing/2014/main" id="{DD31876B-3977-4AEC-2AF5-4A5EC83017FC}"/>
              </a:ext>
            </a:extLst>
          </p:cNvPr>
          <p:cNvSpPr/>
          <p:nvPr/>
        </p:nvSpPr>
        <p:spPr>
          <a:xfrm>
            <a:off x="9089570" y="3309255"/>
            <a:ext cx="65314" cy="8708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81" name="Oval 80">
            <a:extLst>
              <a:ext uri="{FF2B5EF4-FFF2-40B4-BE49-F238E27FC236}">
                <a16:creationId xmlns:a16="http://schemas.microsoft.com/office/drawing/2014/main" id="{D4A57B2D-0F7C-0F84-0699-30C9C2DB710D}"/>
              </a:ext>
            </a:extLst>
          </p:cNvPr>
          <p:cNvSpPr/>
          <p:nvPr/>
        </p:nvSpPr>
        <p:spPr>
          <a:xfrm>
            <a:off x="9209313" y="2612569"/>
            <a:ext cx="65314" cy="8708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82" name="Oval 81">
            <a:extLst>
              <a:ext uri="{FF2B5EF4-FFF2-40B4-BE49-F238E27FC236}">
                <a16:creationId xmlns:a16="http://schemas.microsoft.com/office/drawing/2014/main" id="{A6EF23D0-49D2-88D2-6590-8F983167FFEF}"/>
              </a:ext>
            </a:extLst>
          </p:cNvPr>
          <p:cNvSpPr/>
          <p:nvPr/>
        </p:nvSpPr>
        <p:spPr>
          <a:xfrm>
            <a:off x="9524999" y="2188030"/>
            <a:ext cx="65314" cy="8708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83" name="Oval 82">
            <a:extLst>
              <a:ext uri="{FF2B5EF4-FFF2-40B4-BE49-F238E27FC236}">
                <a16:creationId xmlns:a16="http://schemas.microsoft.com/office/drawing/2014/main" id="{336A2541-46F3-BFF9-64A9-FC0DDDEC0745}"/>
              </a:ext>
            </a:extLst>
          </p:cNvPr>
          <p:cNvSpPr/>
          <p:nvPr/>
        </p:nvSpPr>
        <p:spPr>
          <a:xfrm>
            <a:off x="9720943" y="2111830"/>
            <a:ext cx="65314" cy="8708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84" name="Oval 83">
            <a:extLst>
              <a:ext uri="{FF2B5EF4-FFF2-40B4-BE49-F238E27FC236}">
                <a16:creationId xmlns:a16="http://schemas.microsoft.com/office/drawing/2014/main" id="{09871970-9CAD-EE56-7776-48593C78968F}"/>
              </a:ext>
            </a:extLst>
          </p:cNvPr>
          <p:cNvSpPr/>
          <p:nvPr/>
        </p:nvSpPr>
        <p:spPr>
          <a:xfrm>
            <a:off x="9601199" y="1861458"/>
            <a:ext cx="65314" cy="8708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85" name="Oval 84">
            <a:extLst>
              <a:ext uri="{FF2B5EF4-FFF2-40B4-BE49-F238E27FC236}">
                <a16:creationId xmlns:a16="http://schemas.microsoft.com/office/drawing/2014/main" id="{17AA117A-F0A3-603B-D0D4-1E9F3D6CC1CD}"/>
              </a:ext>
            </a:extLst>
          </p:cNvPr>
          <p:cNvSpPr/>
          <p:nvPr/>
        </p:nvSpPr>
        <p:spPr>
          <a:xfrm>
            <a:off x="9982199" y="1404253"/>
            <a:ext cx="65314" cy="8708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86" name="Oval 85">
            <a:extLst>
              <a:ext uri="{FF2B5EF4-FFF2-40B4-BE49-F238E27FC236}">
                <a16:creationId xmlns:a16="http://schemas.microsoft.com/office/drawing/2014/main" id="{5413E071-7261-43D6-1669-7B59FA7E506D}"/>
              </a:ext>
            </a:extLst>
          </p:cNvPr>
          <p:cNvSpPr/>
          <p:nvPr/>
        </p:nvSpPr>
        <p:spPr>
          <a:xfrm>
            <a:off x="9818913" y="1752600"/>
            <a:ext cx="65314" cy="8708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9800656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3251B-E34D-D1EE-D771-9A8B9E786BD3}"/>
              </a:ext>
            </a:extLst>
          </p:cNvPr>
          <p:cNvSpPr>
            <a:spLocks noGrp="1"/>
          </p:cNvSpPr>
          <p:nvPr>
            <p:ph type="title"/>
          </p:nvPr>
        </p:nvSpPr>
        <p:spPr/>
        <p:txBody>
          <a:bodyPr/>
          <a:lstStyle/>
          <a:p>
            <a:r>
              <a:rPr lang="en-US" dirty="0"/>
              <a:t>weighting</a:t>
            </a:r>
          </a:p>
        </p:txBody>
      </p:sp>
      <p:sp>
        <p:nvSpPr>
          <p:cNvPr id="3" name="Content Placeholder 2">
            <a:extLst>
              <a:ext uri="{FF2B5EF4-FFF2-40B4-BE49-F238E27FC236}">
                <a16:creationId xmlns:a16="http://schemas.microsoft.com/office/drawing/2014/main" id="{2FD64172-C34A-D800-6CC0-62513691BBEE}"/>
              </a:ext>
            </a:extLst>
          </p:cNvPr>
          <p:cNvSpPr>
            <a:spLocks noGrp="1"/>
          </p:cNvSpPr>
          <p:nvPr>
            <p:ph idx="1"/>
          </p:nvPr>
        </p:nvSpPr>
        <p:spPr/>
        <p:txBody>
          <a:bodyPr/>
          <a:lstStyle/>
          <a:p>
            <a:r>
              <a:rPr lang="en-US" dirty="0">
                <a:hlinkClick r:id="rId2"/>
              </a:rPr>
              <a:t>https://www.youtube.com/watch?v=SJRVxvdIc8s&amp;t=613s</a:t>
            </a:r>
            <a:endParaRPr lang="en-US" dirty="0"/>
          </a:p>
          <a:p>
            <a:endParaRPr lang="en-US" dirty="0"/>
          </a:p>
          <a:p>
            <a:endParaRPr lang="en-US" dirty="0"/>
          </a:p>
        </p:txBody>
      </p:sp>
    </p:spTree>
    <p:extLst>
      <p:ext uri="{BB962C8B-B14F-4D97-AF65-F5344CB8AC3E}">
        <p14:creationId xmlns:p14="http://schemas.microsoft.com/office/powerpoint/2010/main" val="368745041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Content Placeholder 3" descr="A diagram of a group of people&#10;&#10;Description automatically generated">
            <a:extLst>
              <a:ext uri="{FF2B5EF4-FFF2-40B4-BE49-F238E27FC236}">
                <a16:creationId xmlns:a16="http://schemas.microsoft.com/office/drawing/2014/main" id="{76C71A16-7119-CDD4-65E0-07716B302245}"/>
              </a:ext>
            </a:extLst>
          </p:cNvPr>
          <p:cNvPicPr>
            <a:picLocks noGrp="1" noChangeAspect="1"/>
          </p:cNvPicPr>
          <p:nvPr>
            <p:ph idx="1"/>
          </p:nvPr>
        </p:nvPicPr>
        <p:blipFill>
          <a:blip r:embed="rId2"/>
          <a:srcRect b="900"/>
          <a:stretch/>
        </p:blipFill>
        <p:spPr>
          <a:xfrm>
            <a:off x="20" y="1282"/>
            <a:ext cx="12191980" cy="6856718"/>
          </a:xfrm>
          <a:prstGeom prst="rect">
            <a:avLst/>
          </a:prstGeom>
        </p:spPr>
      </p:pic>
    </p:spTree>
    <p:extLst>
      <p:ext uri="{BB962C8B-B14F-4D97-AF65-F5344CB8AC3E}">
        <p14:creationId xmlns:p14="http://schemas.microsoft.com/office/powerpoint/2010/main" val="42762547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7764</TotalTime>
  <Words>1508</Words>
  <Application>Microsoft Office PowerPoint</Application>
  <PresentationFormat>Widescreen</PresentationFormat>
  <Paragraphs>389</Paragraphs>
  <Slides>63</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63</vt:i4>
      </vt:variant>
    </vt:vector>
  </HeadingPairs>
  <TitlesOfParts>
    <vt:vector size="72" baseType="lpstr">
      <vt:lpstr>AdvHelNeu-LC</vt:lpstr>
      <vt:lpstr>-apple-system</vt:lpstr>
      <vt:lpstr>Söhne</vt:lpstr>
      <vt:lpstr>Aptos</vt:lpstr>
      <vt:lpstr>Aptos Display</vt:lpstr>
      <vt:lpstr>Arial</vt:lpstr>
      <vt:lpstr>Cambria Math</vt:lpstr>
      <vt:lpstr>Raleway</vt:lpstr>
      <vt:lpstr>Office Theme</vt:lpstr>
      <vt:lpstr>Thromboembolism</vt:lpstr>
      <vt:lpstr>Pregnancy is a risk factor for thromboembolism</vt:lpstr>
      <vt:lpstr>Other risk factors related to pregnancy</vt:lpstr>
      <vt:lpstr>preeclampsia</vt:lpstr>
      <vt:lpstr>Pathophysiologic association</vt:lpstr>
      <vt:lpstr>Retrospective cohort study</vt:lpstr>
      <vt:lpstr>Cohorts</vt:lpstr>
      <vt:lpstr>outcome</vt:lpstr>
      <vt:lpstr>National Inpatient Sample database</vt:lpstr>
      <vt:lpstr>Variables of interest</vt:lpstr>
      <vt:lpstr>Univariate analysis</vt:lpstr>
      <vt:lpstr>PowerPoint Presentation</vt:lpstr>
      <vt:lpstr>PowerPoint Presentation</vt:lpstr>
      <vt:lpstr>PowerPoint Presentation</vt:lpstr>
      <vt:lpstr>Demographics</vt:lpstr>
      <vt:lpstr>PowerPoint Presentation</vt:lpstr>
      <vt:lpstr>PowerPoint Presentation</vt:lpstr>
      <vt:lpstr>Video</vt:lpstr>
      <vt:lpstr>Mean vs median</vt:lpstr>
      <vt:lpstr>PowerPoint Presentation</vt:lpstr>
      <vt:lpstr>PowerPoint Presentation</vt:lpstr>
      <vt:lpstr>Normality test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Chi-square test</vt:lpstr>
      <vt:lpstr>Chi-square test</vt:lpstr>
      <vt:lpstr>PowerPoint Presentation</vt:lpstr>
      <vt:lpstr>Chi-square test VS Fisher’s exact test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Oral contraceptive and thromboembolism</vt:lpstr>
      <vt:lpstr>Scenario 1</vt:lpstr>
      <vt:lpstr>PowerPoint Presentation</vt:lpstr>
      <vt:lpstr>Scenario 2</vt:lpstr>
      <vt:lpstr>PowerPoint Presentation</vt:lpstr>
      <vt:lpstr>Postpartum depression and future pregnancy</vt:lpstr>
      <vt:lpstr>Scenario </vt:lpstr>
      <vt:lpstr>PowerPoint Presentation</vt:lpstr>
      <vt:lpstr>Ask UM-GPT</vt:lpstr>
      <vt:lpstr>Sampling and weighting</vt:lpstr>
      <vt:lpstr>Hypothetical Nationwide Cesarean Rate Survey - U.S. 2024 </vt:lpstr>
      <vt:lpstr>Hypothetical </vt:lpstr>
      <vt:lpstr>Stratified multistage cluster sampling</vt:lpstr>
      <vt:lpstr>Stratified Multistage Cluster Sampling </vt:lpstr>
      <vt:lpstr>PowerPoint Presentation</vt:lpstr>
      <vt:lpstr>PowerPoint Presentation</vt:lpstr>
      <vt:lpstr>weighting</vt:lpstr>
      <vt:lpstr>PowerPoint Presentation</vt:lpstr>
    </vt:vector>
  </TitlesOfParts>
  <Company>Michigan Medicine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Liu, Yang</dc:creator>
  <cp:lastModifiedBy>Liu, Yang</cp:lastModifiedBy>
  <cp:revision>2</cp:revision>
  <dcterms:created xsi:type="dcterms:W3CDTF">2025-01-23T13:20:20Z</dcterms:created>
  <dcterms:modified xsi:type="dcterms:W3CDTF">2026-02-13T13:35:46Z</dcterms:modified>
</cp:coreProperties>
</file>